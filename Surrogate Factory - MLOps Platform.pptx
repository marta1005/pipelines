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205B"/>
                </a:solidFill>
                <a:latin typeface="Arial"/>
              </a:defRPr>
            </a:pPr>
            <a:r>
              <a:rPr sz="1200" b="0" i="0" u="none" strike="noStrike">
                <a:solidFill>
                  <a:srgbClr val="00205B"/>
                </a:solidFill>
                <a:latin typeface="Arial"/>
              </a:rPr>
              <a:t>Test-set R² per output and model family</a:t>
            </a:r>
          </a:p>
        </c:rich>
      </c:tx>
      <c:layout/>
      <c:overlay val="0"/>
    </c:title>
    <c:autoTitleDeleted val="0"/>
    <c:plotArea>
      <c:layout/>
      <c:barChart>
        <c:barDir val="col"/>
        <c:grouping val="clustered"/>
        <c:varyColors val="0"/>
        <c:ser>
          <c:idx val="0"/>
          <c:order val="0"/>
          <c:tx>
            <c:strRef>
              <c:f>Sheet1!$B$1</c:f>
              <c:strCache>
                <c:ptCount val="1"/>
                <c:pt idx="0">
                  <c:v>Gradient Boosting</c:v>
                </c:pt>
              </c:strCache>
            </c:strRef>
          </c:tx>
          <c:spPr>
            <a:solidFill>
              <a:srgbClr val="00558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Fz wing-root</c:v>
                  </c:pt>
                  <c:pt idx="1">
                    <c:v>My wing-root</c:v>
                  </c:pt>
                  <c:pt idx="2">
                    <c:v>Fz fuselage</c:v>
                  </c:pt>
                  <c:pt idx="3">
                    <c:v>Mx fuselage</c:v>
                  </c:pt>
                  <c:pt idx="4">
                    <c:v>My fuselage</c:v>
                  </c:pt>
                </c:lvl>
              </c:multiLvlStrCache>
            </c:multiLvlStrRef>
          </c:cat>
          <c:val>
            <c:numRef>
              <c:f>Sheet1!$B$2:$B$6</c:f>
              <c:numCache>
                <c:formatCode>General</c:formatCode>
                <c:ptCount val="5"/>
                <c:pt idx="0">
                  <c:v>0.983</c:v>
                </c:pt>
                <c:pt idx="1">
                  <c:v>0.988</c:v>
                </c:pt>
                <c:pt idx="2">
                  <c:v>0.991</c:v>
                </c:pt>
                <c:pt idx="3">
                  <c:v>0.991</c:v>
                </c:pt>
                <c:pt idx="4">
                  <c:v>0.995</c:v>
                </c:pt>
              </c:numCache>
            </c:numRef>
          </c:val>
        </c:ser>
        <c:ser>
          <c:idx val="1"/>
          <c:order val="1"/>
          <c:tx>
            <c:strRef>
              <c:f>Sheet1!$C$1</c:f>
              <c:strCache>
                <c:ptCount val="1"/>
                <c:pt idx="0">
                  <c:v>Random Forest</c:v>
                </c:pt>
              </c:strCache>
            </c:strRef>
          </c:tx>
          <c:spPr>
            <a:solidFill>
              <a:srgbClr val="8591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Fz wing-root</c:v>
                  </c:pt>
                  <c:pt idx="1">
                    <c:v>My wing-root</c:v>
                  </c:pt>
                  <c:pt idx="2">
                    <c:v>Fz fuselage</c:v>
                  </c:pt>
                  <c:pt idx="3">
                    <c:v>Mx fuselage</c:v>
                  </c:pt>
                  <c:pt idx="4">
                    <c:v>My fuselage</c:v>
                  </c:pt>
                </c:lvl>
              </c:multiLvlStrCache>
            </c:multiLvlStrRef>
          </c:cat>
          <c:val>
            <c:numRef>
              <c:f>Sheet1!$C$2:$C$6</c:f>
              <c:numCache>
                <c:formatCode>General</c:formatCode>
                <c:ptCount val="5"/>
                <c:pt idx="0">
                  <c:v>0.982</c:v>
                </c:pt>
                <c:pt idx="1">
                  <c:v>0.946</c:v>
                </c:pt>
                <c:pt idx="2">
                  <c:v>0.987</c:v>
                </c:pt>
                <c:pt idx="3">
                  <c:v>0.987</c:v>
                </c:pt>
                <c:pt idx="4">
                  <c:v>0.95</c:v>
                </c:pt>
              </c:numCache>
            </c:numRef>
          </c:val>
        </c:ser>
        <c:ser>
          <c:idx val="2"/>
          <c:order val="2"/>
          <c:tx>
            <c:strRef>
              <c:f>Sheet1!$D$1</c:f>
              <c:strCache>
                <c:ptCount val="1"/>
                <c:pt idx="0">
                  <c:v>XGBoost</c:v>
                </c:pt>
              </c:strCache>
            </c:strRef>
          </c:tx>
          <c:spPr>
            <a:solidFill>
              <a:srgbClr val="7FC5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Fz wing-root</c:v>
                  </c:pt>
                  <c:pt idx="1">
                    <c:v>My wing-root</c:v>
                  </c:pt>
                  <c:pt idx="2">
                    <c:v>Fz fuselage</c:v>
                  </c:pt>
                  <c:pt idx="3">
                    <c:v>Mx fuselage</c:v>
                  </c:pt>
                  <c:pt idx="4">
                    <c:v>My fuselage</c:v>
                  </c:pt>
                </c:lvl>
              </c:multiLvlStrCache>
            </c:multiLvlStrRef>
          </c:cat>
          <c:val>
            <c:numRef>
              <c:f>Sheet1!$D$2:$D$6</c:f>
              <c:numCache>
                <c:formatCode>General</c:formatCode>
                <c:ptCount val="5"/>
                <c:pt idx="0">
                  <c:v>0.924</c:v>
                </c:pt>
                <c:pt idx="1">
                  <c:v>0.984</c:v>
                </c:pt>
                <c:pt idx="2">
                  <c:v>0.932</c:v>
                </c:pt>
                <c:pt idx="3">
                  <c:v>0.931</c:v>
                </c:pt>
                <c:pt idx="4">
                  <c:v>0.99</c:v>
                </c:pt>
              </c:numCache>
            </c:numRef>
          </c:val>
        </c:ser>
        <c:ser>
          <c:idx val="3"/>
          <c:order val="3"/>
          <c:tx>
            <c:strRef>
              <c:f>Sheet1!$E$1</c:f>
              <c:strCache>
                <c:ptCount val="1"/>
                <c:pt idx="0">
                  <c:v>PyTorch NN</c:v>
                </c:pt>
              </c:strCache>
            </c:strRef>
          </c:tx>
          <c:spPr>
            <a:solidFill>
              <a:srgbClr val="0085A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Fz wing-root</c:v>
                  </c:pt>
                  <c:pt idx="1">
                    <c:v>My wing-root</c:v>
                  </c:pt>
                  <c:pt idx="2">
                    <c:v>Fz fuselage</c:v>
                  </c:pt>
                  <c:pt idx="3">
                    <c:v>Mx fuselage</c:v>
                  </c:pt>
                  <c:pt idx="4">
                    <c:v>My fuselage</c:v>
                  </c:pt>
                </c:lvl>
              </c:multiLvlStrCache>
            </c:multiLvlStrRef>
          </c:cat>
          <c:val>
            <c:numRef>
              <c:f>Sheet1!$E$2:$E$6</c:f>
              <c:numCache>
                <c:formatCode>General</c:formatCode>
                <c:ptCount val="5"/>
                <c:pt idx="0">
                  <c:v>0.99</c:v>
                </c:pt>
                <c:pt idx="1">
                  <c:v>0.991</c:v>
                </c:pt>
                <c:pt idx="2">
                  <c:v>0.998</c:v>
                </c:pt>
                <c:pt idx="3">
                  <c:v>0.998</c:v>
                </c:pt>
                <c:pt idx="4">
                  <c:v>0.997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
          <c:min val="0.9"/>
        </c:scaling>
        <c:delete val="0"/>
        <c:axPos val="l"/>
        <c:majorGridlines>
          <c:spPr>
            <a:ln w="9525" cap="flat">
              <a:solidFill>
                <a:srgbClr val="E1E6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859199"/>
                </a:solidFill>
                <a:latin typeface="Arial"/>
              </a:defRPr>
            </a:pPr>
            <a:endParaRPr lang="en-US"/>
          </a:p>
        </c:txPr>
        <c:crossAx val="2094734554"/>
        <c:crosses val="autoZero"/>
        <c:crossBetween val="between"/>
        <c:majorUnit val="0.02"/>
      </c:valAx>
      <c:spPr>
        <a:noFill/>
        <a:ln>
          <a:noFill/>
        </a:ln>
        <a:effectLst/>
      </c:spPr>
    </c:plotArea>
    <c:legend>
      <c:legendPos val="b"/>
      <c:overlay val="0"/>
      <c:txPr>
        <a:bodyPr/>
        <a:lstStyle/>
        <a:p>
          <a:pPr>
            <a:defRPr sz="900">
              <a:solidFill>
                <a:srgbClr val="1A1A1A"/>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IVIDER-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3657600" cy="256032"/>
          </a:xfrm>
          <a:prstGeom prst="rect">
            <a:avLst/>
          </a:prstGeom>
          <a:noFill/>
          <a:ln/>
        </p:spPr>
        <p:txBody>
          <a:bodyPr wrap="square" rtlCol="0" anchor="ctr"/>
          <a:lstStyle/>
          <a:p>
            <a:pPr algn="l" indent="0" marL="0">
              <a:buNone/>
            </a:pPr>
            <a:r>
              <a:rPr lang="en-US" sz="800" b="1" spc="200" kern="0" dirty="0">
                <a:solidFill>
                  <a:srgbClr val="00205B"/>
                </a:solidFill>
                <a:latin typeface="Arial" pitchFamily="34" charset="0"/>
                <a:ea typeface="Arial" pitchFamily="34" charset="-122"/>
                <a:cs typeface="Arial" pitchFamily="34" charset="-120"/>
              </a:rPr>
              <a:t>DEFENCE AND SPACE</a:t>
            </a:r>
            <a:endParaRPr lang="en-US" sz="800" dirty="0"/>
          </a:p>
        </p:txBody>
      </p:sp>
      <p:sp>
        <p:nvSpPr>
          <p:cNvPr id="3" name="Text 1"/>
          <p:cNvSpPr/>
          <p:nvPr/>
        </p:nvSpPr>
        <p:spPr>
          <a:xfrm>
            <a:off x="868680" y="6473952"/>
            <a:ext cx="8686800" cy="256032"/>
          </a:xfrm>
          <a:prstGeom prst="rect">
            <a:avLst/>
          </a:prstGeom>
          <a:noFill/>
          <a:ln/>
        </p:spPr>
        <p:txBody>
          <a:bodyPr wrap="square" rtlCol="0" anchor="ctr"/>
          <a:lstStyle/>
          <a:p>
            <a:pPr algn="l" indent="0" marL="0">
              <a:buNone/>
            </a:pPr>
            <a:r>
              <a:rPr lang="en-US" sz="750" dirty="0">
                <a:solidFill>
                  <a:srgbClr val="859199"/>
                </a:solidFill>
                <a:latin typeface="Arial" pitchFamily="34" charset="0"/>
                <a:ea typeface="Arial" pitchFamily="34" charset="-122"/>
                <a:cs typeface="Arial" pitchFamily="34" charset="-120"/>
              </a:rPr>
              <a:t>17 July 2026      Surrogate Factory — An MLOps Platform for Surrogate Models</a:t>
            </a:r>
            <a:endParaRPr lang="en-US" sz="750" dirty="0"/>
          </a:p>
        </p:txBody>
      </p:sp>
      <p:pic>
        <p:nvPicPr>
          <p:cNvPr id="4" name="Image 0" descr="assets/airbus_navy.png">    </p:cNvPr>
          <p:cNvPicPr>
            <a:picLocks noChangeAspect="1"/>
          </p:cNvPicPr>
          <p:nvPr/>
        </p:nvPicPr>
        <p:blipFill>
          <a:blip r:embed="rId1"/>
          <a:stretch>
            <a:fillRect/>
          </a:stretch>
        </p:blipFill>
        <p:spPr>
          <a:xfrm>
            <a:off x="11137392" y="6455664"/>
            <a:ext cx="868680" cy="181051"/>
          </a:xfrm>
          <a:prstGeom prst="rect">
            <a:avLst/>
          </a:prstGeom>
        </p:spPr>
      </p:pic>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sets/airbus_navy.png">    </p:cNvPr>
          <p:cNvPicPr>
            <a:picLocks noChangeAspect="1"/>
          </p:cNvPicPr>
          <p:nvPr/>
        </p:nvPicPr>
        <p:blipFill>
          <a:blip r:embed="rId1"/>
          <a:stretch>
            <a:fillRect/>
          </a:stretch>
        </p:blipFill>
        <p:spPr>
          <a:xfrm>
            <a:off x="11137392" y="6455664"/>
            <a:ext cx="868680" cy="181051"/>
          </a:xfrm>
          <a:prstGeom prst="rect">
            <a:avLst/>
          </a:prstGeom>
        </p:spPr>
      </p:pic>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00205B"/>
        </a:solidFill>
      </p:bgPr>
    </p:bg>
    <p:spTree>
      <p:nvGrpSpPr>
        <p:cNvPr id="1" name=""/>
        <p:cNvGrpSpPr/>
        <p:nvPr/>
      </p:nvGrpSpPr>
      <p:grpSpPr>
        <a:xfrm>
          <a:off x="0" y="0"/>
          <a:ext cx="0" cy="0"/>
          <a:chOff x="0" y="0"/>
          <a:chExt cx="0" cy="0"/>
        </a:xfrm>
      </p:grpSpPr>
      <p:pic>
        <p:nvPicPr>
          <p:cNvPr id="2" name="Image 0" descr="assets/airbus_white.png">    </p:cNvPr>
          <p:cNvPicPr>
            <a:picLocks noChangeAspect="1"/>
          </p:cNvPicPr>
          <p:nvPr/>
        </p:nvPicPr>
        <p:blipFill>
          <a:blip r:embed="rId1"/>
          <a:stretch>
            <a:fillRect/>
          </a:stretch>
        </p:blipFill>
        <p:spPr>
          <a:xfrm>
            <a:off x="11137392" y="6455664"/>
            <a:ext cx="868680" cy="18105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6.png"/><Relationship Id="rId7" Type="http://schemas.openxmlformats.org/officeDocument/2006/relationships/image" Target="../media/image-6-6.png"/><Relationship Id="rId8" Type="http://schemas.openxmlformats.org/officeDocument/2006/relationships/image" Target="../media/image-6-6.png"/><Relationship Id="rId9" Type="http://schemas.openxmlformats.org/officeDocument/2006/relationships/image" Target="../media/image-6-6.png"/><Relationship Id="rId10" Type="http://schemas.openxmlformats.org/officeDocument/2006/relationships/image" Target="../media/image-6-6.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jet_title.jpg">    </p:cNvPr>
          <p:cNvPicPr>
            <a:picLocks noChangeAspect="1"/>
          </p:cNvPicPr>
          <p:nvPr/>
        </p:nvPicPr>
        <p:blipFill>
          <a:blip r:embed="rId1"/>
          <a:srcRect l="0" r="0" t="0" b="0"/>
          <a:stretch/>
        </p:blipFill>
        <p:spPr>
          <a:xfrm>
            <a:off x="0" y="0"/>
            <a:ext cx="12191695" cy="4224528"/>
          </a:xfrm>
          <a:prstGeom prst="rect">
            <a:avLst/>
          </a:prstGeom>
        </p:spPr>
      </p:pic>
      <p:sp>
        <p:nvSpPr>
          <p:cNvPr id="3" name="Shape 0"/>
          <p:cNvSpPr/>
          <p:nvPr/>
        </p:nvSpPr>
        <p:spPr>
          <a:xfrm>
            <a:off x="0" y="4224528"/>
            <a:ext cx="12191695" cy="2633472"/>
          </a:xfrm>
          <a:prstGeom prst="rect">
            <a:avLst/>
          </a:prstGeom>
          <a:solidFill>
            <a:srgbClr val="00205B"/>
          </a:solidFill>
          <a:ln/>
        </p:spPr>
      </p:sp>
      <p:sp>
        <p:nvSpPr>
          <p:cNvPr id="4" name="Text 1"/>
          <p:cNvSpPr/>
          <p:nvPr/>
        </p:nvSpPr>
        <p:spPr>
          <a:xfrm>
            <a:off x="777240" y="4434840"/>
            <a:ext cx="4572000" cy="274320"/>
          </a:xfrm>
          <a:prstGeom prst="rect">
            <a:avLst/>
          </a:prstGeom>
          <a:noFill/>
          <a:ln/>
        </p:spPr>
        <p:txBody>
          <a:bodyPr wrap="square" lIns="0" tIns="0" rIns="0" bIns="0" rtlCol="0" anchor="ctr"/>
          <a:lstStyle/>
          <a:p>
            <a:pPr indent="0" marL="0">
              <a:buNone/>
            </a:pPr>
            <a:r>
              <a:rPr lang="en-US" sz="900" b="1" spc="250" kern="0" dirty="0">
                <a:solidFill>
                  <a:srgbClr val="FFFFFF"/>
                </a:solidFill>
                <a:latin typeface="Arial" pitchFamily="34" charset="0"/>
                <a:ea typeface="Arial" pitchFamily="34" charset="-122"/>
                <a:cs typeface="Arial" pitchFamily="34" charset="-120"/>
              </a:rPr>
              <a:t>DEFENCE AND SPACE</a:t>
            </a:r>
            <a:endParaRPr lang="en-US" sz="900" dirty="0"/>
          </a:p>
        </p:txBody>
      </p:sp>
      <p:sp>
        <p:nvSpPr>
          <p:cNvPr id="5" name="Text 2"/>
          <p:cNvSpPr/>
          <p:nvPr/>
        </p:nvSpPr>
        <p:spPr>
          <a:xfrm>
            <a:off x="777240" y="4736592"/>
            <a:ext cx="10607040" cy="685800"/>
          </a:xfrm>
          <a:prstGeom prst="rect">
            <a:avLst/>
          </a:prstGeom>
          <a:noFill/>
          <a:ln/>
        </p:spPr>
        <p:txBody>
          <a:bodyPr wrap="square" lIns="0" tIns="0" rIns="0" bIns="0" rtlCol="0" anchor="ctr"/>
          <a:lstStyle/>
          <a:p>
            <a:pPr indent="0" marL="0">
              <a:buNone/>
            </a:pPr>
            <a:r>
              <a:rPr lang="en-US" sz="3700" b="1" dirty="0">
                <a:solidFill>
                  <a:srgbClr val="FFFFFF"/>
                </a:solidFill>
                <a:latin typeface="Arial" pitchFamily="34" charset="0"/>
                <a:ea typeface="Arial" pitchFamily="34" charset="-122"/>
                <a:cs typeface="Arial" pitchFamily="34" charset="-120"/>
              </a:rPr>
              <a:t>Surrogate Factory</a:t>
            </a:r>
            <a:endParaRPr lang="en-US" sz="3700" dirty="0"/>
          </a:p>
        </p:txBody>
      </p:sp>
      <p:sp>
        <p:nvSpPr>
          <p:cNvPr id="6" name="Text 3"/>
          <p:cNvSpPr/>
          <p:nvPr/>
        </p:nvSpPr>
        <p:spPr>
          <a:xfrm>
            <a:off x="777240" y="5440680"/>
            <a:ext cx="9601200" cy="384048"/>
          </a:xfrm>
          <a:prstGeom prst="rect">
            <a:avLst/>
          </a:prstGeom>
          <a:noFill/>
          <a:ln/>
        </p:spPr>
        <p:txBody>
          <a:bodyPr wrap="square" lIns="0" tIns="0" rIns="0" bIns="0" rtlCol="0" anchor="ctr"/>
          <a:lstStyle/>
          <a:p>
            <a:pPr indent="0" marL="0">
              <a:buNone/>
            </a:pPr>
            <a:r>
              <a:rPr lang="en-US" sz="1500" dirty="0">
                <a:solidFill>
                  <a:srgbClr val="BFD3EC"/>
                </a:solidFill>
                <a:latin typeface="Arial" pitchFamily="34" charset="0"/>
                <a:ea typeface="Arial" pitchFamily="34" charset="-122"/>
                <a:cs typeface="Arial" pitchFamily="34" charset="-120"/>
              </a:rPr>
              <a:t>An MLOps platform for building, validating and deploying simulation surrogate models</a:t>
            </a:r>
            <a:endParaRPr lang="en-US" sz="1500" dirty="0"/>
          </a:p>
        </p:txBody>
      </p:sp>
      <p:sp>
        <p:nvSpPr>
          <p:cNvPr id="7" name="Text 4"/>
          <p:cNvSpPr/>
          <p:nvPr/>
        </p:nvSpPr>
        <p:spPr>
          <a:xfrm>
            <a:off x="777240" y="6035040"/>
            <a:ext cx="4572000" cy="566928"/>
          </a:xfrm>
          <a:prstGeom prst="rect">
            <a:avLst/>
          </a:prstGeom>
          <a:noFill/>
          <a:ln/>
        </p:spPr>
        <p:txBody>
          <a:bodyPr wrap="square" lIns="0" tIns="0" rIns="0" bIns="0" rtlCol="0" anchor="ctr"/>
          <a:lstStyle/>
          <a:p>
            <a:pPr indent="0" marL="0">
              <a:lnSpc>
                <a:spcPct val="120000"/>
              </a:lnSpc>
              <a:buNone/>
            </a:pPr>
            <a:r>
              <a:rPr lang="en-US" sz="1050" dirty="0">
                <a:solidFill>
                  <a:srgbClr val="FFFFFF"/>
                </a:solidFill>
                <a:latin typeface="Arial" pitchFamily="34" charset="0"/>
                <a:ea typeface="Arial" pitchFamily="34" charset="-122"/>
                <a:cs typeface="Arial" pitchFamily="34" charset="-120"/>
              </a:rPr>
              <a:t>ARNABAT MARTIN, MARTA</a:t>
            </a:r>
            <a:endParaRPr lang="en-US" sz="1050" dirty="0"/>
          </a:p>
          <a:p>
            <a:pPr indent="0" marL="0">
              <a:lnSpc>
                <a:spcPct val="120000"/>
              </a:lnSpc>
              <a:buNone/>
            </a:pPr>
            <a:r>
              <a:rPr lang="en-US" sz="1050" dirty="0">
                <a:solidFill>
                  <a:srgbClr val="FFFFFF"/>
                </a:solidFill>
                <a:latin typeface="Arial" pitchFamily="34" charset="0"/>
                <a:ea typeface="Arial" pitchFamily="34" charset="-122"/>
                <a:cs typeface="Arial" pitchFamily="34" charset="-120"/>
              </a:rPr>
              <a:t>17 July 2026</a:t>
            </a:r>
            <a:endParaRPr lang="en-US" sz="1050" dirty="0"/>
          </a:p>
        </p:txBody>
      </p:sp>
      <p:pic>
        <p:nvPicPr>
          <p:cNvPr id="8" name="Image 1" descr="assets/airbus_white.png">    </p:cNvPr>
          <p:cNvPicPr>
            <a:picLocks noChangeAspect="1"/>
          </p:cNvPicPr>
          <p:nvPr/>
        </p:nvPicPr>
        <p:blipFill>
          <a:blip r:embed="rId2"/>
          <a:stretch>
            <a:fillRect/>
          </a:stretch>
        </p:blipFill>
        <p:spPr>
          <a:xfrm>
            <a:off x="10561320" y="6144768"/>
            <a:ext cx="1234440" cy="257861"/>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Contents</a:t>
            </a:r>
            <a:endParaRPr lang="en-US" sz="2700" dirty="0"/>
          </a:p>
        </p:txBody>
      </p:sp>
      <p:sp>
        <p:nvSpPr>
          <p:cNvPr id="3" name="Shape 1"/>
          <p:cNvSpPr/>
          <p:nvPr/>
        </p:nvSpPr>
        <p:spPr>
          <a:xfrm>
            <a:off x="411480" y="1481328"/>
            <a:ext cx="5742432" cy="1444752"/>
          </a:xfrm>
          <a:prstGeom prst="roundRect">
            <a:avLst>
              <a:gd name="adj" fmla="val 3797"/>
            </a:avLst>
          </a:prstGeom>
          <a:solidFill>
            <a:srgbClr val="F1F4F9"/>
          </a:solidFill>
          <a:ln/>
        </p:spPr>
      </p:sp>
      <p:sp>
        <p:nvSpPr>
          <p:cNvPr id="4" name="Text 2"/>
          <p:cNvSpPr/>
          <p:nvPr/>
        </p:nvSpPr>
        <p:spPr>
          <a:xfrm>
            <a:off x="612648" y="1645920"/>
            <a:ext cx="868680" cy="1115568"/>
          </a:xfrm>
          <a:prstGeom prst="rect">
            <a:avLst/>
          </a:prstGeom>
          <a:noFill/>
          <a:ln/>
        </p:spPr>
        <p:txBody>
          <a:bodyPr wrap="square" lIns="0" tIns="0" rIns="0" bIns="0" rtlCol="0" anchor="ctr"/>
          <a:lstStyle/>
          <a:p>
            <a:pPr algn="l" indent="0" marL="0">
              <a:buNone/>
            </a:pPr>
            <a:r>
              <a:rPr lang="en-US" sz="2700" b="1" dirty="0">
                <a:solidFill>
                  <a:srgbClr val="0085AD"/>
                </a:solidFill>
                <a:latin typeface="Arial" pitchFamily="34" charset="0"/>
                <a:ea typeface="Arial" pitchFamily="34" charset="-122"/>
                <a:cs typeface="Arial" pitchFamily="34" charset="-120"/>
              </a:rPr>
              <a:t>01</a:t>
            </a:r>
            <a:endParaRPr lang="en-US" sz="2700" dirty="0"/>
          </a:p>
        </p:txBody>
      </p:sp>
      <p:sp>
        <p:nvSpPr>
          <p:cNvPr id="5" name="Text 3"/>
          <p:cNvSpPr/>
          <p:nvPr/>
        </p:nvSpPr>
        <p:spPr>
          <a:xfrm>
            <a:off x="1554480" y="1645920"/>
            <a:ext cx="4434840" cy="411480"/>
          </a:xfrm>
          <a:prstGeom prst="rect">
            <a:avLst/>
          </a:prstGeom>
          <a:noFill/>
          <a:ln/>
        </p:spPr>
        <p:txBody>
          <a:bodyPr wrap="square" lIns="0" tIns="0" rIns="0" bIns="0" rtlCol="0" anchor="ctr"/>
          <a:lstStyle/>
          <a:p>
            <a:pPr indent="0" marL="0">
              <a:buNone/>
            </a:pPr>
            <a:r>
              <a:rPr lang="en-US" sz="1450" b="1" dirty="0">
                <a:solidFill>
                  <a:srgbClr val="00205B"/>
                </a:solidFill>
                <a:latin typeface="Arial" pitchFamily="34" charset="0"/>
                <a:ea typeface="Arial" pitchFamily="34" charset="-122"/>
                <a:cs typeface="Arial" pitchFamily="34" charset="-120"/>
              </a:rPr>
              <a:t>The Challenge</a:t>
            </a:r>
            <a:endParaRPr lang="en-US" sz="1450" dirty="0"/>
          </a:p>
        </p:txBody>
      </p:sp>
      <p:sp>
        <p:nvSpPr>
          <p:cNvPr id="6" name="Text 4"/>
          <p:cNvSpPr/>
          <p:nvPr/>
        </p:nvSpPr>
        <p:spPr>
          <a:xfrm>
            <a:off x="1554480" y="2066544"/>
            <a:ext cx="4434840" cy="749808"/>
          </a:xfrm>
          <a:prstGeom prst="rect">
            <a:avLst/>
          </a:prstGeom>
          <a:noFill/>
          <a:ln/>
        </p:spPr>
        <p:txBody>
          <a:bodyPr wrap="square" lIns="0" tIns="0" rIns="0" bIns="0" rtlCol="0" anchor="t"/>
          <a:lstStyle/>
          <a:p>
            <a:pPr algn="just" indent="0" marL="0">
              <a:lnSpc>
                <a:spcPct val="115000"/>
              </a:lnSpc>
              <a:buNone/>
            </a:pPr>
            <a:r>
              <a:rPr lang="en-US" sz="1050" dirty="0">
                <a:solidFill>
                  <a:srgbClr val="859199"/>
                </a:solidFill>
                <a:latin typeface="Arial" pitchFamily="34" charset="0"/>
                <a:ea typeface="Arial" pitchFamily="34" charset="-122"/>
                <a:cs typeface="Arial" pitchFamily="34" charset="-120"/>
              </a:rPr>
              <a:t>Why high-fidelity simulation has become the bottleneck of aerospace engineering workflows.</a:t>
            </a:r>
            <a:endParaRPr lang="en-US" sz="1050" dirty="0"/>
          </a:p>
        </p:txBody>
      </p:sp>
      <p:sp>
        <p:nvSpPr>
          <p:cNvPr id="7" name="Shape 5"/>
          <p:cNvSpPr/>
          <p:nvPr/>
        </p:nvSpPr>
        <p:spPr>
          <a:xfrm>
            <a:off x="6355080" y="1481328"/>
            <a:ext cx="5742432" cy="1444752"/>
          </a:xfrm>
          <a:prstGeom prst="roundRect">
            <a:avLst>
              <a:gd name="adj" fmla="val 3797"/>
            </a:avLst>
          </a:prstGeom>
          <a:solidFill>
            <a:srgbClr val="EAF0F6"/>
          </a:solidFill>
          <a:ln/>
        </p:spPr>
      </p:sp>
      <p:sp>
        <p:nvSpPr>
          <p:cNvPr id="8" name="Text 6"/>
          <p:cNvSpPr/>
          <p:nvPr/>
        </p:nvSpPr>
        <p:spPr>
          <a:xfrm>
            <a:off x="6556248" y="1645920"/>
            <a:ext cx="868680" cy="1115568"/>
          </a:xfrm>
          <a:prstGeom prst="rect">
            <a:avLst/>
          </a:prstGeom>
          <a:noFill/>
          <a:ln/>
        </p:spPr>
        <p:txBody>
          <a:bodyPr wrap="square" lIns="0" tIns="0" rIns="0" bIns="0" rtlCol="0" anchor="ctr"/>
          <a:lstStyle/>
          <a:p>
            <a:pPr algn="l" indent="0" marL="0">
              <a:buNone/>
            </a:pPr>
            <a:r>
              <a:rPr lang="en-US" sz="2700" b="1" dirty="0">
                <a:solidFill>
                  <a:srgbClr val="0085AD"/>
                </a:solidFill>
                <a:latin typeface="Arial" pitchFamily="34" charset="0"/>
                <a:ea typeface="Arial" pitchFamily="34" charset="-122"/>
                <a:cs typeface="Arial" pitchFamily="34" charset="-120"/>
              </a:rPr>
              <a:t>02</a:t>
            </a:r>
            <a:endParaRPr lang="en-US" sz="2700" dirty="0"/>
          </a:p>
        </p:txBody>
      </p:sp>
      <p:sp>
        <p:nvSpPr>
          <p:cNvPr id="9" name="Text 7"/>
          <p:cNvSpPr/>
          <p:nvPr/>
        </p:nvSpPr>
        <p:spPr>
          <a:xfrm>
            <a:off x="7498080" y="1645920"/>
            <a:ext cx="4434840" cy="411480"/>
          </a:xfrm>
          <a:prstGeom prst="rect">
            <a:avLst/>
          </a:prstGeom>
          <a:noFill/>
          <a:ln/>
        </p:spPr>
        <p:txBody>
          <a:bodyPr wrap="square" lIns="0" tIns="0" rIns="0" bIns="0" rtlCol="0" anchor="ctr"/>
          <a:lstStyle/>
          <a:p>
            <a:pPr indent="0" marL="0">
              <a:buNone/>
            </a:pPr>
            <a:r>
              <a:rPr lang="en-US" sz="1450" b="1" dirty="0">
                <a:solidFill>
                  <a:srgbClr val="00205B"/>
                </a:solidFill>
                <a:latin typeface="Arial" pitchFamily="34" charset="0"/>
                <a:ea typeface="Arial" pitchFamily="34" charset="-122"/>
                <a:cs typeface="Arial" pitchFamily="34" charset="-120"/>
              </a:rPr>
              <a:t>The Surrogate Model Approach</a:t>
            </a:r>
            <a:endParaRPr lang="en-US" sz="1450" dirty="0"/>
          </a:p>
        </p:txBody>
      </p:sp>
      <p:sp>
        <p:nvSpPr>
          <p:cNvPr id="10" name="Text 8"/>
          <p:cNvSpPr/>
          <p:nvPr/>
        </p:nvSpPr>
        <p:spPr>
          <a:xfrm>
            <a:off x="7498080" y="2066544"/>
            <a:ext cx="4434840" cy="749808"/>
          </a:xfrm>
          <a:prstGeom prst="rect">
            <a:avLst/>
          </a:prstGeom>
          <a:noFill/>
          <a:ln/>
        </p:spPr>
        <p:txBody>
          <a:bodyPr wrap="square" lIns="0" tIns="0" rIns="0" bIns="0" rtlCol="0" anchor="t"/>
          <a:lstStyle/>
          <a:p>
            <a:pPr algn="just" indent="0" marL="0">
              <a:lnSpc>
                <a:spcPct val="115000"/>
              </a:lnSpc>
              <a:buNone/>
            </a:pPr>
            <a:r>
              <a:rPr lang="en-US" sz="1050" dirty="0">
                <a:solidFill>
                  <a:srgbClr val="859199"/>
                </a:solidFill>
                <a:latin typeface="Arial" pitchFamily="34" charset="0"/>
                <a:ea typeface="Arial" pitchFamily="34" charset="-122"/>
                <a:cs typeface="Arial" pitchFamily="34" charset="-120"/>
              </a:rPr>
              <a:t>How statistically validated machine-learning models deliver physics results in milliseconds.</a:t>
            </a:r>
            <a:endParaRPr lang="en-US" sz="1050" dirty="0"/>
          </a:p>
        </p:txBody>
      </p:sp>
      <p:sp>
        <p:nvSpPr>
          <p:cNvPr id="11" name="Shape 9"/>
          <p:cNvSpPr/>
          <p:nvPr/>
        </p:nvSpPr>
        <p:spPr>
          <a:xfrm>
            <a:off x="411480" y="3108960"/>
            <a:ext cx="5742432" cy="1444752"/>
          </a:xfrm>
          <a:prstGeom prst="roundRect">
            <a:avLst>
              <a:gd name="adj" fmla="val 3797"/>
            </a:avLst>
          </a:prstGeom>
          <a:solidFill>
            <a:srgbClr val="EAF0F6"/>
          </a:solidFill>
          <a:ln/>
        </p:spPr>
      </p:sp>
      <p:sp>
        <p:nvSpPr>
          <p:cNvPr id="12" name="Text 10"/>
          <p:cNvSpPr/>
          <p:nvPr/>
        </p:nvSpPr>
        <p:spPr>
          <a:xfrm>
            <a:off x="612648" y="3273552"/>
            <a:ext cx="868680" cy="1115568"/>
          </a:xfrm>
          <a:prstGeom prst="rect">
            <a:avLst/>
          </a:prstGeom>
          <a:noFill/>
          <a:ln/>
        </p:spPr>
        <p:txBody>
          <a:bodyPr wrap="square" lIns="0" tIns="0" rIns="0" bIns="0" rtlCol="0" anchor="ctr"/>
          <a:lstStyle/>
          <a:p>
            <a:pPr algn="l" indent="0" marL="0">
              <a:buNone/>
            </a:pPr>
            <a:r>
              <a:rPr lang="en-US" sz="2700" b="1" dirty="0">
                <a:solidFill>
                  <a:srgbClr val="0085AD"/>
                </a:solidFill>
                <a:latin typeface="Arial" pitchFamily="34" charset="0"/>
                <a:ea typeface="Arial" pitchFamily="34" charset="-122"/>
                <a:cs typeface="Arial" pitchFamily="34" charset="-120"/>
              </a:rPr>
              <a:t>03</a:t>
            </a:r>
            <a:endParaRPr lang="en-US" sz="2700" dirty="0"/>
          </a:p>
        </p:txBody>
      </p:sp>
      <p:sp>
        <p:nvSpPr>
          <p:cNvPr id="13" name="Text 11"/>
          <p:cNvSpPr/>
          <p:nvPr/>
        </p:nvSpPr>
        <p:spPr>
          <a:xfrm>
            <a:off x="1554480" y="3273552"/>
            <a:ext cx="4434840" cy="411480"/>
          </a:xfrm>
          <a:prstGeom prst="rect">
            <a:avLst/>
          </a:prstGeom>
          <a:noFill/>
          <a:ln/>
        </p:spPr>
        <p:txBody>
          <a:bodyPr wrap="square" lIns="0" tIns="0" rIns="0" bIns="0" rtlCol="0" anchor="ctr"/>
          <a:lstStyle/>
          <a:p>
            <a:pPr indent="0" marL="0">
              <a:buNone/>
            </a:pPr>
            <a:r>
              <a:rPr lang="en-US" sz="1450" b="1" dirty="0">
                <a:solidFill>
                  <a:srgbClr val="00205B"/>
                </a:solidFill>
                <a:latin typeface="Arial" pitchFamily="34" charset="0"/>
                <a:ea typeface="Arial" pitchFamily="34" charset="-122"/>
                <a:cs typeface="Arial" pitchFamily="34" charset="-120"/>
              </a:rPr>
              <a:t>The Platform — Surrogate Factory</a:t>
            </a:r>
            <a:endParaRPr lang="en-US" sz="1450" dirty="0"/>
          </a:p>
        </p:txBody>
      </p:sp>
      <p:sp>
        <p:nvSpPr>
          <p:cNvPr id="14" name="Text 12"/>
          <p:cNvSpPr/>
          <p:nvPr/>
        </p:nvSpPr>
        <p:spPr>
          <a:xfrm>
            <a:off x="1554480" y="3694176"/>
            <a:ext cx="4434840" cy="749808"/>
          </a:xfrm>
          <a:prstGeom prst="rect">
            <a:avLst/>
          </a:prstGeom>
          <a:noFill/>
          <a:ln/>
        </p:spPr>
        <p:txBody>
          <a:bodyPr wrap="square" lIns="0" tIns="0" rIns="0" bIns="0" rtlCol="0" anchor="t"/>
          <a:lstStyle/>
          <a:p>
            <a:pPr algn="just" indent="0" marL="0">
              <a:lnSpc>
                <a:spcPct val="115000"/>
              </a:lnSpc>
              <a:buNone/>
            </a:pPr>
            <a:r>
              <a:rPr lang="en-US" sz="1050" dirty="0">
                <a:solidFill>
                  <a:srgbClr val="859199"/>
                </a:solidFill>
                <a:latin typeface="Arial" pitchFamily="34" charset="0"/>
                <a:ea typeface="Arial" pitchFamily="34" charset="-122"/>
                <a:cs typeface="Arial" pitchFamily="34" charset="-120"/>
              </a:rPr>
              <a:t>Architecture, nine-stage pipeline, configuration-driven design and open model catalog.</a:t>
            </a:r>
            <a:endParaRPr lang="en-US" sz="1050" dirty="0"/>
          </a:p>
        </p:txBody>
      </p:sp>
      <p:sp>
        <p:nvSpPr>
          <p:cNvPr id="15" name="Shape 13"/>
          <p:cNvSpPr/>
          <p:nvPr/>
        </p:nvSpPr>
        <p:spPr>
          <a:xfrm>
            <a:off x="6355080" y="3108960"/>
            <a:ext cx="5742432" cy="1444752"/>
          </a:xfrm>
          <a:prstGeom prst="roundRect">
            <a:avLst>
              <a:gd name="adj" fmla="val 3797"/>
            </a:avLst>
          </a:prstGeom>
          <a:solidFill>
            <a:srgbClr val="F1F4F9"/>
          </a:solidFill>
          <a:ln/>
        </p:spPr>
      </p:sp>
      <p:sp>
        <p:nvSpPr>
          <p:cNvPr id="16" name="Text 14"/>
          <p:cNvSpPr/>
          <p:nvPr/>
        </p:nvSpPr>
        <p:spPr>
          <a:xfrm>
            <a:off x="6556248" y="3273552"/>
            <a:ext cx="868680" cy="1115568"/>
          </a:xfrm>
          <a:prstGeom prst="rect">
            <a:avLst/>
          </a:prstGeom>
          <a:noFill/>
          <a:ln/>
        </p:spPr>
        <p:txBody>
          <a:bodyPr wrap="square" lIns="0" tIns="0" rIns="0" bIns="0" rtlCol="0" anchor="ctr"/>
          <a:lstStyle/>
          <a:p>
            <a:pPr algn="l" indent="0" marL="0">
              <a:buNone/>
            </a:pPr>
            <a:r>
              <a:rPr lang="en-US" sz="2700" b="1" dirty="0">
                <a:solidFill>
                  <a:srgbClr val="0085AD"/>
                </a:solidFill>
                <a:latin typeface="Arial" pitchFamily="34" charset="0"/>
                <a:ea typeface="Arial" pitchFamily="34" charset="-122"/>
                <a:cs typeface="Arial" pitchFamily="34" charset="-120"/>
              </a:rPr>
              <a:t>04</a:t>
            </a:r>
            <a:endParaRPr lang="en-US" sz="2700" dirty="0"/>
          </a:p>
        </p:txBody>
      </p:sp>
      <p:sp>
        <p:nvSpPr>
          <p:cNvPr id="17" name="Text 15"/>
          <p:cNvSpPr/>
          <p:nvPr/>
        </p:nvSpPr>
        <p:spPr>
          <a:xfrm>
            <a:off x="7498080" y="3273552"/>
            <a:ext cx="4434840" cy="411480"/>
          </a:xfrm>
          <a:prstGeom prst="rect">
            <a:avLst/>
          </a:prstGeom>
          <a:noFill/>
          <a:ln/>
        </p:spPr>
        <p:txBody>
          <a:bodyPr wrap="square" lIns="0" tIns="0" rIns="0" bIns="0" rtlCol="0" anchor="ctr"/>
          <a:lstStyle/>
          <a:p>
            <a:pPr indent="0" marL="0">
              <a:buNone/>
            </a:pPr>
            <a:r>
              <a:rPr lang="en-US" sz="1450" b="1" dirty="0">
                <a:solidFill>
                  <a:srgbClr val="00205B"/>
                </a:solidFill>
                <a:latin typeface="Arial" pitchFamily="34" charset="0"/>
                <a:ea typeface="Arial" pitchFamily="34" charset="-122"/>
                <a:cs typeface="Arial" pitchFamily="34" charset="-120"/>
              </a:rPr>
              <a:t>Validation Framework</a:t>
            </a:r>
            <a:endParaRPr lang="en-US" sz="1450" dirty="0"/>
          </a:p>
        </p:txBody>
      </p:sp>
      <p:sp>
        <p:nvSpPr>
          <p:cNvPr id="18" name="Text 16"/>
          <p:cNvSpPr/>
          <p:nvPr/>
        </p:nvSpPr>
        <p:spPr>
          <a:xfrm>
            <a:off x="7498080" y="3694176"/>
            <a:ext cx="4434840" cy="749808"/>
          </a:xfrm>
          <a:prstGeom prst="rect">
            <a:avLst/>
          </a:prstGeom>
          <a:noFill/>
          <a:ln/>
        </p:spPr>
        <p:txBody>
          <a:bodyPr wrap="square" lIns="0" tIns="0" rIns="0" bIns="0" rtlCol="0" anchor="t"/>
          <a:lstStyle/>
          <a:p>
            <a:pPr algn="just" indent="0" marL="0">
              <a:lnSpc>
                <a:spcPct val="115000"/>
              </a:lnSpc>
              <a:buNone/>
            </a:pPr>
            <a:r>
              <a:rPr lang="en-US" sz="1050" dirty="0">
                <a:solidFill>
                  <a:srgbClr val="859199"/>
                </a:solidFill>
                <a:latin typeface="Arial" pitchFamily="34" charset="0"/>
                <a:ea typeface="Arial" pitchFamily="34" charset="-122"/>
                <a:cs typeface="Arial" pitchFamily="34" charset="-120"/>
              </a:rPr>
              <a:t>A four-layer statistical methodology and fully automated HTML validation reports.</a:t>
            </a:r>
            <a:endParaRPr lang="en-US" sz="1050" dirty="0"/>
          </a:p>
        </p:txBody>
      </p:sp>
      <p:sp>
        <p:nvSpPr>
          <p:cNvPr id="19" name="Shape 17"/>
          <p:cNvSpPr/>
          <p:nvPr/>
        </p:nvSpPr>
        <p:spPr>
          <a:xfrm>
            <a:off x="411480" y="4736592"/>
            <a:ext cx="5742432" cy="1444752"/>
          </a:xfrm>
          <a:prstGeom prst="roundRect">
            <a:avLst>
              <a:gd name="adj" fmla="val 3797"/>
            </a:avLst>
          </a:prstGeom>
          <a:solidFill>
            <a:srgbClr val="F1F4F9"/>
          </a:solidFill>
          <a:ln/>
        </p:spPr>
      </p:sp>
      <p:sp>
        <p:nvSpPr>
          <p:cNvPr id="20" name="Text 18"/>
          <p:cNvSpPr/>
          <p:nvPr/>
        </p:nvSpPr>
        <p:spPr>
          <a:xfrm>
            <a:off x="612648" y="4901184"/>
            <a:ext cx="868680" cy="1115568"/>
          </a:xfrm>
          <a:prstGeom prst="rect">
            <a:avLst/>
          </a:prstGeom>
          <a:noFill/>
          <a:ln/>
        </p:spPr>
        <p:txBody>
          <a:bodyPr wrap="square" lIns="0" tIns="0" rIns="0" bIns="0" rtlCol="0" anchor="ctr"/>
          <a:lstStyle/>
          <a:p>
            <a:pPr algn="l" indent="0" marL="0">
              <a:buNone/>
            </a:pPr>
            <a:r>
              <a:rPr lang="en-US" sz="2700" b="1" dirty="0">
                <a:solidFill>
                  <a:srgbClr val="0085AD"/>
                </a:solidFill>
                <a:latin typeface="Arial" pitchFamily="34" charset="0"/>
                <a:ea typeface="Arial" pitchFamily="34" charset="-122"/>
                <a:cs typeface="Arial" pitchFamily="34" charset="-120"/>
              </a:rPr>
              <a:t>05</a:t>
            </a:r>
            <a:endParaRPr lang="en-US" sz="2700" dirty="0"/>
          </a:p>
        </p:txBody>
      </p:sp>
      <p:sp>
        <p:nvSpPr>
          <p:cNvPr id="21" name="Text 19"/>
          <p:cNvSpPr/>
          <p:nvPr/>
        </p:nvSpPr>
        <p:spPr>
          <a:xfrm>
            <a:off x="1554480" y="4901184"/>
            <a:ext cx="4434840" cy="411480"/>
          </a:xfrm>
          <a:prstGeom prst="rect">
            <a:avLst/>
          </a:prstGeom>
          <a:noFill/>
          <a:ln/>
        </p:spPr>
        <p:txBody>
          <a:bodyPr wrap="square" lIns="0" tIns="0" rIns="0" bIns="0" rtlCol="0" anchor="ctr"/>
          <a:lstStyle/>
          <a:p>
            <a:pPr indent="0" marL="0">
              <a:buNone/>
            </a:pPr>
            <a:r>
              <a:rPr lang="en-US" sz="1450" b="1" dirty="0">
                <a:solidFill>
                  <a:srgbClr val="00205B"/>
                </a:solidFill>
                <a:latin typeface="Arial" pitchFamily="34" charset="0"/>
                <a:ea typeface="Arial" pitchFamily="34" charset="-122"/>
                <a:cs typeface="Arial" pitchFamily="34" charset="-120"/>
              </a:rPr>
              <a:t>Use Cases and Results</a:t>
            </a:r>
            <a:endParaRPr lang="en-US" sz="1450" dirty="0"/>
          </a:p>
        </p:txBody>
      </p:sp>
      <p:sp>
        <p:nvSpPr>
          <p:cNvPr id="22" name="Text 20"/>
          <p:cNvSpPr/>
          <p:nvPr/>
        </p:nvSpPr>
        <p:spPr>
          <a:xfrm>
            <a:off x="1554480" y="5321808"/>
            <a:ext cx="4434840" cy="749808"/>
          </a:xfrm>
          <a:prstGeom prst="rect">
            <a:avLst/>
          </a:prstGeom>
          <a:noFill/>
          <a:ln/>
        </p:spPr>
        <p:txBody>
          <a:bodyPr wrap="square" lIns="0" tIns="0" rIns="0" bIns="0" rtlCol="0" anchor="t"/>
          <a:lstStyle/>
          <a:p>
            <a:pPr algn="just" indent="0" marL="0">
              <a:lnSpc>
                <a:spcPct val="115000"/>
              </a:lnSpc>
              <a:buNone/>
            </a:pPr>
            <a:r>
              <a:rPr lang="en-US" sz="1050" dirty="0">
                <a:solidFill>
                  <a:srgbClr val="859199"/>
                </a:solidFill>
                <a:latin typeface="Arial" pitchFamily="34" charset="0"/>
                <a:ea typeface="Arial" pitchFamily="34" charset="-122"/>
                <a:cs typeface="Arial" pitchFamily="34" charset="-120"/>
              </a:rPr>
              <a:t>UCFatigue and UCLoads: real structural problems, measured accuracy, honest conclusions.</a:t>
            </a:r>
            <a:endParaRPr lang="en-US" sz="1050" dirty="0"/>
          </a:p>
        </p:txBody>
      </p:sp>
      <p:sp>
        <p:nvSpPr>
          <p:cNvPr id="23" name="Shape 21"/>
          <p:cNvSpPr/>
          <p:nvPr/>
        </p:nvSpPr>
        <p:spPr>
          <a:xfrm>
            <a:off x="6355080" y="4736592"/>
            <a:ext cx="5742432" cy="1444752"/>
          </a:xfrm>
          <a:prstGeom prst="roundRect">
            <a:avLst>
              <a:gd name="adj" fmla="val 3797"/>
            </a:avLst>
          </a:prstGeom>
          <a:solidFill>
            <a:srgbClr val="EAF0F6"/>
          </a:solidFill>
          <a:ln/>
        </p:spPr>
      </p:sp>
      <p:sp>
        <p:nvSpPr>
          <p:cNvPr id="24" name="Text 22"/>
          <p:cNvSpPr/>
          <p:nvPr/>
        </p:nvSpPr>
        <p:spPr>
          <a:xfrm>
            <a:off x="6556248" y="4901184"/>
            <a:ext cx="868680" cy="1115568"/>
          </a:xfrm>
          <a:prstGeom prst="rect">
            <a:avLst/>
          </a:prstGeom>
          <a:noFill/>
          <a:ln/>
        </p:spPr>
        <p:txBody>
          <a:bodyPr wrap="square" lIns="0" tIns="0" rIns="0" bIns="0" rtlCol="0" anchor="ctr"/>
          <a:lstStyle/>
          <a:p>
            <a:pPr algn="l" indent="0" marL="0">
              <a:buNone/>
            </a:pPr>
            <a:r>
              <a:rPr lang="en-US" sz="2700" b="1" dirty="0">
                <a:solidFill>
                  <a:srgbClr val="0085AD"/>
                </a:solidFill>
                <a:latin typeface="Arial" pitchFamily="34" charset="0"/>
                <a:ea typeface="Arial" pitchFamily="34" charset="-122"/>
                <a:cs typeface="Arial" pitchFamily="34" charset="-120"/>
              </a:rPr>
              <a:t>06</a:t>
            </a:r>
            <a:endParaRPr lang="en-US" sz="2700" dirty="0"/>
          </a:p>
        </p:txBody>
      </p:sp>
      <p:sp>
        <p:nvSpPr>
          <p:cNvPr id="25" name="Text 23"/>
          <p:cNvSpPr/>
          <p:nvPr/>
        </p:nvSpPr>
        <p:spPr>
          <a:xfrm>
            <a:off x="7498080" y="4901184"/>
            <a:ext cx="4434840" cy="411480"/>
          </a:xfrm>
          <a:prstGeom prst="rect">
            <a:avLst/>
          </a:prstGeom>
          <a:noFill/>
          <a:ln/>
        </p:spPr>
        <p:txBody>
          <a:bodyPr wrap="square" lIns="0" tIns="0" rIns="0" bIns="0" rtlCol="0" anchor="ctr"/>
          <a:lstStyle/>
          <a:p>
            <a:pPr indent="0" marL="0">
              <a:buNone/>
            </a:pPr>
            <a:r>
              <a:rPr lang="en-US" sz="1450" b="1" dirty="0">
                <a:solidFill>
                  <a:srgbClr val="00205B"/>
                </a:solidFill>
                <a:latin typeface="Arial" pitchFamily="34" charset="0"/>
                <a:ea typeface="Arial" pitchFamily="34" charset="-122"/>
                <a:cs typeface="Arial" pitchFamily="34" charset="-120"/>
              </a:rPr>
              <a:t>The Case for MLOps</a:t>
            </a:r>
            <a:endParaRPr lang="en-US" sz="1450" dirty="0"/>
          </a:p>
        </p:txBody>
      </p:sp>
      <p:sp>
        <p:nvSpPr>
          <p:cNvPr id="26" name="Text 24"/>
          <p:cNvSpPr/>
          <p:nvPr/>
        </p:nvSpPr>
        <p:spPr>
          <a:xfrm>
            <a:off x="7498080" y="5321808"/>
            <a:ext cx="4434840" cy="749808"/>
          </a:xfrm>
          <a:prstGeom prst="rect">
            <a:avLst/>
          </a:prstGeom>
          <a:noFill/>
          <a:ln/>
        </p:spPr>
        <p:txBody>
          <a:bodyPr wrap="square" lIns="0" tIns="0" rIns="0" bIns="0" rtlCol="0" anchor="t"/>
          <a:lstStyle/>
          <a:p>
            <a:pPr algn="just" indent="0" marL="0">
              <a:lnSpc>
                <a:spcPct val="115000"/>
              </a:lnSpc>
              <a:buNone/>
            </a:pPr>
            <a:r>
              <a:rPr lang="en-US" sz="1050" dirty="0">
                <a:solidFill>
                  <a:srgbClr val="859199"/>
                </a:solidFill>
                <a:latin typeface="Arial" pitchFamily="34" charset="0"/>
                <a:ea typeface="Arial" pitchFamily="34" charset="-122"/>
                <a:cs typeface="Arial" pitchFamily="34" charset="-120"/>
              </a:rPr>
              <a:t>What an industrialised platform returns in reproducibility, speed, trust and scale.</a:t>
            </a:r>
            <a:endParaRPr lang="en-US" sz="10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240280"/>
            <a:ext cx="11365992" cy="822960"/>
          </a:xfrm>
          <a:prstGeom prst="rect">
            <a:avLst/>
          </a:prstGeom>
          <a:noFill/>
          <a:ln/>
        </p:spPr>
        <p:txBody>
          <a:bodyPr wrap="square" lIns="0" tIns="0" rIns="0" bIns="0" rtlCol="0" anchor="ctr"/>
          <a:lstStyle/>
          <a:p>
            <a:pPr algn="ctr" indent="0" marL="0">
              <a:buNone/>
            </a:pPr>
            <a:r>
              <a:rPr lang="en-US" sz="4000" b="1" dirty="0">
                <a:solidFill>
                  <a:srgbClr val="0085AD"/>
                </a:solidFill>
                <a:latin typeface="Arial" pitchFamily="34" charset="0"/>
                <a:ea typeface="Arial" pitchFamily="34" charset="-122"/>
                <a:cs typeface="Arial" pitchFamily="34" charset="-120"/>
              </a:rPr>
              <a:t>01</a:t>
            </a:r>
            <a:endParaRPr lang="en-US" sz="4000" dirty="0"/>
          </a:p>
        </p:txBody>
      </p:sp>
      <p:sp>
        <p:nvSpPr>
          <p:cNvPr id="3" name="Text 1"/>
          <p:cNvSpPr/>
          <p:nvPr/>
        </p:nvSpPr>
        <p:spPr>
          <a:xfrm>
            <a:off x="411480" y="3063240"/>
            <a:ext cx="11365992" cy="777240"/>
          </a:xfrm>
          <a:prstGeom prst="rect">
            <a:avLst/>
          </a:prstGeom>
          <a:noFill/>
          <a:ln/>
        </p:spPr>
        <p:txBody>
          <a:bodyPr wrap="square" lIns="0" tIns="0" rIns="0" bIns="0" rtlCol="0" anchor="ctr"/>
          <a:lstStyle/>
          <a:p>
            <a:pPr algn="ctr" indent="0" marL="0">
              <a:buNone/>
            </a:pPr>
            <a:r>
              <a:rPr lang="en-US" sz="3300" b="1" dirty="0">
                <a:solidFill>
                  <a:srgbClr val="00205B"/>
                </a:solidFill>
                <a:latin typeface="Arial" pitchFamily="34" charset="0"/>
                <a:ea typeface="Arial" pitchFamily="34" charset="-122"/>
                <a:cs typeface="Arial" pitchFamily="34" charset="-120"/>
              </a:rPr>
              <a:t>The Challenge</a:t>
            </a:r>
            <a:endParaRPr lang="en-US" sz="3300" dirty="0"/>
          </a:p>
        </p:txBody>
      </p:sp>
      <p:sp>
        <p:nvSpPr>
          <p:cNvPr id="4" name="Text 2"/>
          <p:cNvSpPr/>
          <p:nvPr/>
        </p:nvSpPr>
        <p:spPr>
          <a:xfrm>
            <a:off x="2194560" y="3931920"/>
            <a:ext cx="7799832" cy="640080"/>
          </a:xfrm>
          <a:prstGeom prst="rect">
            <a:avLst/>
          </a:prstGeom>
          <a:noFill/>
          <a:ln/>
        </p:spPr>
        <p:txBody>
          <a:bodyPr wrap="square" lIns="0" tIns="0" rIns="0" bIns="0" rtlCol="0" anchor="t"/>
          <a:lstStyle/>
          <a:p>
            <a:pPr algn="ctr" indent="0" marL="0">
              <a:lnSpc>
                <a:spcPct val="125000"/>
              </a:lnSpc>
              <a:buNone/>
            </a:pPr>
            <a:r>
              <a:rPr lang="en-US" sz="1350" dirty="0">
                <a:solidFill>
                  <a:srgbClr val="859199"/>
                </a:solidFill>
                <a:latin typeface="Arial" pitchFamily="34" charset="0"/>
                <a:ea typeface="Arial" pitchFamily="34" charset="-122"/>
                <a:cs typeface="Arial" pitchFamily="34" charset="-120"/>
              </a:rPr>
              <a:t>Physics-based simulation delivers reference-quality answers — at a computational price that modern design loops can no longer afford.</a:t>
            </a:r>
            <a:endParaRPr lang="en-US" sz="13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High-Fidelity Simulation Is a Bottleneck</a:t>
            </a:r>
            <a:endParaRPr lang="en-US" sz="2700" dirty="0"/>
          </a:p>
        </p:txBody>
      </p:sp>
      <p:sp>
        <p:nvSpPr>
          <p:cNvPr id="3" name="Text 1"/>
          <p:cNvSpPr/>
          <p:nvPr/>
        </p:nvSpPr>
        <p:spPr>
          <a:xfrm>
            <a:off x="411480" y="1207008"/>
            <a:ext cx="5806440" cy="3063240"/>
          </a:xfrm>
          <a:prstGeom prst="rect">
            <a:avLst/>
          </a:prstGeom>
          <a:noFill/>
          <a:ln/>
        </p:spPr>
        <p:txBody>
          <a:bodyPr wrap="square" lIns="0" tIns="0" rIns="0" bIns="0" rtlCol="0" anchor="ctr"/>
          <a:lstStyle/>
          <a:p>
            <a:pPr algn="just" indent="0" marL="0">
              <a:lnSpc>
                <a:spcPct val="125000"/>
              </a:lnSpc>
              <a:spcAft>
                <a:spcPts val="1400"/>
              </a:spcAft>
              <a:buNone/>
            </a:pPr>
            <a:r>
              <a:rPr lang="en-US" sz="1300" dirty="0">
                <a:solidFill>
                  <a:srgbClr val="1A1A1A"/>
                </a:solidFill>
                <a:latin typeface="Arial" pitchFamily="34" charset="0"/>
                <a:ea typeface="Arial" pitchFamily="34" charset="-122"/>
                <a:cs typeface="Arial" pitchFamily="34" charset="-120"/>
              </a:rPr>
              <a:t>Finite-element and computational-fluid-dynamics solvers are the backbone of structural and aerodynamic engineering. They are also expensive: a single fatigue or loads computation can occupy a workstation for hours, and every design question — a new mass case, a revised flight point, an updated geometry — restarts the clock from zero.</a:t>
            </a:r>
            <a:endParaRPr lang="en-US" sz="1300" dirty="0"/>
          </a:p>
          <a:p>
            <a:pPr algn="just" indent="0" marL="0">
              <a:lnSpc>
                <a:spcPct val="125000"/>
              </a:lnSpc>
              <a:buNone/>
            </a:pPr>
            <a:r>
              <a:rPr lang="en-US" sz="1300" dirty="0">
                <a:solidFill>
                  <a:srgbClr val="1A1A1A"/>
                </a:solidFill>
                <a:latin typeface="Arial" pitchFamily="34" charset="0"/>
                <a:ea typeface="Arial" pitchFamily="34" charset="-122"/>
                <a:cs typeface="Arial" pitchFamily="34" charset="-120"/>
              </a:rPr>
              <a:t>The scale of the problem grows with the ambition of the analysis. Sweeping one aircraft loads envelope already means hundreds of thousands of flight conditions; optimisation studies, trade-off analyses and what-if sessions multiply that figure. In practice, engineers do not run the analyses they need — they run the analyses they can afford to wait for.</a:t>
            </a:r>
            <a:endParaRPr lang="en-US" sz="1300" dirty="0"/>
          </a:p>
        </p:txBody>
      </p:sp>
      <p:pic>
        <p:nvPicPr>
          <p:cNvPr id="4" name="Image 0" descr="assets/jets_sky.jpg">    </p:cNvPr>
          <p:cNvPicPr>
            <a:picLocks noChangeAspect="1"/>
          </p:cNvPicPr>
          <p:nvPr/>
        </p:nvPicPr>
        <p:blipFill>
          <a:blip r:embed="rId1"/>
          <a:srcRect l="0" r="0" t="0" b="0"/>
          <a:stretch/>
        </p:blipFill>
        <p:spPr>
          <a:xfrm>
            <a:off x="6446520" y="1207008"/>
            <a:ext cx="5330952" cy="2999232"/>
          </a:xfrm>
          <a:prstGeom prst="rect">
            <a:avLst/>
          </a:prstGeom>
        </p:spPr>
      </p:pic>
      <p:sp>
        <p:nvSpPr>
          <p:cNvPr id="5" name="Shape 2"/>
          <p:cNvSpPr/>
          <p:nvPr/>
        </p:nvSpPr>
        <p:spPr>
          <a:xfrm>
            <a:off x="411480" y="4526280"/>
            <a:ext cx="3630168" cy="1554480"/>
          </a:xfrm>
          <a:prstGeom prst="roundRect">
            <a:avLst>
              <a:gd name="adj" fmla="val 3529"/>
            </a:avLst>
          </a:prstGeom>
          <a:solidFill>
            <a:srgbClr val="F1F4F9"/>
          </a:solidFill>
          <a:ln/>
        </p:spPr>
      </p:sp>
      <p:sp>
        <p:nvSpPr>
          <p:cNvPr id="6" name="Text 3"/>
          <p:cNvSpPr/>
          <p:nvPr/>
        </p:nvSpPr>
        <p:spPr>
          <a:xfrm>
            <a:off x="548640" y="4636008"/>
            <a:ext cx="3355848" cy="715061"/>
          </a:xfrm>
          <a:prstGeom prst="rect">
            <a:avLst/>
          </a:prstGeom>
          <a:noFill/>
          <a:ln/>
        </p:spPr>
        <p:txBody>
          <a:bodyPr wrap="square" lIns="0" tIns="0" rIns="0" bIns="0" rtlCol="0" anchor="ctr"/>
          <a:lstStyle/>
          <a:p>
            <a:pPr algn="ctr" indent="0" marL="0">
              <a:buNone/>
            </a:pPr>
            <a:r>
              <a:rPr lang="en-US" sz="2500" b="1" dirty="0">
                <a:solidFill>
                  <a:srgbClr val="0085AD"/>
                </a:solidFill>
                <a:latin typeface="Arial" pitchFamily="34" charset="0"/>
                <a:ea typeface="Arial" pitchFamily="34" charset="-122"/>
                <a:cs typeface="Arial" pitchFamily="34" charset="-120"/>
              </a:rPr>
              <a:t>Hours → ms</a:t>
            </a:r>
            <a:endParaRPr lang="en-US" sz="2500" dirty="0"/>
          </a:p>
        </p:txBody>
      </p:sp>
      <p:sp>
        <p:nvSpPr>
          <p:cNvPr id="7" name="Text 4"/>
          <p:cNvSpPr/>
          <p:nvPr/>
        </p:nvSpPr>
        <p:spPr>
          <a:xfrm>
            <a:off x="640080" y="5334610"/>
            <a:ext cx="3172968" cy="65288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per evaluation once a validated surrogate replaces the physics solver in the loop</a:t>
            </a:r>
            <a:endParaRPr lang="en-US" sz="1050" dirty="0"/>
          </a:p>
        </p:txBody>
      </p:sp>
      <p:sp>
        <p:nvSpPr>
          <p:cNvPr id="8" name="Shape 5"/>
          <p:cNvSpPr/>
          <p:nvPr/>
        </p:nvSpPr>
        <p:spPr>
          <a:xfrm>
            <a:off x="4279392" y="4526280"/>
            <a:ext cx="3630168" cy="1554480"/>
          </a:xfrm>
          <a:prstGeom prst="roundRect">
            <a:avLst>
              <a:gd name="adj" fmla="val 3529"/>
            </a:avLst>
          </a:prstGeom>
          <a:solidFill>
            <a:srgbClr val="F1F4F9"/>
          </a:solidFill>
          <a:ln/>
        </p:spPr>
      </p:sp>
      <p:sp>
        <p:nvSpPr>
          <p:cNvPr id="9" name="Text 6"/>
          <p:cNvSpPr/>
          <p:nvPr/>
        </p:nvSpPr>
        <p:spPr>
          <a:xfrm>
            <a:off x="4416552" y="4636008"/>
            <a:ext cx="3355848" cy="715061"/>
          </a:xfrm>
          <a:prstGeom prst="rect">
            <a:avLst/>
          </a:prstGeom>
          <a:noFill/>
          <a:ln/>
        </p:spPr>
        <p:txBody>
          <a:bodyPr wrap="square" lIns="0" tIns="0" rIns="0" bIns="0" rtlCol="0" anchor="ctr"/>
          <a:lstStyle/>
          <a:p>
            <a:pPr algn="ctr" indent="0" marL="0">
              <a:buNone/>
            </a:pPr>
            <a:r>
              <a:rPr lang="en-US" sz="2500" b="1" dirty="0">
                <a:solidFill>
                  <a:srgbClr val="00205B"/>
                </a:solidFill>
                <a:latin typeface="Arial" pitchFamily="34" charset="0"/>
                <a:ea typeface="Arial" pitchFamily="34" charset="-122"/>
                <a:cs typeface="Arial" pitchFamily="34" charset="-120"/>
              </a:rPr>
              <a:t>357,000+</a:t>
            </a:r>
            <a:endParaRPr lang="en-US" sz="2500" dirty="0"/>
          </a:p>
        </p:txBody>
      </p:sp>
      <p:sp>
        <p:nvSpPr>
          <p:cNvPr id="10" name="Text 7"/>
          <p:cNvSpPr/>
          <p:nvPr/>
        </p:nvSpPr>
        <p:spPr>
          <a:xfrm>
            <a:off x="4507992" y="5334610"/>
            <a:ext cx="3172968" cy="65288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flight conditions in a single aircraft loads envelope (UCLoads production dataset)</a:t>
            </a:r>
            <a:endParaRPr lang="en-US" sz="1050" dirty="0"/>
          </a:p>
        </p:txBody>
      </p:sp>
      <p:sp>
        <p:nvSpPr>
          <p:cNvPr id="11" name="Shape 8"/>
          <p:cNvSpPr/>
          <p:nvPr/>
        </p:nvSpPr>
        <p:spPr>
          <a:xfrm>
            <a:off x="8147304" y="4526280"/>
            <a:ext cx="3630168" cy="1554480"/>
          </a:xfrm>
          <a:prstGeom prst="roundRect">
            <a:avLst>
              <a:gd name="adj" fmla="val 3529"/>
            </a:avLst>
          </a:prstGeom>
          <a:solidFill>
            <a:srgbClr val="F1F4F9"/>
          </a:solidFill>
          <a:ln/>
        </p:spPr>
      </p:sp>
      <p:sp>
        <p:nvSpPr>
          <p:cNvPr id="12" name="Text 9"/>
          <p:cNvSpPr/>
          <p:nvPr/>
        </p:nvSpPr>
        <p:spPr>
          <a:xfrm>
            <a:off x="8284464" y="4636008"/>
            <a:ext cx="3355848" cy="715061"/>
          </a:xfrm>
          <a:prstGeom prst="rect">
            <a:avLst/>
          </a:prstGeom>
          <a:noFill/>
          <a:ln/>
        </p:spPr>
        <p:txBody>
          <a:bodyPr wrap="square" lIns="0" tIns="0" rIns="0" bIns="0" rtlCol="0" anchor="ctr"/>
          <a:lstStyle/>
          <a:p>
            <a:pPr algn="ctr" indent="0" marL="0">
              <a:buNone/>
            </a:pPr>
            <a:r>
              <a:rPr lang="en-US" sz="2500" b="1" dirty="0">
                <a:solidFill>
                  <a:srgbClr val="0085AD"/>
                </a:solidFill>
                <a:latin typeface="Arial" pitchFamily="34" charset="0"/>
                <a:ea typeface="Arial" pitchFamily="34" charset="-122"/>
                <a:cs typeface="Arial" pitchFamily="34" charset="-120"/>
              </a:rPr>
              <a:t>× 10⁶</a:t>
            </a:r>
            <a:endParaRPr lang="en-US" sz="2500" dirty="0"/>
          </a:p>
        </p:txBody>
      </p:sp>
      <p:sp>
        <p:nvSpPr>
          <p:cNvPr id="13" name="Text 10"/>
          <p:cNvSpPr/>
          <p:nvPr/>
        </p:nvSpPr>
        <p:spPr>
          <a:xfrm>
            <a:off x="8375904" y="5334610"/>
            <a:ext cx="3172968" cy="65288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typical speed-up factor between a CFD/FEM run and surrogate model inference</a:t>
            </a:r>
            <a:endParaRPr lang="en-US" sz="10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What Is a Surrogate Model?</a:t>
            </a:r>
            <a:endParaRPr lang="en-US" sz="2700" dirty="0"/>
          </a:p>
        </p:txBody>
      </p:sp>
      <p:sp>
        <p:nvSpPr>
          <p:cNvPr id="3" name="Shape 1"/>
          <p:cNvSpPr/>
          <p:nvPr/>
        </p:nvSpPr>
        <p:spPr>
          <a:xfrm>
            <a:off x="411480" y="1371600"/>
            <a:ext cx="2487168" cy="1783080"/>
          </a:xfrm>
          <a:prstGeom prst="roundRect">
            <a:avLst>
              <a:gd name="adj" fmla="val 3590"/>
            </a:avLst>
          </a:prstGeom>
          <a:solidFill>
            <a:srgbClr val="00205B"/>
          </a:solidFill>
          <a:ln/>
        </p:spPr>
      </p:sp>
      <p:sp>
        <p:nvSpPr>
          <p:cNvPr id="4" name="Shape 2"/>
          <p:cNvSpPr/>
          <p:nvPr/>
        </p:nvSpPr>
        <p:spPr>
          <a:xfrm>
            <a:off x="1426464" y="1536192"/>
            <a:ext cx="457200" cy="457200"/>
          </a:xfrm>
          <a:prstGeom prst="ellipse">
            <a:avLst/>
          </a:prstGeom>
          <a:solidFill>
            <a:srgbClr val="005587"/>
          </a:solidFill>
          <a:ln/>
        </p:spPr>
      </p:sp>
      <p:pic>
        <p:nvPicPr>
          <p:cNvPr id="5" name="Image 0" descr="assets/icon_FiCpu_white.png">    </p:cNvPr>
          <p:cNvPicPr>
            <a:picLocks noChangeAspect="1"/>
          </p:cNvPicPr>
          <p:nvPr/>
        </p:nvPicPr>
        <p:blipFill>
          <a:blip r:embed="rId1"/>
          <a:stretch>
            <a:fillRect/>
          </a:stretch>
        </p:blipFill>
        <p:spPr>
          <a:xfrm>
            <a:off x="1536192" y="1645920"/>
            <a:ext cx="237744" cy="237744"/>
          </a:xfrm>
          <a:prstGeom prst="rect">
            <a:avLst/>
          </a:prstGeom>
        </p:spPr>
      </p:pic>
      <p:sp>
        <p:nvSpPr>
          <p:cNvPr id="6" name="Text 3"/>
          <p:cNvSpPr/>
          <p:nvPr/>
        </p:nvSpPr>
        <p:spPr>
          <a:xfrm>
            <a:off x="521208" y="2084832"/>
            <a:ext cx="226771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Physics solver</a:t>
            </a:r>
            <a:endParaRPr lang="en-US" sz="1250" dirty="0"/>
          </a:p>
        </p:txBody>
      </p:sp>
      <p:sp>
        <p:nvSpPr>
          <p:cNvPr id="7" name="Text 4"/>
          <p:cNvSpPr/>
          <p:nvPr/>
        </p:nvSpPr>
        <p:spPr>
          <a:xfrm>
            <a:off x="557784" y="2432304"/>
            <a:ext cx="2194560" cy="621792"/>
          </a:xfrm>
          <a:prstGeom prst="rect">
            <a:avLst/>
          </a:prstGeom>
          <a:noFill/>
          <a:ln/>
        </p:spPr>
        <p:txBody>
          <a:bodyPr wrap="square" lIns="0" tIns="0" rIns="0" bIns="0" rtlCol="0" anchor="t"/>
          <a:lstStyle/>
          <a:p>
            <a:pPr algn="ctr" indent="0" marL="0">
              <a:lnSpc>
                <a:spcPct val="110000"/>
              </a:lnSpc>
              <a:buNone/>
            </a:pPr>
            <a:r>
              <a:rPr lang="en-US" sz="950" dirty="0">
                <a:solidFill>
                  <a:srgbClr val="D9E5F2"/>
                </a:solidFill>
                <a:latin typeface="Arial" pitchFamily="34" charset="0"/>
                <a:ea typeface="Arial" pitchFamily="34" charset="-122"/>
                <a:cs typeface="Arial" pitchFamily="34" charset="-120"/>
              </a:rPr>
              <a:t>FEM / CFD reference computations</a:t>
            </a:r>
            <a:endParaRPr lang="en-US" sz="950" dirty="0"/>
          </a:p>
        </p:txBody>
      </p:sp>
      <p:sp>
        <p:nvSpPr>
          <p:cNvPr id="8" name="Shape 5"/>
          <p:cNvSpPr/>
          <p:nvPr/>
        </p:nvSpPr>
        <p:spPr>
          <a:xfrm>
            <a:off x="2935224" y="2084832"/>
            <a:ext cx="438912" cy="347472"/>
          </a:xfrm>
          <a:prstGeom prst="rightArrow">
            <a:avLst/>
          </a:prstGeom>
          <a:solidFill>
            <a:srgbClr val="859199"/>
          </a:solidFill>
          <a:ln/>
        </p:spPr>
      </p:sp>
      <p:sp>
        <p:nvSpPr>
          <p:cNvPr id="9" name="Shape 6"/>
          <p:cNvSpPr/>
          <p:nvPr/>
        </p:nvSpPr>
        <p:spPr>
          <a:xfrm>
            <a:off x="3410712" y="1371600"/>
            <a:ext cx="2487168" cy="1783080"/>
          </a:xfrm>
          <a:prstGeom prst="roundRect">
            <a:avLst>
              <a:gd name="adj" fmla="val 3590"/>
            </a:avLst>
          </a:prstGeom>
          <a:solidFill>
            <a:srgbClr val="005587"/>
          </a:solidFill>
          <a:ln/>
        </p:spPr>
      </p:sp>
      <p:sp>
        <p:nvSpPr>
          <p:cNvPr id="10" name="Shape 7"/>
          <p:cNvSpPr/>
          <p:nvPr/>
        </p:nvSpPr>
        <p:spPr>
          <a:xfrm>
            <a:off x="4425696" y="1536192"/>
            <a:ext cx="457200" cy="457200"/>
          </a:xfrm>
          <a:prstGeom prst="ellipse">
            <a:avLst/>
          </a:prstGeom>
          <a:solidFill>
            <a:srgbClr val="00205B"/>
          </a:solidFill>
          <a:ln/>
        </p:spPr>
      </p:sp>
      <p:pic>
        <p:nvPicPr>
          <p:cNvPr id="11" name="Image 1" descr="assets/icon_FiDatabase_white.png">    </p:cNvPr>
          <p:cNvPicPr>
            <a:picLocks noChangeAspect="1"/>
          </p:cNvPicPr>
          <p:nvPr/>
        </p:nvPicPr>
        <p:blipFill>
          <a:blip r:embed="rId2"/>
          <a:stretch>
            <a:fillRect/>
          </a:stretch>
        </p:blipFill>
        <p:spPr>
          <a:xfrm>
            <a:off x="4535424" y="1645920"/>
            <a:ext cx="237744" cy="237744"/>
          </a:xfrm>
          <a:prstGeom prst="rect">
            <a:avLst/>
          </a:prstGeom>
        </p:spPr>
      </p:pic>
      <p:sp>
        <p:nvSpPr>
          <p:cNvPr id="12" name="Text 8"/>
          <p:cNvSpPr/>
          <p:nvPr/>
        </p:nvSpPr>
        <p:spPr>
          <a:xfrm>
            <a:off x="3520440" y="2084832"/>
            <a:ext cx="226771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Training dataset</a:t>
            </a:r>
            <a:endParaRPr lang="en-US" sz="1250" dirty="0"/>
          </a:p>
        </p:txBody>
      </p:sp>
      <p:sp>
        <p:nvSpPr>
          <p:cNvPr id="13" name="Text 9"/>
          <p:cNvSpPr/>
          <p:nvPr/>
        </p:nvSpPr>
        <p:spPr>
          <a:xfrm>
            <a:off x="3557016" y="2432304"/>
            <a:ext cx="2194560" cy="621792"/>
          </a:xfrm>
          <a:prstGeom prst="rect">
            <a:avLst/>
          </a:prstGeom>
          <a:noFill/>
          <a:ln/>
        </p:spPr>
        <p:txBody>
          <a:bodyPr wrap="square" lIns="0" tIns="0" rIns="0" bIns="0" rtlCol="0" anchor="t"/>
          <a:lstStyle/>
          <a:p>
            <a:pPr algn="ctr" indent="0" marL="0">
              <a:lnSpc>
                <a:spcPct val="110000"/>
              </a:lnSpc>
              <a:buNone/>
            </a:pPr>
            <a:r>
              <a:rPr lang="en-US" sz="950" dirty="0">
                <a:solidFill>
                  <a:srgbClr val="D9E5F2"/>
                </a:solidFill>
                <a:latin typeface="Arial" pitchFamily="34" charset="0"/>
                <a:ea typeface="Arial" pitchFamily="34" charset="-122"/>
                <a:cs typeface="Arial" pitchFamily="34" charset="-120"/>
              </a:rPr>
              <a:t>DoE campaigns and historical runs</a:t>
            </a:r>
            <a:endParaRPr lang="en-US" sz="950" dirty="0"/>
          </a:p>
        </p:txBody>
      </p:sp>
      <p:sp>
        <p:nvSpPr>
          <p:cNvPr id="14" name="Shape 10"/>
          <p:cNvSpPr/>
          <p:nvPr/>
        </p:nvSpPr>
        <p:spPr>
          <a:xfrm>
            <a:off x="5934456" y="2084832"/>
            <a:ext cx="438912" cy="347472"/>
          </a:xfrm>
          <a:prstGeom prst="rightArrow">
            <a:avLst/>
          </a:prstGeom>
          <a:solidFill>
            <a:srgbClr val="859199"/>
          </a:solidFill>
          <a:ln/>
        </p:spPr>
      </p:sp>
      <p:sp>
        <p:nvSpPr>
          <p:cNvPr id="15" name="Shape 11"/>
          <p:cNvSpPr/>
          <p:nvPr/>
        </p:nvSpPr>
        <p:spPr>
          <a:xfrm>
            <a:off x="6409944" y="1371600"/>
            <a:ext cx="2487168" cy="1783080"/>
          </a:xfrm>
          <a:prstGeom prst="roundRect">
            <a:avLst>
              <a:gd name="adj" fmla="val 3590"/>
            </a:avLst>
          </a:prstGeom>
          <a:solidFill>
            <a:srgbClr val="0085AD"/>
          </a:solidFill>
          <a:ln/>
        </p:spPr>
      </p:sp>
      <p:sp>
        <p:nvSpPr>
          <p:cNvPr id="16" name="Shape 12"/>
          <p:cNvSpPr/>
          <p:nvPr/>
        </p:nvSpPr>
        <p:spPr>
          <a:xfrm>
            <a:off x="7424928" y="1536192"/>
            <a:ext cx="457200" cy="457200"/>
          </a:xfrm>
          <a:prstGeom prst="ellipse">
            <a:avLst/>
          </a:prstGeom>
          <a:solidFill>
            <a:srgbClr val="00205B"/>
          </a:solidFill>
          <a:ln/>
        </p:spPr>
      </p:sp>
      <p:pic>
        <p:nvPicPr>
          <p:cNvPr id="17" name="Image 2" descr="assets/icon_FiActivity_white.png">    </p:cNvPr>
          <p:cNvPicPr>
            <a:picLocks noChangeAspect="1"/>
          </p:cNvPicPr>
          <p:nvPr/>
        </p:nvPicPr>
        <p:blipFill>
          <a:blip r:embed="rId3"/>
          <a:stretch>
            <a:fillRect/>
          </a:stretch>
        </p:blipFill>
        <p:spPr>
          <a:xfrm>
            <a:off x="7534656" y="1645920"/>
            <a:ext cx="237744" cy="237744"/>
          </a:xfrm>
          <a:prstGeom prst="rect">
            <a:avLst/>
          </a:prstGeom>
        </p:spPr>
      </p:pic>
      <p:sp>
        <p:nvSpPr>
          <p:cNvPr id="18" name="Text 13"/>
          <p:cNvSpPr/>
          <p:nvPr/>
        </p:nvSpPr>
        <p:spPr>
          <a:xfrm>
            <a:off x="6519672" y="2084832"/>
            <a:ext cx="226771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ML training &amp; validation</a:t>
            </a:r>
            <a:endParaRPr lang="en-US" sz="1250" dirty="0"/>
          </a:p>
        </p:txBody>
      </p:sp>
      <p:sp>
        <p:nvSpPr>
          <p:cNvPr id="19" name="Text 14"/>
          <p:cNvSpPr/>
          <p:nvPr/>
        </p:nvSpPr>
        <p:spPr>
          <a:xfrm>
            <a:off x="6556248" y="2432304"/>
            <a:ext cx="2194560" cy="621792"/>
          </a:xfrm>
          <a:prstGeom prst="rect">
            <a:avLst/>
          </a:prstGeom>
          <a:noFill/>
          <a:ln/>
        </p:spPr>
        <p:txBody>
          <a:bodyPr wrap="square" lIns="0" tIns="0" rIns="0" bIns="0" rtlCol="0" anchor="t"/>
          <a:lstStyle/>
          <a:p>
            <a:pPr algn="ctr" indent="0" marL="0">
              <a:lnSpc>
                <a:spcPct val="110000"/>
              </a:lnSpc>
              <a:buNone/>
            </a:pPr>
            <a:r>
              <a:rPr lang="en-US" sz="950" dirty="0">
                <a:solidFill>
                  <a:srgbClr val="D9E5F2"/>
                </a:solidFill>
                <a:latin typeface="Arial" pitchFamily="34" charset="0"/>
                <a:ea typeface="Arial" pitchFamily="34" charset="-122"/>
                <a:cs typeface="Arial" pitchFamily="34" charset="-120"/>
              </a:rPr>
              <a:t>Statistical learning with quality gates</a:t>
            </a:r>
            <a:endParaRPr lang="en-US" sz="950" dirty="0"/>
          </a:p>
        </p:txBody>
      </p:sp>
      <p:sp>
        <p:nvSpPr>
          <p:cNvPr id="20" name="Shape 15"/>
          <p:cNvSpPr/>
          <p:nvPr/>
        </p:nvSpPr>
        <p:spPr>
          <a:xfrm>
            <a:off x="8933688" y="2084832"/>
            <a:ext cx="438912" cy="347472"/>
          </a:xfrm>
          <a:prstGeom prst="rightArrow">
            <a:avLst/>
          </a:prstGeom>
          <a:solidFill>
            <a:srgbClr val="859199"/>
          </a:solidFill>
          <a:ln/>
        </p:spPr>
      </p:sp>
      <p:sp>
        <p:nvSpPr>
          <p:cNvPr id="21" name="Shape 16"/>
          <p:cNvSpPr/>
          <p:nvPr/>
        </p:nvSpPr>
        <p:spPr>
          <a:xfrm>
            <a:off x="9409176" y="1371600"/>
            <a:ext cx="2487168" cy="1783080"/>
          </a:xfrm>
          <a:prstGeom prst="roundRect">
            <a:avLst>
              <a:gd name="adj" fmla="val 3590"/>
            </a:avLst>
          </a:prstGeom>
          <a:solidFill>
            <a:srgbClr val="0085AD"/>
          </a:solidFill>
          <a:ln/>
        </p:spPr>
      </p:sp>
      <p:sp>
        <p:nvSpPr>
          <p:cNvPr id="22" name="Shape 17"/>
          <p:cNvSpPr/>
          <p:nvPr/>
        </p:nvSpPr>
        <p:spPr>
          <a:xfrm>
            <a:off x="10424160" y="1536192"/>
            <a:ext cx="457200" cy="457200"/>
          </a:xfrm>
          <a:prstGeom prst="ellipse">
            <a:avLst/>
          </a:prstGeom>
          <a:solidFill>
            <a:srgbClr val="00205B"/>
          </a:solidFill>
          <a:ln/>
        </p:spPr>
      </p:sp>
      <p:pic>
        <p:nvPicPr>
          <p:cNvPr id="23" name="Image 3" descr="assets/icon_FiZap_white.png">    </p:cNvPr>
          <p:cNvPicPr>
            <a:picLocks noChangeAspect="1"/>
          </p:cNvPicPr>
          <p:nvPr/>
        </p:nvPicPr>
        <p:blipFill>
          <a:blip r:embed="rId4"/>
          <a:stretch>
            <a:fillRect/>
          </a:stretch>
        </p:blipFill>
        <p:spPr>
          <a:xfrm>
            <a:off x="10533888" y="1645920"/>
            <a:ext cx="237744" cy="237744"/>
          </a:xfrm>
          <a:prstGeom prst="rect">
            <a:avLst/>
          </a:prstGeom>
        </p:spPr>
      </p:pic>
      <p:sp>
        <p:nvSpPr>
          <p:cNvPr id="24" name="Text 18"/>
          <p:cNvSpPr/>
          <p:nvPr/>
        </p:nvSpPr>
        <p:spPr>
          <a:xfrm>
            <a:off x="9518904" y="2084832"/>
            <a:ext cx="226771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Deployed surrogate</a:t>
            </a:r>
            <a:endParaRPr lang="en-US" sz="1250" dirty="0"/>
          </a:p>
        </p:txBody>
      </p:sp>
      <p:sp>
        <p:nvSpPr>
          <p:cNvPr id="25" name="Text 19"/>
          <p:cNvSpPr/>
          <p:nvPr/>
        </p:nvSpPr>
        <p:spPr>
          <a:xfrm>
            <a:off x="9555480" y="2432304"/>
            <a:ext cx="2194560" cy="621792"/>
          </a:xfrm>
          <a:prstGeom prst="rect">
            <a:avLst/>
          </a:prstGeom>
          <a:noFill/>
          <a:ln/>
        </p:spPr>
        <p:txBody>
          <a:bodyPr wrap="square" lIns="0" tIns="0" rIns="0" bIns="0" rtlCol="0" anchor="t"/>
          <a:lstStyle/>
          <a:p>
            <a:pPr algn="ctr" indent="0" marL="0">
              <a:lnSpc>
                <a:spcPct val="110000"/>
              </a:lnSpc>
              <a:buNone/>
            </a:pPr>
            <a:r>
              <a:rPr lang="en-US" sz="950" dirty="0">
                <a:solidFill>
                  <a:srgbClr val="D9E5F2"/>
                </a:solidFill>
                <a:latin typeface="Arial" pitchFamily="34" charset="0"/>
                <a:ea typeface="Arial" pitchFamily="34" charset="-122"/>
                <a:cs typeface="Arial" pitchFamily="34" charset="-120"/>
              </a:rPr>
              <a:t>Millisecond predictions in the loop</a:t>
            </a:r>
            <a:endParaRPr lang="en-US" sz="950" dirty="0"/>
          </a:p>
        </p:txBody>
      </p:sp>
      <p:sp>
        <p:nvSpPr>
          <p:cNvPr id="26" name="Text 20"/>
          <p:cNvSpPr/>
          <p:nvPr/>
        </p:nvSpPr>
        <p:spPr>
          <a:xfrm>
            <a:off x="411480" y="3429000"/>
            <a:ext cx="11365992" cy="1234440"/>
          </a:xfrm>
          <a:prstGeom prst="rect">
            <a:avLst/>
          </a:prstGeom>
          <a:noFill/>
          <a:ln/>
        </p:spPr>
        <p:txBody>
          <a:bodyPr wrap="square" lIns="0" tIns="0" rIns="0" bIns="0" rtlCol="0" anchor="ctr"/>
          <a:lstStyle/>
          <a:p>
            <a:pPr algn="just" indent="0" marL="0">
              <a:lnSpc>
                <a:spcPct val="125000"/>
              </a:lnSpc>
              <a:buNone/>
            </a:pPr>
            <a:r>
              <a:rPr lang="en-US" sz="1300" dirty="0">
                <a:solidFill>
                  <a:srgbClr val="1A1A1A"/>
                </a:solidFill>
                <a:latin typeface="Arial" pitchFamily="34" charset="0"/>
                <a:ea typeface="Arial" pitchFamily="34" charset="-122"/>
                <a:cs typeface="Arial" pitchFamily="34" charset="-120"/>
              </a:rPr>
              <a:t>A surrogate model is a machine-learning approximation of an expensive simulation, trained on solver results and validated statistically over the flight envelope where it is intended to operate. Once qualified, it answers in milliseconds the same question the solver answers in hours — with quantified accuracy, quantified uncertainty and a documented domain of validity. The physics solver remains the reference; the surrogate absorbs the volume.</a:t>
            </a:r>
            <a:endParaRPr lang="en-US" sz="1300" dirty="0"/>
          </a:p>
        </p:txBody>
      </p:sp>
      <p:sp>
        <p:nvSpPr>
          <p:cNvPr id="27" name="Shape 21"/>
          <p:cNvSpPr/>
          <p:nvPr/>
        </p:nvSpPr>
        <p:spPr>
          <a:xfrm>
            <a:off x="411480" y="4846320"/>
            <a:ext cx="3630168" cy="1234440"/>
          </a:xfrm>
          <a:prstGeom prst="roundRect">
            <a:avLst>
              <a:gd name="adj" fmla="val 4444"/>
            </a:avLst>
          </a:prstGeom>
          <a:solidFill>
            <a:srgbClr val="F1F4F9"/>
          </a:solidFill>
          <a:ln/>
        </p:spPr>
      </p:sp>
      <p:sp>
        <p:nvSpPr>
          <p:cNvPr id="28" name="Shape 22"/>
          <p:cNvSpPr/>
          <p:nvPr/>
        </p:nvSpPr>
        <p:spPr>
          <a:xfrm>
            <a:off x="612648" y="5166360"/>
            <a:ext cx="566928" cy="566928"/>
          </a:xfrm>
          <a:prstGeom prst="ellipse">
            <a:avLst/>
          </a:prstGeom>
          <a:solidFill>
            <a:srgbClr val="0085AD"/>
          </a:solidFill>
          <a:ln/>
        </p:spPr>
      </p:sp>
      <p:pic>
        <p:nvPicPr>
          <p:cNvPr id="29" name="Image 4" descr="assets/icon_FiRefreshCw_white.png">    </p:cNvPr>
          <p:cNvPicPr>
            <a:picLocks noChangeAspect="1"/>
          </p:cNvPicPr>
          <p:nvPr/>
        </p:nvPicPr>
        <p:blipFill>
          <a:blip r:embed="rId5"/>
          <a:stretch>
            <a:fillRect/>
          </a:stretch>
        </p:blipFill>
        <p:spPr>
          <a:xfrm>
            <a:off x="748711" y="5302423"/>
            <a:ext cx="294803" cy="294803"/>
          </a:xfrm>
          <a:prstGeom prst="rect">
            <a:avLst/>
          </a:prstGeom>
        </p:spPr>
      </p:pic>
      <p:sp>
        <p:nvSpPr>
          <p:cNvPr id="30" name="Text 23"/>
          <p:cNvSpPr/>
          <p:nvPr/>
        </p:nvSpPr>
        <p:spPr>
          <a:xfrm>
            <a:off x="1325880" y="4983480"/>
            <a:ext cx="2606040" cy="365760"/>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Optimisation loops</a:t>
            </a:r>
            <a:endParaRPr lang="en-US" sz="1250" dirty="0"/>
          </a:p>
        </p:txBody>
      </p:sp>
      <p:sp>
        <p:nvSpPr>
          <p:cNvPr id="31" name="Text 24"/>
          <p:cNvSpPr/>
          <p:nvPr/>
        </p:nvSpPr>
        <p:spPr>
          <a:xfrm>
            <a:off x="1325880" y="5349240"/>
            <a:ext cx="2606040" cy="640080"/>
          </a:xfrm>
          <a:prstGeom prst="rect">
            <a:avLst/>
          </a:prstGeom>
          <a:noFill/>
          <a:ln/>
        </p:spPr>
        <p:txBody>
          <a:bodyPr wrap="square" lIns="0" tIns="0" rIns="0" bIns="0" rtlCol="0" anchor="t"/>
          <a:lstStyle/>
          <a:p>
            <a:pPr algn="l" indent="0" marL="0">
              <a:lnSpc>
                <a:spcPct val="112000"/>
              </a:lnSpc>
              <a:buNone/>
            </a:pPr>
            <a:r>
              <a:rPr lang="en-US" sz="950" dirty="0">
                <a:solidFill>
                  <a:srgbClr val="859199"/>
                </a:solidFill>
                <a:latin typeface="Arial" pitchFamily="34" charset="0"/>
                <a:ea typeface="Arial" pitchFamily="34" charset="-122"/>
                <a:cs typeface="Arial" pitchFamily="34" charset="-120"/>
              </a:rPr>
              <a:t>thousands of evaluations inside MDO and sizing iterations</a:t>
            </a:r>
            <a:endParaRPr lang="en-US" sz="950" dirty="0"/>
          </a:p>
        </p:txBody>
      </p:sp>
      <p:sp>
        <p:nvSpPr>
          <p:cNvPr id="32" name="Shape 25"/>
          <p:cNvSpPr/>
          <p:nvPr/>
        </p:nvSpPr>
        <p:spPr>
          <a:xfrm>
            <a:off x="4279392" y="4846320"/>
            <a:ext cx="3630168" cy="1234440"/>
          </a:xfrm>
          <a:prstGeom prst="roundRect">
            <a:avLst>
              <a:gd name="adj" fmla="val 4444"/>
            </a:avLst>
          </a:prstGeom>
          <a:solidFill>
            <a:srgbClr val="F1F4F9"/>
          </a:solidFill>
          <a:ln/>
        </p:spPr>
      </p:sp>
      <p:sp>
        <p:nvSpPr>
          <p:cNvPr id="33" name="Shape 26"/>
          <p:cNvSpPr/>
          <p:nvPr/>
        </p:nvSpPr>
        <p:spPr>
          <a:xfrm>
            <a:off x="4480560" y="5166360"/>
            <a:ext cx="566928" cy="566928"/>
          </a:xfrm>
          <a:prstGeom prst="ellipse">
            <a:avLst/>
          </a:prstGeom>
          <a:solidFill>
            <a:srgbClr val="0085AD"/>
          </a:solidFill>
          <a:ln/>
        </p:spPr>
      </p:sp>
      <p:pic>
        <p:nvPicPr>
          <p:cNvPr id="34" name="Image 5" descr="assets/icon_FiEye_white.png">    </p:cNvPr>
          <p:cNvPicPr>
            <a:picLocks noChangeAspect="1"/>
          </p:cNvPicPr>
          <p:nvPr/>
        </p:nvPicPr>
        <p:blipFill>
          <a:blip r:embed="rId6"/>
          <a:stretch>
            <a:fillRect/>
          </a:stretch>
        </p:blipFill>
        <p:spPr>
          <a:xfrm>
            <a:off x="4616623" y="5302423"/>
            <a:ext cx="294803" cy="294803"/>
          </a:xfrm>
          <a:prstGeom prst="rect">
            <a:avLst/>
          </a:prstGeom>
        </p:spPr>
      </p:pic>
      <p:sp>
        <p:nvSpPr>
          <p:cNvPr id="35" name="Text 27"/>
          <p:cNvSpPr/>
          <p:nvPr/>
        </p:nvSpPr>
        <p:spPr>
          <a:xfrm>
            <a:off x="5193792" y="4983480"/>
            <a:ext cx="2606040" cy="365760"/>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Real-time what-if</a:t>
            </a:r>
            <a:endParaRPr lang="en-US" sz="1250" dirty="0"/>
          </a:p>
        </p:txBody>
      </p:sp>
      <p:sp>
        <p:nvSpPr>
          <p:cNvPr id="36" name="Text 28"/>
          <p:cNvSpPr/>
          <p:nvPr/>
        </p:nvSpPr>
        <p:spPr>
          <a:xfrm>
            <a:off x="5193792" y="5349240"/>
            <a:ext cx="2606040" cy="640080"/>
          </a:xfrm>
          <a:prstGeom prst="rect">
            <a:avLst/>
          </a:prstGeom>
          <a:noFill/>
          <a:ln/>
        </p:spPr>
        <p:txBody>
          <a:bodyPr wrap="square" lIns="0" tIns="0" rIns="0" bIns="0" rtlCol="0" anchor="t"/>
          <a:lstStyle/>
          <a:p>
            <a:pPr algn="l" indent="0" marL="0">
              <a:lnSpc>
                <a:spcPct val="112000"/>
              </a:lnSpc>
              <a:buNone/>
            </a:pPr>
            <a:r>
              <a:rPr lang="en-US" sz="950" dirty="0">
                <a:solidFill>
                  <a:srgbClr val="859199"/>
                </a:solidFill>
                <a:latin typeface="Arial" pitchFamily="34" charset="0"/>
                <a:ea typeface="Arial" pitchFamily="34" charset="-122"/>
                <a:cs typeface="Arial" pitchFamily="34" charset="-120"/>
              </a:rPr>
              <a:t>interactive envelope exploration during design reviews</a:t>
            </a:r>
            <a:endParaRPr lang="en-US" sz="950" dirty="0"/>
          </a:p>
        </p:txBody>
      </p:sp>
      <p:sp>
        <p:nvSpPr>
          <p:cNvPr id="37" name="Shape 29"/>
          <p:cNvSpPr/>
          <p:nvPr/>
        </p:nvSpPr>
        <p:spPr>
          <a:xfrm>
            <a:off x="8147304" y="4846320"/>
            <a:ext cx="3630168" cy="1234440"/>
          </a:xfrm>
          <a:prstGeom prst="roundRect">
            <a:avLst>
              <a:gd name="adj" fmla="val 4444"/>
            </a:avLst>
          </a:prstGeom>
          <a:solidFill>
            <a:srgbClr val="F1F4F9"/>
          </a:solidFill>
          <a:ln/>
        </p:spPr>
      </p:sp>
      <p:sp>
        <p:nvSpPr>
          <p:cNvPr id="38" name="Shape 30"/>
          <p:cNvSpPr/>
          <p:nvPr/>
        </p:nvSpPr>
        <p:spPr>
          <a:xfrm>
            <a:off x="8348472" y="5166360"/>
            <a:ext cx="566928" cy="566928"/>
          </a:xfrm>
          <a:prstGeom prst="ellipse">
            <a:avLst/>
          </a:prstGeom>
          <a:solidFill>
            <a:srgbClr val="0085AD"/>
          </a:solidFill>
          <a:ln/>
        </p:spPr>
      </p:sp>
      <p:pic>
        <p:nvPicPr>
          <p:cNvPr id="39" name="Image 6" descr="assets/icon_FiGrid_white.png">    </p:cNvPr>
          <p:cNvPicPr>
            <a:picLocks noChangeAspect="1"/>
          </p:cNvPicPr>
          <p:nvPr/>
        </p:nvPicPr>
        <p:blipFill>
          <a:blip r:embed="rId7"/>
          <a:stretch>
            <a:fillRect/>
          </a:stretch>
        </p:blipFill>
        <p:spPr>
          <a:xfrm>
            <a:off x="8484535" y="5302423"/>
            <a:ext cx="294803" cy="294803"/>
          </a:xfrm>
          <a:prstGeom prst="rect">
            <a:avLst/>
          </a:prstGeom>
        </p:spPr>
      </p:pic>
      <p:sp>
        <p:nvSpPr>
          <p:cNvPr id="40" name="Text 31"/>
          <p:cNvSpPr/>
          <p:nvPr/>
        </p:nvSpPr>
        <p:spPr>
          <a:xfrm>
            <a:off x="9061704" y="4983480"/>
            <a:ext cx="2606040" cy="365760"/>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Fleet-scale screening</a:t>
            </a:r>
            <a:endParaRPr lang="en-US" sz="1250" dirty="0"/>
          </a:p>
        </p:txBody>
      </p:sp>
      <p:sp>
        <p:nvSpPr>
          <p:cNvPr id="41" name="Text 32"/>
          <p:cNvSpPr/>
          <p:nvPr/>
        </p:nvSpPr>
        <p:spPr>
          <a:xfrm>
            <a:off x="9061704" y="5349240"/>
            <a:ext cx="2606040" cy="640080"/>
          </a:xfrm>
          <a:prstGeom prst="rect">
            <a:avLst/>
          </a:prstGeom>
          <a:noFill/>
          <a:ln/>
        </p:spPr>
        <p:txBody>
          <a:bodyPr wrap="square" lIns="0" tIns="0" rIns="0" bIns="0" rtlCol="0" anchor="t"/>
          <a:lstStyle/>
          <a:p>
            <a:pPr algn="l" indent="0" marL="0">
              <a:lnSpc>
                <a:spcPct val="112000"/>
              </a:lnSpc>
              <a:buNone/>
            </a:pPr>
            <a:r>
              <a:rPr lang="en-US" sz="950" dirty="0">
                <a:solidFill>
                  <a:srgbClr val="859199"/>
                </a:solidFill>
                <a:latin typeface="Arial" pitchFamily="34" charset="0"/>
                <a:ea typeface="Arial" pitchFamily="34" charset="-122"/>
                <a:cs typeface="Arial" pitchFamily="34" charset="-120"/>
              </a:rPr>
              <a:t>load and fatigue checks across entire mission catalogues</a:t>
            </a:r>
            <a:endParaRPr lang="en-US" sz="9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From Hand-Crafted Scripts to an Industrial Process</a:t>
            </a:r>
            <a:endParaRPr lang="en-US" sz="2700" dirty="0"/>
          </a:p>
        </p:txBody>
      </p:sp>
      <p:sp>
        <p:nvSpPr>
          <p:cNvPr id="3" name="Shape 1"/>
          <p:cNvSpPr/>
          <p:nvPr/>
        </p:nvSpPr>
        <p:spPr>
          <a:xfrm>
            <a:off x="411480" y="1261872"/>
            <a:ext cx="5532120" cy="4224528"/>
          </a:xfrm>
          <a:prstGeom prst="roundRect">
            <a:avLst>
              <a:gd name="adj" fmla="val 1515"/>
            </a:avLst>
          </a:prstGeom>
          <a:solidFill>
            <a:srgbClr val="F1F4F9"/>
          </a:solidFill>
          <a:ln/>
        </p:spPr>
      </p:sp>
      <p:sp>
        <p:nvSpPr>
          <p:cNvPr id="4" name="Text 2"/>
          <p:cNvSpPr/>
          <p:nvPr/>
        </p:nvSpPr>
        <p:spPr>
          <a:xfrm>
            <a:off x="685800" y="1417320"/>
            <a:ext cx="5029200" cy="411480"/>
          </a:xfrm>
          <a:prstGeom prst="rect">
            <a:avLst/>
          </a:prstGeom>
          <a:noFill/>
          <a:ln/>
        </p:spPr>
        <p:txBody>
          <a:bodyPr wrap="square" lIns="0" tIns="0" rIns="0" bIns="0" rtlCol="0" anchor="ctr"/>
          <a:lstStyle/>
          <a:p>
            <a:pPr indent="0" marL="0">
              <a:buNone/>
            </a:pPr>
            <a:r>
              <a:rPr lang="en-US" sz="1550" b="1" dirty="0">
                <a:solidFill>
                  <a:srgbClr val="8A8A88"/>
                </a:solidFill>
                <a:latin typeface="Arial" pitchFamily="34" charset="0"/>
                <a:ea typeface="Arial" pitchFamily="34" charset="-122"/>
                <a:cs typeface="Arial" pitchFamily="34" charset="-120"/>
              </a:rPr>
              <a:t>Ad-hoc surrogate scripts</a:t>
            </a:r>
            <a:endParaRPr lang="en-US" sz="1550" dirty="0"/>
          </a:p>
        </p:txBody>
      </p:sp>
      <p:sp>
        <p:nvSpPr>
          <p:cNvPr id="5" name="Shape 3"/>
          <p:cNvSpPr/>
          <p:nvPr/>
        </p:nvSpPr>
        <p:spPr>
          <a:xfrm>
            <a:off x="685800" y="2029968"/>
            <a:ext cx="384048" cy="384048"/>
          </a:xfrm>
          <a:prstGeom prst="ellipse">
            <a:avLst/>
          </a:prstGeom>
          <a:solidFill>
            <a:srgbClr val="859199"/>
          </a:solidFill>
          <a:ln/>
        </p:spPr>
      </p:sp>
      <p:pic>
        <p:nvPicPr>
          <p:cNvPr id="6" name="Image 0" descr="assets/icon_FiAlertTriangle_white.png">    </p:cNvPr>
          <p:cNvPicPr>
            <a:picLocks noChangeAspect="1"/>
          </p:cNvPicPr>
          <p:nvPr/>
        </p:nvPicPr>
        <p:blipFill>
          <a:blip r:embed="rId1"/>
          <a:stretch>
            <a:fillRect/>
          </a:stretch>
        </p:blipFill>
        <p:spPr>
          <a:xfrm>
            <a:off x="777972" y="2122140"/>
            <a:ext cx="199705" cy="199705"/>
          </a:xfrm>
          <a:prstGeom prst="rect">
            <a:avLst/>
          </a:prstGeom>
        </p:spPr>
      </p:pic>
      <p:sp>
        <p:nvSpPr>
          <p:cNvPr id="7" name="Text 4"/>
          <p:cNvSpPr/>
          <p:nvPr/>
        </p:nvSpPr>
        <p:spPr>
          <a:xfrm>
            <a:off x="1216152" y="1965960"/>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8A8A88"/>
                </a:solidFill>
                <a:latin typeface="Arial" pitchFamily="34" charset="0"/>
                <a:ea typeface="Arial" pitchFamily="34" charset="-122"/>
                <a:cs typeface="Arial" pitchFamily="34" charset="-120"/>
              </a:rPr>
              <a:t>Irreproducible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results depend on whoever ran the notebook, and on which day</a:t>
            </a:r>
            <a:endParaRPr lang="en-US" sz="1080" dirty="0"/>
          </a:p>
        </p:txBody>
      </p:sp>
      <p:sp>
        <p:nvSpPr>
          <p:cNvPr id="8" name="Shape 5"/>
          <p:cNvSpPr/>
          <p:nvPr/>
        </p:nvSpPr>
        <p:spPr>
          <a:xfrm>
            <a:off x="685800" y="2724912"/>
            <a:ext cx="384048" cy="384048"/>
          </a:xfrm>
          <a:prstGeom prst="ellipse">
            <a:avLst/>
          </a:prstGeom>
          <a:solidFill>
            <a:srgbClr val="859199"/>
          </a:solidFill>
          <a:ln/>
        </p:spPr>
      </p:sp>
      <p:pic>
        <p:nvPicPr>
          <p:cNvPr id="9" name="Image 1" descr="assets/icon_FiAlertTriangle_white.png">    </p:cNvPr>
          <p:cNvPicPr>
            <a:picLocks noChangeAspect="1"/>
          </p:cNvPicPr>
          <p:nvPr/>
        </p:nvPicPr>
        <p:blipFill>
          <a:blip r:embed="rId2"/>
          <a:stretch>
            <a:fillRect/>
          </a:stretch>
        </p:blipFill>
        <p:spPr>
          <a:xfrm>
            <a:off x="777972" y="2817084"/>
            <a:ext cx="199705" cy="199705"/>
          </a:xfrm>
          <a:prstGeom prst="rect">
            <a:avLst/>
          </a:prstGeom>
        </p:spPr>
      </p:pic>
      <p:sp>
        <p:nvSpPr>
          <p:cNvPr id="10" name="Text 6"/>
          <p:cNvSpPr/>
          <p:nvPr/>
        </p:nvSpPr>
        <p:spPr>
          <a:xfrm>
            <a:off x="1216152" y="2660904"/>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8A8A88"/>
                </a:solidFill>
                <a:latin typeface="Arial" pitchFamily="34" charset="0"/>
                <a:ea typeface="Arial" pitchFamily="34" charset="-122"/>
                <a:cs typeface="Arial" pitchFamily="34" charset="-120"/>
              </a:rPr>
              <a:t>Untraceable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no record of data, parameters or code behind a delivered model</a:t>
            </a:r>
            <a:endParaRPr lang="en-US" sz="1080" dirty="0"/>
          </a:p>
        </p:txBody>
      </p:sp>
      <p:sp>
        <p:nvSpPr>
          <p:cNvPr id="11" name="Shape 7"/>
          <p:cNvSpPr/>
          <p:nvPr/>
        </p:nvSpPr>
        <p:spPr>
          <a:xfrm>
            <a:off x="685800" y="3419856"/>
            <a:ext cx="384048" cy="384048"/>
          </a:xfrm>
          <a:prstGeom prst="ellipse">
            <a:avLst/>
          </a:prstGeom>
          <a:solidFill>
            <a:srgbClr val="859199"/>
          </a:solidFill>
          <a:ln/>
        </p:spPr>
      </p:sp>
      <p:pic>
        <p:nvPicPr>
          <p:cNvPr id="12" name="Image 2" descr="assets/icon_FiAlertTriangle_white.png">    </p:cNvPr>
          <p:cNvPicPr>
            <a:picLocks noChangeAspect="1"/>
          </p:cNvPicPr>
          <p:nvPr/>
        </p:nvPicPr>
        <p:blipFill>
          <a:blip r:embed="rId3"/>
          <a:stretch>
            <a:fillRect/>
          </a:stretch>
        </p:blipFill>
        <p:spPr>
          <a:xfrm>
            <a:off x="777972" y="3512028"/>
            <a:ext cx="199705" cy="199705"/>
          </a:xfrm>
          <a:prstGeom prst="rect">
            <a:avLst/>
          </a:prstGeom>
        </p:spPr>
      </p:pic>
      <p:sp>
        <p:nvSpPr>
          <p:cNvPr id="13" name="Text 8"/>
          <p:cNvSpPr/>
          <p:nvPr/>
        </p:nvSpPr>
        <p:spPr>
          <a:xfrm>
            <a:off x="1216152" y="3355848"/>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8A8A88"/>
                </a:solidFill>
                <a:latin typeface="Arial" pitchFamily="34" charset="0"/>
                <a:ea typeface="Arial" pitchFamily="34" charset="-122"/>
                <a:cs typeface="Arial" pitchFamily="34" charset="-120"/>
              </a:rPr>
              <a:t>Unverified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validation is manual, partial and different for every project</a:t>
            </a:r>
            <a:endParaRPr lang="en-US" sz="1080" dirty="0"/>
          </a:p>
        </p:txBody>
      </p:sp>
      <p:sp>
        <p:nvSpPr>
          <p:cNvPr id="14" name="Shape 9"/>
          <p:cNvSpPr/>
          <p:nvPr/>
        </p:nvSpPr>
        <p:spPr>
          <a:xfrm>
            <a:off x="685800" y="4114800"/>
            <a:ext cx="384048" cy="384048"/>
          </a:xfrm>
          <a:prstGeom prst="ellipse">
            <a:avLst/>
          </a:prstGeom>
          <a:solidFill>
            <a:srgbClr val="859199"/>
          </a:solidFill>
          <a:ln/>
        </p:spPr>
      </p:sp>
      <p:pic>
        <p:nvPicPr>
          <p:cNvPr id="15" name="Image 3" descr="assets/icon_FiAlertTriangle_white.png">    </p:cNvPr>
          <p:cNvPicPr>
            <a:picLocks noChangeAspect="1"/>
          </p:cNvPicPr>
          <p:nvPr/>
        </p:nvPicPr>
        <p:blipFill>
          <a:blip r:embed="rId4"/>
          <a:stretch>
            <a:fillRect/>
          </a:stretch>
        </p:blipFill>
        <p:spPr>
          <a:xfrm>
            <a:off x="777972" y="4206972"/>
            <a:ext cx="199705" cy="199705"/>
          </a:xfrm>
          <a:prstGeom prst="rect">
            <a:avLst/>
          </a:prstGeom>
        </p:spPr>
      </p:pic>
      <p:sp>
        <p:nvSpPr>
          <p:cNvPr id="16" name="Text 10"/>
          <p:cNvSpPr/>
          <p:nvPr/>
        </p:nvSpPr>
        <p:spPr>
          <a:xfrm>
            <a:off x="1216152" y="4050792"/>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8A8A88"/>
                </a:solidFill>
                <a:latin typeface="Arial" pitchFamily="34" charset="0"/>
                <a:ea typeface="Arial" pitchFamily="34" charset="-122"/>
                <a:cs typeface="Arial" pitchFamily="34" charset="-120"/>
              </a:rPr>
              <a:t>Unportable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models live and die on one engineer's laptop</a:t>
            </a:r>
            <a:endParaRPr lang="en-US" sz="1080" dirty="0"/>
          </a:p>
        </p:txBody>
      </p:sp>
      <p:sp>
        <p:nvSpPr>
          <p:cNvPr id="17" name="Shape 11"/>
          <p:cNvSpPr/>
          <p:nvPr/>
        </p:nvSpPr>
        <p:spPr>
          <a:xfrm>
            <a:off x="685800" y="4809744"/>
            <a:ext cx="384048" cy="384048"/>
          </a:xfrm>
          <a:prstGeom prst="ellipse">
            <a:avLst/>
          </a:prstGeom>
          <a:solidFill>
            <a:srgbClr val="859199"/>
          </a:solidFill>
          <a:ln/>
        </p:spPr>
      </p:sp>
      <p:pic>
        <p:nvPicPr>
          <p:cNvPr id="18" name="Image 4" descr="assets/icon_FiAlertTriangle_white.png">    </p:cNvPr>
          <p:cNvPicPr>
            <a:picLocks noChangeAspect="1"/>
          </p:cNvPicPr>
          <p:nvPr/>
        </p:nvPicPr>
        <p:blipFill>
          <a:blip r:embed="rId5"/>
          <a:stretch>
            <a:fillRect/>
          </a:stretch>
        </p:blipFill>
        <p:spPr>
          <a:xfrm>
            <a:off x="777972" y="4901916"/>
            <a:ext cx="199705" cy="199705"/>
          </a:xfrm>
          <a:prstGeom prst="rect">
            <a:avLst/>
          </a:prstGeom>
        </p:spPr>
      </p:pic>
      <p:sp>
        <p:nvSpPr>
          <p:cNvPr id="19" name="Text 12"/>
          <p:cNvSpPr/>
          <p:nvPr/>
        </p:nvSpPr>
        <p:spPr>
          <a:xfrm>
            <a:off x="1216152" y="4745736"/>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8A8A88"/>
                </a:solidFill>
                <a:latin typeface="Arial" pitchFamily="34" charset="0"/>
                <a:ea typeface="Arial" pitchFamily="34" charset="-122"/>
                <a:cs typeface="Arial" pitchFamily="34" charset="-120"/>
              </a:rPr>
              <a:t>Unrepeatable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every new use case starts again from a blank page</a:t>
            </a:r>
            <a:endParaRPr lang="en-US" sz="1080" dirty="0"/>
          </a:p>
        </p:txBody>
      </p:sp>
      <p:sp>
        <p:nvSpPr>
          <p:cNvPr id="20" name="Shape 13"/>
          <p:cNvSpPr/>
          <p:nvPr/>
        </p:nvSpPr>
        <p:spPr>
          <a:xfrm>
            <a:off x="6245352" y="1261872"/>
            <a:ext cx="5532120" cy="4224528"/>
          </a:xfrm>
          <a:prstGeom prst="roundRect">
            <a:avLst>
              <a:gd name="adj" fmla="val 1515"/>
            </a:avLst>
          </a:prstGeom>
          <a:solidFill>
            <a:srgbClr val="EAF0F6"/>
          </a:solidFill>
          <a:ln/>
        </p:spPr>
      </p:sp>
      <p:sp>
        <p:nvSpPr>
          <p:cNvPr id="21" name="Text 14"/>
          <p:cNvSpPr/>
          <p:nvPr/>
        </p:nvSpPr>
        <p:spPr>
          <a:xfrm>
            <a:off x="6519672" y="1417320"/>
            <a:ext cx="5029200" cy="411480"/>
          </a:xfrm>
          <a:prstGeom prst="rect">
            <a:avLst/>
          </a:prstGeom>
          <a:noFill/>
          <a:ln/>
        </p:spPr>
        <p:txBody>
          <a:bodyPr wrap="square" lIns="0" tIns="0" rIns="0" bIns="0" rtlCol="0" anchor="ctr"/>
          <a:lstStyle/>
          <a:p>
            <a:pPr indent="0" marL="0">
              <a:buNone/>
            </a:pPr>
            <a:r>
              <a:rPr lang="en-US" sz="1550" b="1" dirty="0">
                <a:solidFill>
                  <a:srgbClr val="00205B"/>
                </a:solidFill>
                <a:latin typeface="Arial" pitchFamily="34" charset="0"/>
                <a:ea typeface="Arial" pitchFamily="34" charset="-122"/>
                <a:cs typeface="Arial" pitchFamily="34" charset="-120"/>
              </a:rPr>
              <a:t>Surrogate Factory — engineered MLOps</a:t>
            </a:r>
            <a:endParaRPr lang="en-US" sz="1550" dirty="0"/>
          </a:p>
        </p:txBody>
      </p:sp>
      <p:sp>
        <p:nvSpPr>
          <p:cNvPr id="22" name="Shape 15"/>
          <p:cNvSpPr/>
          <p:nvPr/>
        </p:nvSpPr>
        <p:spPr>
          <a:xfrm>
            <a:off x="6519672" y="2029968"/>
            <a:ext cx="384048" cy="384048"/>
          </a:xfrm>
          <a:prstGeom prst="ellipse">
            <a:avLst/>
          </a:prstGeom>
          <a:solidFill>
            <a:srgbClr val="0085AD"/>
          </a:solidFill>
          <a:ln/>
        </p:spPr>
      </p:sp>
      <p:pic>
        <p:nvPicPr>
          <p:cNvPr id="23" name="Image 5" descr="assets/icon_FiCheckCircle_white.png">    </p:cNvPr>
          <p:cNvPicPr>
            <a:picLocks noChangeAspect="1"/>
          </p:cNvPicPr>
          <p:nvPr/>
        </p:nvPicPr>
        <p:blipFill>
          <a:blip r:embed="rId6"/>
          <a:stretch>
            <a:fillRect/>
          </a:stretch>
        </p:blipFill>
        <p:spPr>
          <a:xfrm>
            <a:off x="6611844" y="2122140"/>
            <a:ext cx="199705" cy="199705"/>
          </a:xfrm>
          <a:prstGeom prst="rect">
            <a:avLst/>
          </a:prstGeom>
        </p:spPr>
      </p:pic>
      <p:sp>
        <p:nvSpPr>
          <p:cNvPr id="24" name="Text 16"/>
          <p:cNvSpPr/>
          <p:nvPr/>
        </p:nvSpPr>
        <p:spPr>
          <a:xfrm>
            <a:off x="7050024" y="1965960"/>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00205B"/>
                </a:solidFill>
                <a:latin typeface="Arial" pitchFamily="34" charset="0"/>
                <a:ea typeface="Arial" pitchFamily="34" charset="-122"/>
                <a:cs typeface="Arial" pitchFamily="34" charset="-120"/>
              </a:rPr>
              <a:t>Reproducible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every model is rebuilt exactly from a versioned YAML configuration</a:t>
            </a:r>
            <a:endParaRPr lang="en-US" sz="1080" dirty="0"/>
          </a:p>
        </p:txBody>
      </p:sp>
      <p:sp>
        <p:nvSpPr>
          <p:cNvPr id="25" name="Shape 17"/>
          <p:cNvSpPr/>
          <p:nvPr/>
        </p:nvSpPr>
        <p:spPr>
          <a:xfrm>
            <a:off x="6519672" y="2724912"/>
            <a:ext cx="384048" cy="384048"/>
          </a:xfrm>
          <a:prstGeom prst="ellipse">
            <a:avLst/>
          </a:prstGeom>
          <a:solidFill>
            <a:srgbClr val="0085AD"/>
          </a:solidFill>
          <a:ln/>
        </p:spPr>
      </p:sp>
      <p:pic>
        <p:nvPicPr>
          <p:cNvPr id="26" name="Image 6" descr="assets/icon_FiCheckCircle_white.png">    </p:cNvPr>
          <p:cNvPicPr>
            <a:picLocks noChangeAspect="1"/>
          </p:cNvPicPr>
          <p:nvPr/>
        </p:nvPicPr>
        <p:blipFill>
          <a:blip r:embed="rId7"/>
          <a:stretch>
            <a:fillRect/>
          </a:stretch>
        </p:blipFill>
        <p:spPr>
          <a:xfrm>
            <a:off x="6611844" y="2817084"/>
            <a:ext cx="199705" cy="199705"/>
          </a:xfrm>
          <a:prstGeom prst="rect">
            <a:avLst/>
          </a:prstGeom>
        </p:spPr>
      </p:pic>
      <p:sp>
        <p:nvSpPr>
          <p:cNvPr id="27" name="Text 18"/>
          <p:cNvSpPr/>
          <p:nvPr/>
        </p:nvSpPr>
        <p:spPr>
          <a:xfrm>
            <a:off x="7050024" y="2660904"/>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00205B"/>
                </a:solidFill>
                <a:latin typeface="Arial" pitchFamily="34" charset="0"/>
                <a:ea typeface="Arial" pitchFamily="34" charset="-122"/>
                <a:cs typeface="Arial" pitchFamily="34" charset="-120"/>
              </a:rPr>
              <a:t>Traceable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every run logs parameters, metrics, data and source scripts to MLflow</a:t>
            </a:r>
            <a:endParaRPr lang="en-US" sz="1080" dirty="0"/>
          </a:p>
        </p:txBody>
      </p:sp>
      <p:sp>
        <p:nvSpPr>
          <p:cNvPr id="28" name="Shape 19"/>
          <p:cNvSpPr/>
          <p:nvPr/>
        </p:nvSpPr>
        <p:spPr>
          <a:xfrm>
            <a:off x="6519672" y="3419856"/>
            <a:ext cx="384048" cy="384048"/>
          </a:xfrm>
          <a:prstGeom prst="ellipse">
            <a:avLst/>
          </a:prstGeom>
          <a:solidFill>
            <a:srgbClr val="0085AD"/>
          </a:solidFill>
          <a:ln/>
        </p:spPr>
      </p:sp>
      <p:pic>
        <p:nvPicPr>
          <p:cNvPr id="29" name="Image 7" descr="assets/icon_FiCheckCircle_white.png">    </p:cNvPr>
          <p:cNvPicPr>
            <a:picLocks noChangeAspect="1"/>
          </p:cNvPicPr>
          <p:nvPr/>
        </p:nvPicPr>
        <p:blipFill>
          <a:blip r:embed="rId8"/>
          <a:stretch>
            <a:fillRect/>
          </a:stretch>
        </p:blipFill>
        <p:spPr>
          <a:xfrm>
            <a:off x="6611844" y="3512028"/>
            <a:ext cx="199705" cy="199705"/>
          </a:xfrm>
          <a:prstGeom prst="rect">
            <a:avLst/>
          </a:prstGeom>
        </p:spPr>
      </p:pic>
      <p:sp>
        <p:nvSpPr>
          <p:cNvPr id="30" name="Text 20"/>
          <p:cNvSpPr/>
          <p:nvPr/>
        </p:nvSpPr>
        <p:spPr>
          <a:xfrm>
            <a:off x="7050024" y="3355848"/>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00205B"/>
                </a:solidFill>
                <a:latin typeface="Arial" pitchFamily="34" charset="0"/>
                <a:ea typeface="Arial" pitchFamily="34" charset="-122"/>
                <a:cs typeface="Arial" pitchFamily="34" charset="-120"/>
              </a:rPr>
              <a:t>Validated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a standard four-layer statistical gate precedes every model release</a:t>
            </a:r>
            <a:endParaRPr lang="en-US" sz="1080" dirty="0"/>
          </a:p>
        </p:txBody>
      </p:sp>
      <p:sp>
        <p:nvSpPr>
          <p:cNvPr id="31" name="Shape 21"/>
          <p:cNvSpPr/>
          <p:nvPr/>
        </p:nvSpPr>
        <p:spPr>
          <a:xfrm>
            <a:off x="6519672" y="4114800"/>
            <a:ext cx="384048" cy="384048"/>
          </a:xfrm>
          <a:prstGeom prst="ellipse">
            <a:avLst/>
          </a:prstGeom>
          <a:solidFill>
            <a:srgbClr val="0085AD"/>
          </a:solidFill>
          <a:ln/>
        </p:spPr>
      </p:sp>
      <p:pic>
        <p:nvPicPr>
          <p:cNvPr id="32" name="Image 8" descr="assets/icon_FiCheckCircle_white.png">    </p:cNvPr>
          <p:cNvPicPr>
            <a:picLocks noChangeAspect="1"/>
          </p:cNvPicPr>
          <p:nvPr/>
        </p:nvPicPr>
        <p:blipFill>
          <a:blip r:embed="rId9"/>
          <a:stretch>
            <a:fillRect/>
          </a:stretch>
        </p:blipFill>
        <p:spPr>
          <a:xfrm>
            <a:off x="6611844" y="4206972"/>
            <a:ext cx="199705" cy="199705"/>
          </a:xfrm>
          <a:prstGeom prst="rect">
            <a:avLst/>
          </a:prstGeom>
        </p:spPr>
      </p:pic>
      <p:sp>
        <p:nvSpPr>
          <p:cNvPr id="33" name="Text 22"/>
          <p:cNvSpPr/>
          <p:nvPr/>
        </p:nvSpPr>
        <p:spPr>
          <a:xfrm>
            <a:off x="7050024" y="4050792"/>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00205B"/>
                </a:solidFill>
                <a:latin typeface="Arial" pitchFamily="34" charset="0"/>
                <a:ea typeface="Arial" pitchFamily="34" charset="-122"/>
                <a:cs typeface="Arial" pitchFamily="34" charset="-120"/>
              </a:rPr>
              <a:t>Portable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artifacts export to ONNX and store on local disk, S3 or GCS</a:t>
            </a:r>
            <a:endParaRPr lang="en-US" sz="1080" dirty="0"/>
          </a:p>
        </p:txBody>
      </p:sp>
      <p:sp>
        <p:nvSpPr>
          <p:cNvPr id="34" name="Shape 23"/>
          <p:cNvSpPr/>
          <p:nvPr/>
        </p:nvSpPr>
        <p:spPr>
          <a:xfrm>
            <a:off x="6519672" y="4809744"/>
            <a:ext cx="384048" cy="384048"/>
          </a:xfrm>
          <a:prstGeom prst="ellipse">
            <a:avLst/>
          </a:prstGeom>
          <a:solidFill>
            <a:srgbClr val="0085AD"/>
          </a:solidFill>
          <a:ln/>
        </p:spPr>
      </p:sp>
      <p:pic>
        <p:nvPicPr>
          <p:cNvPr id="35" name="Image 9" descr="assets/icon_FiCheckCircle_white.png">    </p:cNvPr>
          <p:cNvPicPr>
            <a:picLocks noChangeAspect="1"/>
          </p:cNvPicPr>
          <p:nvPr/>
        </p:nvPicPr>
        <p:blipFill>
          <a:blip r:embed="rId10"/>
          <a:stretch>
            <a:fillRect/>
          </a:stretch>
        </p:blipFill>
        <p:spPr>
          <a:xfrm>
            <a:off x="6611844" y="4901916"/>
            <a:ext cx="199705" cy="199705"/>
          </a:xfrm>
          <a:prstGeom prst="rect">
            <a:avLst/>
          </a:prstGeom>
        </p:spPr>
      </p:pic>
      <p:sp>
        <p:nvSpPr>
          <p:cNvPr id="36" name="Text 24"/>
          <p:cNvSpPr/>
          <p:nvPr/>
        </p:nvSpPr>
        <p:spPr>
          <a:xfrm>
            <a:off x="7050024" y="4745736"/>
            <a:ext cx="4480560" cy="658368"/>
          </a:xfrm>
          <a:prstGeom prst="rect">
            <a:avLst/>
          </a:prstGeom>
          <a:noFill/>
          <a:ln/>
        </p:spPr>
        <p:txBody>
          <a:bodyPr wrap="square" lIns="0" tIns="0" rIns="0" bIns="0" rtlCol="0" anchor="ctr"/>
          <a:lstStyle/>
          <a:p>
            <a:pPr algn="l" indent="0" marL="0">
              <a:lnSpc>
                <a:spcPct val="110000"/>
              </a:lnSpc>
              <a:buNone/>
            </a:pPr>
            <a:r>
              <a:rPr lang="en-US" sz="1080" b="1" dirty="0">
                <a:solidFill>
                  <a:srgbClr val="00205B"/>
                </a:solidFill>
                <a:latin typeface="Arial" pitchFamily="34" charset="0"/>
                <a:ea typeface="Arial" pitchFamily="34" charset="-122"/>
                <a:cs typeface="Arial" pitchFamily="34" charset="-120"/>
              </a:rPr>
              <a:t>Reusable — </a:t>
            </a:r>
            <a:pPr algn="l" indent="0" marL="0">
              <a:lnSpc>
                <a:spcPct val="110000"/>
              </a:lnSpc>
              <a:buNone/>
            </a:pPr>
            <a:r>
              <a:rPr lang="en-US" sz="1080" dirty="0">
                <a:solidFill>
                  <a:srgbClr val="1A1A1A"/>
                </a:solidFill>
                <a:latin typeface="Arial" pitchFamily="34" charset="0"/>
                <a:ea typeface="Arial" pitchFamily="34" charset="-122"/>
                <a:cs typeface="Arial" pitchFamily="34" charset="-120"/>
              </a:rPr>
              <a:t>one pipeline template serves every programme and discipline</a:t>
            </a:r>
            <a:endParaRPr lang="en-US" sz="1080" dirty="0"/>
          </a:p>
        </p:txBody>
      </p:sp>
      <p:sp>
        <p:nvSpPr>
          <p:cNvPr id="37" name="Text 25"/>
          <p:cNvSpPr/>
          <p:nvPr/>
        </p:nvSpPr>
        <p:spPr>
          <a:xfrm>
            <a:off x="411480" y="5596128"/>
            <a:ext cx="11365992" cy="777240"/>
          </a:xfrm>
          <a:prstGeom prst="rect">
            <a:avLst/>
          </a:prstGeom>
          <a:noFill/>
          <a:ln/>
        </p:spPr>
        <p:txBody>
          <a:bodyPr wrap="square" lIns="0" tIns="0" rIns="0" bIns="0" rtlCol="0" anchor="ctr"/>
          <a:lstStyle/>
          <a:p>
            <a:pPr algn="just" indent="0" marL="0">
              <a:lnSpc>
                <a:spcPct val="125000"/>
              </a:lnSpc>
              <a:buNone/>
            </a:pPr>
            <a:r>
              <a:rPr lang="en-US" sz="1150" dirty="0">
                <a:solidFill>
                  <a:srgbClr val="1A1A1A"/>
                </a:solidFill>
                <a:latin typeface="Arial" pitchFamily="34" charset="0"/>
                <a:ea typeface="Arial" pitchFamily="34" charset="-122"/>
                <a:cs typeface="Arial" pitchFamily="34" charset="-120"/>
              </a:rPr>
              <a:t>The difference between a promising prototype and an engineering asset is not the algorithm — it is the process around it. Machine-learning operations (MLOps) provide that process: versioned configuration, tracked experiments, systematic validation and deployable artifacts, applied uniformly to every surrogate the organisation builds.</a:t>
            </a:r>
            <a:endParaRPr lang="en-US" sz="11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240280"/>
            <a:ext cx="11365992" cy="822960"/>
          </a:xfrm>
          <a:prstGeom prst="rect">
            <a:avLst/>
          </a:prstGeom>
          <a:noFill/>
          <a:ln/>
        </p:spPr>
        <p:txBody>
          <a:bodyPr wrap="square" lIns="0" tIns="0" rIns="0" bIns="0" rtlCol="0" anchor="ctr"/>
          <a:lstStyle/>
          <a:p>
            <a:pPr algn="ctr" indent="0" marL="0">
              <a:buNone/>
            </a:pPr>
            <a:r>
              <a:rPr lang="en-US" sz="4000" b="1" dirty="0">
                <a:solidFill>
                  <a:srgbClr val="0085AD"/>
                </a:solidFill>
                <a:latin typeface="Arial" pitchFamily="34" charset="0"/>
                <a:ea typeface="Arial" pitchFamily="34" charset="-122"/>
                <a:cs typeface="Arial" pitchFamily="34" charset="-120"/>
              </a:rPr>
              <a:t>02</a:t>
            </a:r>
            <a:endParaRPr lang="en-US" sz="4000" dirty="0"/>
          </a:p>
        </p:txBody>
      </p:sp>
      <p:sp>
        <p:nvSpPr>
          <p:cNvPr id="3" name="Text 1"/>
          <p:cNvSpPr/>
          <p:nvPr/>
        </p:nvSpPr>
        <p:spPr>
          <a:xfrm>
            <a:off x="411480" y="3063240"/>
            <a:ext cx="11365992" cy="777240"/>
          </a:xfrm>
          <a:prstGeom prst="rect">
            <a:avLst/>
          </a:prstGeom>
          <a:noFill/>
          <a:ln/>
        </p:spPr>
        <p:txBody>
          <a:bodyPr wrap="square" lIns="0" tIns="0" rIns="0" bIns="0" rtlCol="0" anchor="ctr"/>
          <a:lstStyle/>
          <a:p>
            <a:pPr algn="ctr" indent="0" marL="0">
              <a:buNone/>
            </a:pPr>
            <a:r>
              <a:rPr lang="en-US" sz="3300" b="1" dirty="0">
                <a:solidFill>
                  <a:srgbClr val="00205B"/>
                </a:solidFill>
                <a:latin typeface="Arial" pitchFamily="34" charset="0"/>
                <a:ea typeface="Arial" pitchFamily="34" charset="-122"/>
                <a:cs typeface="Arial" pitchFamily="34" charset="-120"/>
              </a:rPr>
              <a:t>The Platform — Surrogate Factory</a:t>
            </a:r>
            <a:endParaRPr lang="en-US" sz="3300" dirty="0"/>
          </a:p>
        </p:txBody>
      </p:sp>
      <p:sp>
        <p:nvSpPr>
          <p:cNvPr id="4" name="Text 2"/>
          <p:cNvSpPr/>
          <p:nvPr/>
        </p:nvSpPr>
        <p:spPr>
          <a:xfrm>
            <a:off x="2194560" y="3931920"/>
            <a:ext cx="7799832" cy="640080"/>
          </a:xfrm>
          <a:prstGeom prst="rect">
            <a:avLst/>
          </a:prstGeom>
          <a:noFill/>
          <a:ln/>
        </p:spPr>
        <p:txBody>
          <a:bodyPr wrap="square" lIns="0" tIns="0" rIns="0" bIns="0" rtlCol="0" anchor="t"/>
          <a:lstStyle/>
          <a:p>
            <a:pPr algn="ctr" indent="0" marL="0">
              <a:lnSpc>
                <a:spcPct val="125000"/>
              </a:lnSpc>
              <a:buNone/>
            </a:pPr>
            <a:r>
              <a:rPr lang="en-US" sz="1350" dirty="0">
                <a:solidFill>
                  <a:srgbClr val="859199"/>
                </a:solidFill>
                <a:latin typeface="Arial" pitchFamily="34" charset="0"/>
                <a:ea typeface="Arial" pitchFamily="34" charset="-122"/>
                <a:cs typeface="Arial" pitchFamily="34" charset="-120"/>
              </a:rPr>
              <a:t>An Airbus Inner Source MLOps framework, version 2.2, that standardises the full surrogate lifecycle from requirements to deployment.</a:t>
            </a:r>
            <a:endParaRPr lang="en-US" sz="13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Surrogate Factory v2.2 at a Glance</a:t>
            </a:r>
            <a:endParaRPr lang="en-US" sz="2700" dirty="0"/>
          </a:p>
        </p:txBody>
      </p:sp>
      <p:sp>
        <p:nvSpPr>
          <p:cNvPr id="3" name="Text 1"/>
          <p:cNvSpPr/>
          <p:nvPr/>
        </p:nvSpPr>
        <p:spPr>
          <a:xfrm>
            <a:off x="411480" y="1170432"/>
            <a:ext cx="11365992" cy="1143000"/>
          </a:xfrm>
          <a:prstGeom prst="rect">
            <a:avLst/>
          </a:prstGeom>
          <a:noFill/>
          <a:ln/>
        </p:spPr>
        <p:txBody>
          <a:bodyPr wrap="square" lIns="0" tIns="0" rIns="0" bIns="0" rtlCol="0" anchor="ctr"/>
          <a:lstStyle/>
          <a:p>
            <a:pPr algn="just" indent="0" marL="0">
              <a:lnSpc>
                <a:spcPct val="125000"/>
              </a:lnSpc>
              <a:buNone/>
            </a:pPr>
            <a:r>
              <a:rPr lang="en-US" sz="1300" dirty="0">
                <a:solidFill>
                  <a:srgbClr val="1A1A1A"/>
                </a:solidFill>
                <a:latin typeface="Arial" pitchFamily="34" charset="0"/>
                <a:ea typeface="Arial" pitchFamily="34" charset="-122"/>
                <a:cs typeface="Arial" pitchFamily="34" charset="-120"/>
              </a:rPr>
              <a:t>Surrogate Factory is a Python framework, distributed under the Airbus Inner Source shared-maintenance model, that turns surrogate development into a standardised, auditable pipeline. Each stage is a Jupyter notebook driven by declarative YAML metadata; a shared Workflow object carries configuration, logging, data access and experiment tracking across the whole chain, and can be orchestrated visually with the Elyra pipeline editor, from a standalone script, or notebook by notebook.</a:t>
            </a:r>
            <a:endParaRPr lang="en-US" sz="1300" dirty="0"/>
          </a:p>
        </p:txBody>
      </p:sp>
      <p:sp>
        <p:nvSpPr>
          <p:cNvPr id="4" name="Shape 2"/>
          <p:cNvSpPr/>
          <p:nvPr/>
        </p:nvSpPr>
        <p:spPr>
          <a:xfrm>
            <a:off x="411480" y="2487168"/>
            <a:ext cx="2697480" cy="2514600"/>
          </a:xfrm>
          <a:prstGeom prst="roundRect">
            <a:avLst>
              <a:gd name="adj" fmla="val 2545"/>
            </a:avLst>
          </a:prstGeom>
          <a:solidFill>
            <a:srgbClr val="F1F4F9"/>
          </a:solidFill>
          <a:ln/>
        </p:spPr>
      </p:sp>
      <p:sp>
        <p:nvSpPr>
          <p:cNvPr id="5" name="Shape 3"/>
          <p:cNvSpPr/>
          <p:nvPr/>
        </p:nvSpPr>
        <p:spPr>
          <a:xfrm>
            <a:off x="630936" y="2697480"/>
            <a:ext cx="548640" cy="548640"/>
          </a:xfrm>
          <a:prstGeom prst="ellipse">
            <a:avLst/>
          </a:prstGeom>
          <a:solidFill>
            <a:srgbClr val="0085AD"/>
          </a:solidFill>
          <a:ln/>
        </p:spPr>
      </p:sp>
      <p:pic>
        <p:nvPicPr>
          <p:cNvPr id="6" name="Image 0" descr="assets/icon_FiSettings_white.png">    </p:cNvPr>
          <p:cNvPicPr>
            <a:picLocks noChangeAspect="1"/>
          </p:cNvPicPr>
          <p:nvPr/>
        </p:nvPicPr>
        <p:blipFill>
          <a:blip r:embed="rId1"/>
          <a:stretch>
            <a:fillRect/>
          </a:stretch>
        </p:blipFill>
        <p:spPr>
          <a:xfrm>
            <a:off x="762610" y="2829154"/>
            <a:ext cx="285293" cy="285293"/>
          </a:xfrm>
          <a:prstGeom prst="rect">
            <a:avLst/>
          </a:prstGeom>
        </p:spPr>
      </p:pic>
      <p:sp>
        <p:nvSpPr>
          <p:cNvPr id="7" name="Text 4"/>
          <p:cNvSpPr/>
          <p:nvPr/>
        </p:nvSpPr>
        <p:spPr>
          <a:xfrm>
            <a:off x="630936" y="3364992"/>
            <a:ext cx="228600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Configuration-driven</a:t>
            </a:r>
            <a:endParaRPr lang="en-US" sz="1300" dirty="0"/>
          </a:p>
        </p:txBody>
      </p:sp>
      <p:sp>
        <p:nvSpPr>
          <p:cNvPr id="8" name="Text 5"/>
          <p:cNvSpPr/>
          <p:nvPr/>
        </p:nvSpPr>
        <p:spPr>
          <a:xfrm>
            <a:off x="630936" y="3749040"/>
            <a:ext cx="2286000" cy="1143000"/>
          </a:xfrm>
          <a:prstGeom prst="rect">
            <a:avLst/>
          </a:prstGeom>
          <a:noFill/>
          <a:ln/>
        </p:spPr>
        <p:txBody>
          <a:bodyPr wrap="square" lIns="0" tIns="0" rIns="0" bIns="0" rtlCol="0" anchor="t"/>
          <a:lstStyle/>
          <a:p>
            <a:pPr algn="just" indent="0" marL="0">
              <a:lnSpc>
                <a:spcPct val="115000"/>
              </a:lnSpc>
              <a:buNone/>
            </a:pPr>
            <a:r>
              <a:rPr lang="en-US" sz="960" dirty="0">
                <a:solidFill>
                  <a:srgbClr val="1A1A1A"/>
                </a:solidFill>
                <a:latin typeface="Arial" pitchFamily="34" charset="0"/>
                <a:ea typeface="Arial" pitchFamily="34" charset="-122"/>
                <a:cs typeface="Arial" pitchFamily="34" charset="-120"/>
              </a:rPr>
              <a:t>The complete pipeline — data locations, models, tracker, methods — is declared in schema-validated YAML. The configuration is the single source of truth.</a:t>
            </a:r>
            <a:endParaRPr lang="en-US" sz="960" dirty="0"/>
          </a:p>
        </p:txBody>
      </p:sp>
      <p:sp>
        <p:nvSpPr>
          <p:cNvPr id="9" name="Shape 6"/>
          <p:cNvSpPr/>
          <p:nvPr/>
        </p:nvSpPr>
        <p:spPr>
          <a:xfrm>
            <a:off x="3300984" y="2487168"/>
            <a:ext cx="2697480" cy="2514600"/>
          </a:xfrm>
          <a:prstGeom prst="roundRect">
            <a:avLst>
              <a:gd name="adj" fmla="val 2545"/>
            </a:avLst>
          </a:prstGeom>
          <a:solidFill>
            <a:srgbClr val="EAF0F6"/>
          </a:solidFill>
          <a:ln/>
        </p:spPr>
      </p:sp>
      <p:sp>
        <p:nvSpPr>
          <p:cNvPr id="10" name="Shape 7"/>
          <p:cNvSpPr/>
          <p:nvPr/>
        </p:nvSpPr>
        <p:spPr>
          <a:xfrm>
            <a:off x="3520440" y="2697480"/>
            <a:ext cx="548640" cy="548640"/>
          </a:xfrm>
          <a:prstGeom prst="ellipse">
            <a:avLst/>
          </a:prstGeom>
          <a:solidFill>
            <a:srgbClr val="00205B"/>
          </a:solidFill>
          <a:ln/>
        </p:spPr>
      </p:sp>
      <p:pic>
        <p:nvPicPr>
          <p:cNvPr id="11" name="Image 1" descr="assets/icon_FiLayers_white.png">    </p:cNvPr>
          <p:cNvPicPr>
            <a:picLocks noChangeAspect="1"/>
          </p:cNvPicPr>
          <p:nvPr/>
        </p:nvPicPr>
        <p:blipFill>
          <a:blip r:embed="rId2"/>
          <a:stretch>
            <a:fillRect/>
          </a:stretch>
        </p:blipFill>
        <p:spPr>
          <a:xfrm>
            <a:off x="3652114" y="2829154"/>
            <a:ext cx="285293" cy="285293"/>
          </a:xfrm>
          <a:prstGeom prst="rect">
            <a:avLst/>
          </a:prstGeom>
        </p:spPr>
      </p:pic>
      <p:sp>
        <p:nvSpPr>
          <p:cNvPr id="12" name="Text 8"/>
          <p:cNvSpPr/>
          <p:nvPr/>
        </p:nvSpPr>
        <p:spPr>
          <a:xfrm>
            <a:off x="3520440" y="3364992"/>
            <a:ext cx="228600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Modular catalog</a:t>
            </a:r>
            <a:endParaRPr lang="en-US" sz="1300" dirty="0"/>
          </a:p>
        </p:txBody>
      </p:sp>
      <p:sp>
        <p:nvSpPr>
          <p:cNvPr id="13" name="Text 9"/>
          <p:cNvSpPr/>
          <p:nvPr/>
        </p:nvSpPr>
        <p:spPr>
          <a:xfrm>
            <a:off x="3520440" y="3749040"/>
            <a:ext cx="2286000" cy="1143000"/>
          </a:xfrm>
          <a:prstGeom prst="rect">
            <a:avLst/>
          </a:prstGeom>
          <a:noFill/>
          <a:ln/>
        </p:spPr>
        <p:txBody>
          <a:bodyPr wrap="square" lIns="0" tIns="0" rIns="0" bIns="0" rtlCol="0" anchor="t"/>
          <a:lstStyle/>
          <a:p>
            <a:pPr algn="just" indent="0" marL="0">
              <a:lnSpc>
                <a:spcPct val="115000"/>
              </a:lnSpc>
              <a:buNone/>
            </a:pPr>
            <a:r>
              <a:rPr lang="en-US" sz="960" dirty="0">
                <a:solidFill>
                  <a:srgbClr val="1A1A1A"/>
                </a:solidFill>
                <a:latin typeface="Arial" pitchFamily="34" charset="0"/>
                <a:ea typeface="Arial" pitchFamily="34" charset="-122"/>
                <a:cs typeface="Arial" pitchFamily="34" charset="-120"/>
              </a:rPr>
              <a:t>Estimators, checks, tuners and converters are registered by name and resolved at run time, so new methods plug in without touching the framework.</a:t>
            </a:r>
            <a:endParaRPr lang="en-US" sz="960" dirty="0"/>
          </a:p>
        </p:txBody>
      </p:sp>
      <p:sp>
        <p:nvSpPr>
          <p:cNvPr id="14" name="Shape 10"/>
          <p:cNvSpPr/>
          <p:nvPr/>
        </p:nvSpPr>
        <p:spPr>
          <a:xfrm>
            <a:off x="6190488" y="2487168"/>
            <a:ext cx="2697480" cy="2514600"/>
          </a:xfrm>
          <a:prstGeom prst="roundRect">
            <a:avLst>
              <a:gd name="adj" fmla="val 2545"/>
            </a:avLst>
          </a:prstGeom>
          <a:solidFill>
            <a:srgbClr val="F1F4F9"/>
          </a:solidFill>
          <a:ln/>
        </p:spPr>
      </p:sp>
      <p:sp>
        <p:nvSpPr>
          <p:cNvPr id="15" name="Shape 11"/>
          <p:cNvSpPr/>
          <p:nvPr/>
        </p:nvSpPr>
        <p:spPr>
          <a:xfrm>
            <a:off x="6409944" y="2697480"/>
            <a:ext cx="548640" cy="548640"/>
          </a:xfrm>
          <a:prstGeom prst="ellipse">
            <a:avLst/>
          </a:prstGeom>
          <a:solidFill>
            <a:srgbClr val="0085AD"/>
          </a:solidFill>
          <a:ln/>
        </p:spPr>
      </p:sp>
      <p:pic>
        <p:nvPicPr>
          <p:cNvPr id="16" name="Image 2" descr="assets/icon_FiBarChart2_white.png">    </p:cNvPr>
          <p:cNvPicPr>
            <a:picLocks noChangeAspect="1"/>
          </p:cNvPicPr>
          <p:nvPr/>
        </p:nvPicPr>
        <p:blipFill>
          <a:blip r:embed="rId3"/>
          <a:stretch>
            <a:fillRect/>
          </a:stretch>
        </p:blipFill>
        <p:spPr>
          <a:xfrm>
            <a:off x="6541618" y="2829154"/>
            <a:ext cx="285293" cy="285293"/>
          </a:xfrm>
          <a:prstGeom prst="rect">
            <a:avLst/>
          </a:prstGeom>
        </p:spPr>
      </p:pic>
      <p:sp>
        <p:nvSpPr>
          <p:cNvPr id="17" name="Text 12"/>
          <p:cNvSpPr/>
          <p:nvPr/>
        </p:nvSpPr>
        <p:spPr>
          <a:xfrm>
            <a:off x="6409944" y="3364992"/>
            <a:ext cx="228600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Tracking built in</a:t>
            </a:r>
            <a:endParaRPr lang="en-US" sz="1300" dirty="0"/>
          </a:p>
        </p:txBody>
      </p:sp>
      <p:sp>
        <p:nvSpPr>
          <p:cNvPr id="18" name="Text 13"/>
          <p:cNvSpPr/>
          <p:nvPr/>
        </p:nvSpPr>
        <p:spPr>
          <a:xfrm>
            <a:off x="6409944" y="3749040"/>
            <a:ext cx="2286000" cy="1143000"/>
          </a:xfrm>
          <a:prstGeom prst="rect">
            <a:avLst/>
          </a:prstGeom>
          <a:noFill/>
          <a:ln/>
        </p:spPr>
        <p:txBody>
          <a:bodyPr wrap="square" lIns="0" tIns="0" rIns="0" bIns="0" rtlCol="0" anchor="t"/>
          <a:lstStyle/>
          <a:p>
            <a:pPr algn="just" indent="0" marL="0">
              <a:lnSpc>
                <a:spcPct val="115000"/>
              </a:lnSpc>
              <a:buNone/>
            </a:pPr>
            <a:r>
              <a:rPr lang="en-US" sz="960" dirty="0">
                <a:solidFill>
                  <a:srgbClr val="1A1A1A"/>
                </a:solidFill>
                <a:latin typeface="Arial" pitchFamily="34" charset="0"/>
                <a:ea typeface="Arial" pitchFamily="34" charset="-122"/>
                <a:cs typeface="Arial" pitchFamily="34" charset="-120"/>
              </a:rPr>
              <a:t>A pluggable tracker interface ships with an MLflow implementation: parameters, learning curves, per-output metrics and EDA artifacts are logged for every run.</a:t>
            </a:r>
            <a:endParaRPr lang="en-US" sz="960" dirty="0"/>
          </a:p>
        </p:txBody>
      </p:sp>
      <p:sp>
        <p:nvSpPr>
          <p:cNvPr id="19" name="Shape 14"/>
          <p:cNvSpPr/>
          <p:nvPr/>
        </p:nvSpPr>
        <p:spPr>
          <a:xfrm>
            <a:off x="9079992" y="2487168"/>
            <a:ext cx="2697480" cy="2514600"/>
          </a:xfrm>
          <a:prstGeom prst="roundRect">
            <a:avLst>
              <a:gd name="adj" fmla="val 2545"/>
            </a:avLst>
          </a:prstGeom>
          <a:solidFill>
            <a:srgbClr val="EAF0F6"/>
          </a:solidFill>
          <a:ln/>
        </p:spPr>
      </p:sp>
      <p:sp>
        <p:nvSpPr>
          <p:cNvPr id="20" name="Shape 15"/>
          <p:cNvSpPr/>
          <p:nvPr/>
        </p:nvSpPr>
        <p:spPr>
          <a:xfrm>
            <a:off x="9299448" y="2697480"/>
            <a:ext cx="548640" cy="548640"/>
          </a:xfrm>
          <a:prstGeom prst="ellipse">
            <a:avLst/>
          </a:prstGeom>
          <a:solidFill>
            <a:srgbClr val="00205B"/>
          </a:solidFill>
          <a:ln/>
        </p:spPr>
      </p:sp>
      <p:pic>
        <p:nvPicPr>
          <p:cNvPr id="21" name="Image 3" descr="assets/icon_FiCloud_white.png">    </p:cNvPr>
          <p:cNvPicPr>
            <a:picLocks noChangeAspect="1"/>
          </p:cNvPicPr>
          <p:nvPr/>
        </p:nvPicPr>
        <p:blipFill>
          <a:blip r:embed="rId4"/>
          <a:stretch>
            <a:fillRect/>
          </a:stretch>
        </p:blipFill>
        <p:spPr>
          <a:xfrm>
            <a:off x="9431122" y="2829154"/>
            <a:ext cx="285293" cy="285293"/>
          </a:xfrm>
          <a:prstGeom prst="rect">
            <a:avLst/>
          </a:prstGeom>
        </p:spPr>
      </p:pic>
      <p:sp>
        <p:nvSpPr>
          <p:cNvPr id="22" name="Text 16"/>
          <p:cNvSpPr/>
          <p:nvPr/>
        </p:nvSpPr>
        <p:spPr>
          <a:xfrm>
            <a:off x="9299448" y="3364992"/>
            <a:ext cx="228600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Portable by design</a:t>
            </a:r>
            <a:endParaRPr lang="en-US" sz="1300" dirty="0"/>
          </a:p>
        </p:txBody>
      </p:sp>
      <p:sp>
        <p:nvSpPr>
          <p:cNvPr id="23" name="Text 17"/>
          <p:cNvSpPr/>
          <p:nvPr/>
        </p:nvSpPr>
        <p:spPr>
          <a:xfrm>
            <a:off x="9299448" y="3749040"/>
            <a:ext cx="2286000" cy="1143000"/>
          </a:xfrm>
          <a:prstGeom prst="rect">
            <a:avLst/>
          </a:prstGeom>
          <a:noFill/>
          <a:ln/>
        </p:spPr>
        <p:txBody>
          <a:bodyPr wrap="square" lIns="0" tIns="0" rIns="0" bIns="0" rtlCol="0" anchor="t"/>
          <a:lstStyle/>
          <a:p>
            <a:pPr algn="just" indent="0" marL="0">
              <a:lnSpc>
                <a:spcPct val="115000"/>
              </a:lnSpc>
              <a:buNone/>
            </a:pPr>
            <a:r>
              <a:rPr lang="en-US" sz="960" dirty="0">
                <a:solidFill>
                  <a:srgbClr val="1A1A1A"/>
                </a:solidFill>
                <a:latin typeface="Arial" pitchFamily="34" charset="0"/>
                <a:ea typeface="Arial" pitchFamily="34" charset="-122"/>
                <a:cs typeface="Arial" pitchFamily="34" charset="-120"/>
              </a:rPr>
              <a:t>fsspec-based storage scaffolds and runs pipelines on local disk, S3 or GCS; trained models export to ONNX for tool-independent deployment.</a:t>
            </a:r>
            <a:endParaRPr lang="en-US" sz="960" dirty="0"/>
          </a:p>
        </p:txBody>
      </p:sp>
      <p:sp>
        <p:nvSpPr>
          <p:cNvPr id="24" name="Shape 18"/>
          <p:cNvSpPr/>
          <p:nvPr/>
        </p:nvSpPr>
        <p:spPr>
          <a:xfrm>
            <a:off x="411480" y="5230368"/>
            <a:ext cx="11365992" cy="1005840"/>
          </a:xfrm>
          <a:prstGeom prst="roundRect">
            <a:avLst>
              <a:gd name="adj" fmla="val 6364"/>
            </a:avLst>
          </a:prstGeom>
          <a:solidFill>
            <a:srgbClr val="00205B"/>
          </a:solidFill>
          <a:ln/>
        </p:spPr>
      </p:sp>
      <p:sp>
        <p:nvSpPr>
          <p:cNvPr id="25" name="Shape 19"/>
          <p:cNvSpPr/>
          <p:nvPr/>
        </p:nvSpPr>
        <p:spPr>
          <a:xfrm>
            <a:off x="685800" y="5449824"/>
            <a:ext cx="548640" cy="548640"/>
          </a:xfrm>
          <a:prstGeom prst="ellipse">
            <a:avLst/>
          </a:prstGeom>
          <a:solidFill>
            <a:srgbClr val="0085AD"/>
          </a:solidFill>
          <a:ln/>
        </p:spPr>
      </p:sp>
      <p:pic>
        <p:nvPicPr>
          <p:cNvPr id="26" name="Image 4" descr="assets/icon_FiTool_white.png">    </p:cNvPr>
          <p:cNvPicPr>
            <a:picLocks noChangeAspect="1"/>
          </p:cNvPicPr>
          <p:nvPr/>
        </p:nvPicPr>
        <p:blipFill>
          <a:blip r:embed="rId5"/>
          <a:stretch>
            <a:fillRect/>
          </a:stretch>
        </p:blipFill>
        <p:spPr>
          <a:xfrm>
            <a:off x="817474" y="5581498"/>
            <a:ext cx="285293" cy="285293"/>
          </a:xfrm>
          <a:prstGeom prst="rect">
            <a:avLst/>
          </a:prstGeom>
        </p:spPr>
      </p:pic>
      <p:sp>
        <p:nvSpPr>
          <p:cNvPr id="27" name="Text 20"/>
          <p:cNvSpPr/>
          <p:nvPr/>
        </p:nvSpPr>
        <p:spPr>
          <a:xfrm>
            <a:off x="1417320" y="5349240"/>
            <a:ext cx="10149840" cy="777240"/>
          </a:xfrm>
          <a:prstGeom prst="rect">
            <a:avLst/>
          </a:prstGeom>
          <a:noFill/>
          <a:ln/>
        </p:spPr>
        <p:txBody>
          <a:bodyPr wrap="square" lIns="0" tIns="0" rIns="0" bIns="0" rtlCol="0" anchor="ctr"/>
          <a:lstStyle/>
          <a:p>
            <a:pPr algn="l" indent="0" marL="0">
              <a:lnSpc>
                <a:spcPct val="115000"/>
              </a:lnSpc>
              <a:buNone/>
            </a:pPr>
            <a:r>
              <a:rPr lang="en-US" sz="1150" b="1" dirty="0">
                <a:solidFill>
                  <a:srgbClr val="FFFFFF"/>
                </a:solidFill>
                <a:latin typeface="Arial" pitchFamily="34" charset="0"/>
                <a:ea typeface="Arial" pitchFamily="34" charset="-122"/>
                <a:cs typeface="Arial" pitchFamily="34" charset="-120"/>
              </a:rPr>
              <a:t>One command to start.  </a:t>
            </a:r>
            <a:pPr algn="l" indent="0" marL="0">
              <a:lnSpc>
                <a:spcPct val="115000"/>
              </a:lnSpc>
              <a:buNone/>
            </a:pPr>
            <a:r>
              <a:rPr lang="en-US" sz="1150" dirty="0">
                <a:solidFill>
                  <a:srgbClr val="D9E5F2"/>
                </a:solidFill>
                <a:latin typeface="Arial" pitchFamily="34" charset="0"/>
                <a:ea typeface="Arial" pitchFamily="34" charset="-122"/>
                <a:cs typeface="Arial" pitchFamily="34" charset="-120"/>
              </a:rPr>
              <a:t>The package installs with pip and ships a CLI — </a:t>
            </a:r>
            <a:pPr algn="l" indent="0" marL="0">
              <a:lnSpc>
                <a:spcPct val="115000"/>
              </a:lnSpc>
              <a:buNone/>
            </a:pPr>
            <a:r>
              <a:rPr lang="en-US" sz="1150" dirty="0">
                <a:solidFill>
                  <a:srgbClr val="7FC5DB"/>
                </a:solidFill>
                <a:latin typeface="Courier New" pitchFamily="34" charset="0"/>
                <a:ea typeface="Courier New" pitchFamily="34" charset="-122"/>
                <a:cs typeface="Courier New" pitchFamily="34" charset="-120"/>
              </a:rPr>
              <a:t>surrogate-factory</a:t>
            </a:r>
            <a:pPr algn="l" indent="0" marL="0">
              <a:lnSpc>
                <a:spcPct val="115000"/>
              </a:lnSpc>
              <a:buNone/>
            </a:pPr>
            <a:r>
              <a:rPr lang="en-US" sz="1150" dirty="0">
                <a:solidFill>
                  <a:srgbClr val="D9E5F2"/>
                </a:solidFill>
                <a:latin typeface="Arial" pitchFamily="34" charset="0"/>
                <a:ea typeface="Arial" pitchFamily="34" charset="-122"/>
                <a:cs typeface="Arial" pitchFamily="34" charset="-120"/>
              </a:rPr>
              <a:t> — that scaffolds a complete, ready-to-run pipeline skeleton with all nine stages, templates and metadata, locally or directly on cloud object storage.</a:t>
            </a:r>
            <a:endParaRPr lang="en-US" sz="11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One Standardised Pipeline — Nine Stages</a:t>
            </a:r>
            <a:endParaRPr lang="en-US" sz="2700" dirty="0"/>
          </a:p>
        </p:txBody>
      </p:sp>
      <p:sp>
        <p:nvSpPr>
          <p:cNvPr id="3" name="Shape 1"/>
          <p:cNvSpPr/>
          <p:nvPr/>
        </p:nvSpPr>
        <p:spPr>
          <a:xfrm>
            <a:off x="411480" y="1353312"/>
            <a:ext cx="3630168" cy="841248"/>
          </a:xfrm>
          <a:prstGeom prst="chevron">
            <a:avLst/>
          </a:prstGeom>
          <a:solidFill>
            <a:srgbClr val="00205B"/>
          </a:solidFill>
          <a:ln/>
        </p:spPr>
      </p:sp>
      <p:sp>
        <p:nvSpPr>
          <p:cNvPr id="4" name="Text 2"/>
          <p:cNvSpPr/>
          <p:nvPr/>
        </p:nvSpPr>
        <p:spPr>
          <a:xfrm>
            <a:off x="1188720" y="1444752"/>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SF_1   </a:t>
            </a:r>
            <a:pPr algn="l" indent="0" marL="0">
              <a:buNone/>
            </a:pPr>
            <a:r>
              <a:rPr lang="en-US" sz="1200" dirty="0">
                <a:solidFill>
                  <a:srgbClr val="FFFFFF"/>
                </a:solidFill>
                <a:latin typeface="Arial" pitchFamily="34" charset="0"/>
                <a:ea typeface="Arial" pitchFamily="34" charset="-122"/>
                <a:cs typeface="Arial" pitchFamily="34" charset="-120"/>
              </a:rPr>
              <a:t>Requirements</a:t>
            </a:r>
            <a:endParaRPr lang="en-US" sz="1300" dirty="0"/>
          </a:p>
        </p:txBody>
      </p:sp>
      <p:sp>
        <p:nvSpPr>
          <p:cNvPr id="5" name="Shape 3"/>
          <p:cNvSpPr/>
          <p:nvPr/>
        </p:nvSpPr>
        <p:spPr>
          <a:xfrm>
            <a:off x="4279392" y="1353312"/>
            <a:ext cx="3630168" cy="841248"/>
          </a:xfrm>
          <a:prstGeom prst="chevron">
            <a:avLst/>
          </a:prstGeom>
          <a:solidFill>
            <a:srgbClr val="00205B"/>
          </a:solidFill>
          <a:ln/>
        </p:spPr>
      </p:sp>
      <p:sp>
        <p:nvSpPr>
          <p:cNvPr id="6" name="Text 4"/>
          <p:cNvSpPr/>
          <p:nvPr/>
        </p:nvSpPr>
        <p:spPr>
          <a:xfrm>
            <a:off x="5056632" y="1444752"/>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SF_2   </a:t>
            </a:r>
            <a:pPr algn="l" indent="0" marL="0">
              <a:buNone/>
            </a:pPr>
            <a:r>
              <a:rPr lang="en-US" sz="1200" dirty="0">
                <a:solidFill>
                  <a:srgbClr val="FFFFFF"/>
                </a:solidFill>
                <a:latin typeface="Arial" pitchFamily="34" charset="0"/>
                <a:ea typeface="Arial" pitchFamily="34" charset="-122"/>
                <a:cs typeface="Arial" pitchFamily="34" charset="-120"/>
              </a:rPr>
              <a:t>Data Acquisition</a:t>
            </a:r>
            <a:endParaRPr lang="en-US" sz="1300" dirty="0"/>
          </a:p>
        </p:txBody>
      </p:sp>
      <p:sp>
        <p:nvSpPr>
          <p:cNvPr id="7" name="Shape 5"/>
          <p:cNvSpPr/>
          <p:nvPr/>
        </p:nvSpPr>
        <p:spPr>
          <a:xfrm>
            <a:off x="8147304" y="1353312"/>
            <a:ext cx="3630168" cy="841248"/>
          </a:xfrm>
          <a:prstGeom prst="chevron">
            <a:avLst/>
          </a:prstGeom>
          <a:solidFill>
            <a:srgbClr val="00205B"/>
          </a:solidFill>
          <a:ln/>
        </p:spPr>
      </p:sp>
      <p:sp>
        <p:nvSpPr>
          <p:cNvPr id="8" name="Text 6"/>
          <p:cNvSpPr/>
          <p:nvPr/>
        </p:nvSpPr>
        <p:spPr>
          <a:xfrm>
            <a:off x="8924544" y="1444752"/>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SF_3   </a:t>
            </a:r>
            <a:pPr algn="l" indent="0" marL="0">
              <a:buNone/>
            </a:pPr>
            <a:r>
              <a:rPr lang="en-US" sz="1200" dirty="0">
                <a:solidFill>
                  <a:srgbClr val="FFFFFF"/>
                </a:solidFill>
                <a:latin typeface="Arial" pitchFamily="34" charset="0"/>
                <a:ea typeface="Arial" pitchFamily="34" charset="-122"/>
                <a:cs typeface="Arial" pitchFamily="34" charset="-120"/>
              </a:rPr>
              <a:t>Data Cleansing</a:t>
            </a:r>
            <a:endParaRPr lang="en-US" sz="1300" dirty="0"/>
          </a:p>
        </p:txBody>
      </p:sp>
      <p:sp>
        <p:nvSpPr>
          <p:cNvPr id="9" name="Shape 7"/>
          <p:cNvSpPr/>
          <p:nvPr/>
        </p:nvSpPr>
        <p:spPr>
          <a:xfrm>
            <a:off x="411480" y="2377440"/>
            <a:ext cx="3630168" cy="841248"/>
          </a:xfrm>
          <a:prstGeom prst="chevron">
            <a:avLst/>
          </a:prstGeom>
          <a:solidFill>
            <a:srgbClr val="005587"/>
          </a:solidFill>
          <a:ln/>
        </p:spPr>
      </p:sp>
      <p:sp>
        <p:nvSpPr>
          <p:cNvPr id="10" name="Text 8"/>
          <p:cNvSpPr/>
          <p:nvPr/>
        </p:nvSpPr>
        <p:spPr>
          <a:xfrm>
            <a:off x="1188720" y="2468880"/>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SF_4   </a:t>
            </a:r>
            <a:pPr algn="l" indent="0" marL="0">
              <a:buNone/>
            </a:pPr>
            <a:r>
              <a:rPr lang="en-US" sz="1200" dirty="0">
                <a:solidFill>
                  <a:srgbClr val="FFFFFF"/>
                </a:solidFill>
                <a:latin typeface="Arial" pitchFamily="34" charset="0"/>
                <a:ea typeface="Arial" pitchFamily="34" charset="-122"/>
                <a:cs typeface="Arial" pitchFamily="34" charset="-120"/>
              </a:rPr>
              <a:t>Data Partitioning</a:t>
            </a:r>
            <a:endParaRPr lang="en-US" sz="1300" dirty="0"/>
          </a:p>
        </p:txBody>
      </p:sp>
      <p:sp>
        <p:nvSpPr>
          <p:cNvPr id="11" name="Shape 9"/>
          <p:cNvSpPr/>
          <p:nvPr/>
        </p:nvSpPr>
        <p:spPr>
          <a:xfrm>
            <a:off x="4279392" y="2377440"/>
            <a:ext cx="3630168" cy="841248"/>
          </a:xfrm>
          <a:prstGeom prst="chevron">
            <a:avLst/>
          </a:prstGeom>
          <a:solidFill>
            <a:srgbClr val="005587"/>
          </a:solidFill>
          <a:ln/>
        </p:spPr>
      </p:sp>
      <p:sp>
        <p:nvSpPr>
          <p:cNvPr id="12" name="Text 10"/>
          <p:cNvSpPr/>
          <p:nvPr/>
        </p:nvSpPr>
        <p:spPr>
          <a:xfrm>
            <a:off x="5056632" y="2468880"/>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SF_5   </a:t>
            </a:r>
            <a:pPr algn="l" indent="0" marL="0">
              <a:buNone/>
            </a:pPr>
            <a:r>
              <a:rPr lang="en-US" sz="1200" dirty="0">
                <a:solidFill>
                  <a:srgbClr val="FFFFFF"/>
                </a:solidFill>
                <a:latin typeface="Arial" pitchFamily="34" charset="0"/>
                <a:ea typeface="Arial" pitchFamily="34" charset="-122"/>
                <a:cs typeface="Arial" pitchFamily="34" charset="-120"/>
              </a:rPr>
              <a:t>Feature Selection</a:t>
            </a:r>
            <a:endParaRPr lang="en-US" sz="1300" dirty="0"/>
          </a:p>
        </p:txBody>
      </p:sp>
      <p:sp>
        <p:nvSpPr>
          <p:cNvPr id="13" name="Shape 11"/>
          <p:cNvSpPr/>
          <p:nvPr/>
        </p:nvSpPr>
        <p:spPr>
          <a:xfrm>
            <a:off x="8147304" y="2377440"/>
            <a:ext cx="3630168" cy="841248"/>
          </a:xfrm>
          <a:prstGeom prst="chevron">
            <a:avLst/>
          </a:prstGeom>
          <a:solidFill>
            <a:srgbClr val="005587"/>
          </a:solidFill>
          <a:ln/>
        </p:spPr>
      </p:sp>
      <p:sp>
        <p:nvSpPr>
          <p:cNvPr id="14" name="Text 12"/>
          <p:cNvSpPr/>
          <p:nvPr/>
        </p:nvSpPr>
        <p:spPr>
          <a:xfrm>
            <a:off x="8924544" y="2468880"/>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SF_6   </a:t>
            </a:r>
            <a:pPr algn="l" indent="0" marL="0">
              <a:buNone/>
            </a:pPr>
            <a:r>
              <a:rPr lang="en-US" sz="1200" dirty="0">
                <a:solidFill>
                  <a:srgbClr val="FFFFFF"/>
                </a:solidFill>
                <a:latin typeface="Arial" pitchFamily="34" charset="0"/>
                <a:ea typeface="Arial" pitchFamily="34" charset="-122"/>
                <a:cs typeface="Arial" pitchFamily="34" charset="-120"/>
              </a:rPr>
              <a:t>Model Selection</a:t>
            </a:r>
            <a:endParaRPr lang="en-US" sz="1300" dirty="0"/>
          </a:p>
        </p:txBody>
      </p:sp>
      <p:sp>
        <p:nvSpPr>
          <p:cNvPr id="15" name="Shape 13"/>
          <p:cNvSpPr/>
          <p:nvPr/>
        </p:nvSpPr>
        <p:spPr>
          <a:xfrm>
            <a:off x="411480" y="3401568"/>
            <a:ext cx="3630168" cy="841248"/>
          </a:xfrm>
          <a:prstGeom prst="chevron">
            <a:avLst/>
          </a:prstGeom>
          <a:solidFill>
            <a:srgbClr val="0085AD"/>
          </a:solidFill>
          <a:ln/>
        </p:spPr>
      </p:sp>
      <p:sp>
        <p:nvSpPr>
          <p:cNvPr id="16" name="Text 14"/>
          <p:cNvSpPr/>
          <p:nvPr/>
        </p:nvSpPr>
        <p:spPr>
          <a:xfrm>
            <a:off x="1188720" y="3493008"/>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SF_7   </a:t>
            </a:r>
            <a:pPr algn="l" indent="0" marL="0">
              <a:buNone/>
            </a:pPr>
            <a:r>
              <a:rPr lang="en-US" sz="1200" dirty="0">
                <a:solidFill>
                  <a:srgbClr val="FFFFFF"/>
                </a:solidFill>
                <a:latin typeface="Arial" pitchFamily="34" charset="0"/>
                <a:ea typeface="Arial" pitchFamily="34" charset="-122"/>
                <a:cs typeface="Arial" pitchFamily="34" charset="-120"/>
              </a:rPr>
              <a:t>Model Training</a:t>
            </a:r>
            <a:endParaRPr lang="en-US" sz="1300" dirty="0"/>
          </a:p>
        </p:txBody>
      </p:sp>
      <p:sp>
        <p:nvSpPr>
          <p:cNvPr id="17" name="Shape 15"/>
          <p:cNvSpPr/>
          <p:nvPr/>
        </p:nvSpPr>
        <p:spPr>
          <a:xfrm>
            <a:off x="4279392" y="3401568"/>
            <a:ext cx="3630168" cy="841248"/>
          </a:xfrm>
          <a:prstGeom prst="chevron">
            <a:avLst/>
          </a:prstGeom>
          <a:solidFill>
            <a:srgbClr val="0085AD"/>
          </a:solidFill>
          <a:ln/>
        </p:spPr>
      </p:sp>
      <p:sp>
        <p:nvSpPr>
          <p:cNvPr id="18" name="Text 16"/>
          <p:cNvSpPr/>
          <p:nvPr/>
        </p:nvSpPr>
        <p:spPr>
          <a:xfrm>
            <a:off x="5056632" y="3493008"/>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SF_8   </a:t>
            </a:r>
            <a:pPr algn="l" indent="0" marL="0">
              <a:buNone/>
            </a:pPr>
            <a:r>
              <a:rPr lang="en-US" sz="1200" dirty="0">
                <a:solidFill>
                  <a:srgbClr val="FFFFFF"/>
                </a:solidFill>
                <a:latin typeface="Arial" pitchFamily="34" charset="0"/>
                <a:ea typeface="Arial" pitchFamily="34" charset="-122"/>
                <a:cs typeface="Arial" pitchFamily="34" charset="-120"/>
              </a:rPr>
              <a:t>Model Deployment</a:t>
            </a:r>
            <a:endParaRPr lang="en-US" sz="1300" dirty="0"/>
          </a:p>
        </p:txBody>
      </p:sp>
      <p:sp>
        <p:nvSpPr>
          <p:cNvPr id="19" name="Shape 17"/>
          <p:cNvSpPr/>
          <p:nvPr/>
        </p:nvSpPr>
        <p:spPr>
          <a:xfrm>
            <a:off x="8147304" y="3401568"/>
            <a:ext cx="3630168" cy="841248"/>
          </a:xfrm>
          <a:prstGeom prst="chevron">
            <a:avLst/>
          </a:prstGeom>
          <a:solidFill>
            <a:srgbClr val="0085AD"/>
          </a:solidFill>
          <a:ln/>
        </p:spPr>
      </p:sp>
      <p:sp>
        <p:nvSpPr>
          <p:cNvPr id="20" name="Text 18"/>
          <p:cNvSpPr/>
          <p:nvPr/>
        </p:nvSpPr>
        <p:spPr>
          <a:xfrm>
            <a:off x="8924544" y="3493008"/>
            <a:ext cx="2697480" cy="658368"/>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SF_9   </a:t>
            </a:r>
            <a:pPr algn="l" indent="0" marL="0">
              <a:buNone/>
            </a:pPr>
            <a:r>
              <a:rPr lang="en-US" sz="1200" dirty="0">
                <a:solidFill>
                  <a:srgbClr val="FFFFFF"/>
                </a:solidFill>
                <a:latin typeface="Arial" pitchFamily="34" charset="0"/>
                <a:ea typeface="Arial" pitchFamily="34" charset="-122"/>
                <a:cs typeface="Arial" pitchFamily="34" charset="-120"/>
              </a:rPr>
              <a:t>Model Validation</a:t>
            </a:r>
            <a:endParaRPr lang="en-US" sz="1300" dirty="0"/>
          </a:p>
        </p:txBody>
      </p:sp>
      <p:sp>
        <p:nvSpPr>
          <p:cNvPr id="21" name="Text 19"/>
          <p:cNvSpPr/>
          <p:nvPr/>
        </p:nvSpPr>
        <p:spPr>
          <a:xfrm>
            <a:off x="411480" y="4526280"/>
            <a:ext cx="7406640" cy="1783080"/>
          </a:xfrm>
          <a:prstGeom prst="rect">
            <a:avLst/>
          </a:prstGeom>
          <a:noFill/>
          <a:ln/>
        </p:spPr>
        <p:txBody>
          <a:bodyPr wrap="square" lIns="0" tIns="0" rIns="0" bIns="0" rtlCol="0" anchor="ctr"/>
          <a:lstStyle/>
          <a:p>
            <a:pPr algn="just" indent="0" marL="0">
              <a:lnSpc>
                <a:spcPct val="125000"/>
              </a:lnSpc>
              <a:spcAft>
                <a:spcPts val="1400"/>
              </a:spcAft>
              <a:buNone/>
            </a:pPr>
            <a:r>
              <a:rPr lang="en-US" sz="1150" dirty="0">
                <a:solidFill>
                  <a:srgbClr val="1A1A1A"/>
                </a:solidFill>
                <a:latin typeface="Arial" pitchFamily="34" charset="0"/>
                <a:ea typeface="Arial" pitchFamily="34" charset="-122"/>
                <a:cs typeface="Arial" pitchFamily="34" charset="-120"/>
              </a:rPr>
              <a:t>Every surrogate follows the same nine numbered stages, from the capture of engineering requirements to the statistical validation of the delivered model. Each stage is one notebook plus one YAML metadata file; the shared Workflow object threads configuration, data and logging between them, so the pipeline can be executed visually in the Elyra editor, headlessly with a standalone runner script, or interactively stage by stage — always producing the same artifacts.</a:t>
            </a:r>
            <a:endParaRPr lang="en-US" sz="1150" dirty="0"/>
          </a:p>
          <a:p>
            <a:pPr algn="just" indent="0" marL="0">
              <a:lnSpc>
                <a:spcPct val="125000"/>
              </a:lnSpc>
              <a:buNone/>
            </a:pPr>
            <a:r>
              <a:rPr lang="en-US" sz="1150" dirty="0">
                <a:solidFill>
                  <a:srgbClr val="1A1A1A"/>
                </a:solidFill>
                <a:latin typeface="Arial" pitchFamily="34" charset="0"/>
                <a:ea typeface="Arial" pitchFamily="34" charset="-122"/>
                <a:cs typeface="Arial" pitchFamily="34" charset="-120"/>
              </a:rPr>
              <a:t>Because every project uses the same skeleton, an engineer who has seen one Surrogate Factory pipeline can read, review and rerun any other — a property no collection of personal scripts can offer.</a:t>
            </a:r>
            <a:endParaRPr lang="en-US" sz="1150" dirty="0"/>
          </a:p>
        </p:txBody>
      </p:sp>
      <p:sp>
        <p:nvSpPr>
          <p:cNvPr id="22" name="Shape 20"/>
          <p:cNvSpPr/>
          <p:nvPr/>
        </p:nvSpPr>
        <p:spPr>
          <a:xfrm>
            <a:off x="8092440" y="4526280"/>
            <a:ext cx="3685032" cy="1783080"/>
          </a:xfrm>
          <a:prstGeom prst="roundRect">
            <a:avLst>
              <a:gd name="adj" fmla="val 3590"/>
            </a:avLst>
          </a:prstGeom>
          <a:solidFill>
            <a:srgbClr val="EAF0F6"/>
          </a:solidFill>
          <a:ln/>
        </p:spPr>
      </p:sp>
      <p:sp>
        <p:nvSpPr>
          <p:cNvPr id="23" name="Shape 21"/>
          <p:cNvSpPr/>
          <p:nvPr/>
        </p:nvSpPr>
        <p:spPr>
          <a:xfrm>
            <a:off x="8321040" y="4736592"/>
            <a:ext cx="502920" cy="502920"/>
          </a:xfrm>
          <a:prstGeom prst="ellipse">
            <a:avLst/>
          </a:prstGeom>
          <a:solidFill>
            <a:srgbClr val="00205B"/>
          </a:solidFill>
          <a:ln/>
        </p:spPr>
      </p:sp>
      <p:pic>
        <p:nvPicPr>
          <p:cNvPr id="24" name="Image 0" descr="assets/icon_FiBox_white.png">    </p:cNvPr>
          <p:cNvPicPr>
            <a:picLocks noChangeAspect="1"/>
          </p:cNvPicPr>
          <p:nvPr/>
        </p:nvPicPr>
        <p:blipFill>
          <a:blip r:embed="rId1"/>
          <a:stretch>
            <a:fillRect/>
          </a:stretch>
        </p:blipFill>
        <p:spPr>
          <a:xfrm>
            <a:off x="8441741" y="4857293"/>
            <a:ext cx="261518" cy="261518"/>
          </a:xfrm>
          <a:prstGeom prst="rect">
            <a:avLst/>
          </a:prstGeom>
        </p:spPr>
      </p:pic>
      <p:sp>
        <p:nvSpPr>
          <p:cNvPr id="25" name="Text 22"/>
          <p:cNvSpPr/>
          <p:nvPr/>
        </p:nvSpPr>
        <p:spPr>
          <a:xfrm>
            <a:off x="8961120" y="4773168"/>
            <a:ext cx="2697480" cy="411480"/>
          </a:xfrm>
          <a:prstGeom prst="rect">
            <a:avLst/>
          </a:prstGeom>
          <a:noFill/>
          <a:ln/>
        </p:spPr>
        <p:txBody>
          <a:bodyPr wrap="square" lIns="0" tIns="0" rIns="0" bIns="0" rtlCol="0" anchor="ctr"/>
          <a:lstStyle/>
          <a:p>
            <a:pPr indent="0" marL="0">
              <a:buNone/>
            </a:pPr>
            <a:r>
              <a:rPr lang="en-US" sz="1350" b="1" dirty="0">
                <a:solidFill>
                  <a:srgbClr val="00205B"/>
                </a:solidFill>
                <a:latin typeface="Arial" pitchFamily="34" charset="0"/>
                <a:ea typeface="Arial" pitchFamily="34" charset="-122"/>
                <a:cs typeface="Arial" pitchFamily="34" charset="-120"/>
              </a:rPr>
              <a:t>+ SF_10 · Storage</a:t>
            </a:r>
            <a:endParaRPr lang="en-US" sz="1350" dirty="0"/>
          </a:p>
        </p:txBody>
      </p:sp>
      <p:sp>
        <p:nvSpPr>
          <p:cNvPr id="26" name="Text 23"/>
          <p:cNvSpPr/>
          <p:nvPr/>
        </p:nvSpPr>
        <p:spPr>
          <a:xfrm>
            <a:off x="8321040" y="5257800"/>
            <a:ext cx="3246120" cy="960120"/>
          </a:xfrm>
          <a:prstGeom prst="rect">
            <a:avLst/>
          </a:prstGeom>
          <a:noFill/>
          <a:ln/>
        </p:spPr>
        <p:txBody>
          <a:bodyPr wrap="square" lIns="0" tIns="0" rIns="0" bIns="0" rtlCol="0" anchor="t"/>
          <a:lstStyle/>
          <a:p>
            <a:pPr algn="just" indent="0" marL="0">
              <a:lnSpc>
                <a:spcPct val="115000"/>
              </a:lnSpc>
              <a:buNone/>
            </a:pPr>
            <a:r>
              <a:rPr lang="en-US" sz="980" dirty="0">
                <a:solidFill>
                  <a:srgbClr val="1A1A1A"/>
                </a:solidFill>
                <a:latin typeface="Arial" pitchFamily="34" charset="0"/>
                <a:ea typeface="Arial" pitchFamily="34" charset="-122"/>
                <a:cs typeface="Arial" pitchFamily="34" charset="-120"/>
              </a:rPr>
              <a:t>An optional tenth stage registers the frozen model and its evidence package in the model store, closing the loop from experiment to governed, versioned asset.</a:t>
            </a:r>
            <a:endParaRPr lang="en-US" sz="98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Declarative by Design — the Pipeline Is a Configuration File</a:t>
            </a:r>
            <a:endParaRPr lang="en-US" sz="2700" dirty="0"/>
          </a:p>
        </p:txBody>
      </p:sp>
      <p:sp>
        <p:nvSpPr>
          <p:cNvPr id="3" name="Shape 1"/>
          <p:cNvSpPr/>
          <p:nvPr/>
        </p:nvSpPr>
        <p:spPr>
          <a:xfrm>
            <a:off x="411480" y="1261872"/>
            <a:ext cx="5989320" cy="4937760"/>
          </a:xfrm>
          <a:prstGeom prst="roundRect">
            <a:avLst>
              <a:gd name="adj" fmla="val 1296"/>
            </a:avLst>
          </a:prstGeom>
          <a:solidFill>
            <a:srgbClr val="00205B"/>
          </a:solidFill>
          <a:ln/>
        </p:spPr>
      </p:sp>
      <p:sp>
        <p:nvSpPr>
          <p:cNvPr id="4" name="Text 2"/>
          <p:cNvSpPr/>
          <p:nvPr/>
        </p:nvSpPr>
        <p:spPr>
          <a:xfrm>
            <a:off x="640080" y="1371600"/>
            <a:ext cx="5532120" cy="274320"/>
          </a:xfrm>
          <a:prstGeom prst="rect">
            <a:avLst/>
          </a:prstGeom>
          <a:noFill/>
          <a:ln/>
        </p:spPr>
        <p:txBody>
          <a:bodyPr wrap="square" lIns="0" tIns="0" rIns="0" bIns="0" rtlCol="0" anchor="ctr"/>
          <a:lstStyle/>
          <a:p>
            <a:pPr algn="l" indent="0" marL="0">
              <a:buNone/>
            </a:pPr>
            <a:r>
              <a:rPr lang="en-US" sz="1000" b="1" spc="100" kern="0" dirty="0">
                <a:solidFill>
                  <a:srgbClr val="7FC5DB"/>
                </a:solidFill>
                <a:latin typeface="Arial" pitchFamily="34" charset="0"/>
                <a:ea typeface="Arial" pitchFamily="34" charset="-122"/>
                <a:cs typeface="Arial" pitchFamily="34" charset="-120"/>
              </a:rPr>
              <a:t>pipeline_config.yaml  ·  UCLoads use case (verbatim, paths abbreviated)</a:t>
            </a:r>
            <a:endParaRPr lang="en-US" sz="1000" dirty="0"/>
          </a:p>
        </p:txBody>
      </p:sp>
      <p:sp>
        <p:nvSpPr>
          <p:cNvPr id="5" name="Text 3"/>
          <p:cNvSpPr/>
          <p:nvPr/>
        </p:nvSpPr>
        <p:spPr>
          <a:xfrm>
            <a:off x="640080" y="1673352"/>
            <a:ext cx="5532120" cy="4389120"/>
          </a:xfrm>
          <a:prstGeom prst="rect">
            <a:avLst/>
          </a:prstGeom>
          <a:noFill/>
          <a:ln/>
        </p:spPr>
        <p:txBody>
          <a:bodyPr wrap="square" lIns="0" tIns="0" rIns="0" bIns="0" rtlCol="0" anchor="ctr"/>
          <a:lstStyle/>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Surrogate Factory: '2.2'</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job_name: UCLOADS_1</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data.folder:      .../pipeline/data</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artifacts.folder: .../data/artifacts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metadata.folder:  .../pipeline/metadata</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input_data:       .../datasets/TrainData</a:t>
            </a:r>
            <a:endParaRPr lang="en-US" sz="1000" dirty="0"/>
          </a:p>
          <a:p>
            <a:pPr algn="l" indent="0" marL="0">
              <a:lnSpc>
                <a:spcPct val="112000"/>
              </a:lnSpc>
              <a:buNone/>
            </a:pP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tracker:</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tool: mlflow</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options: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tracking_uri: sqlite:///.../mlruns.db</a:t>
            </a:r>
            <a:endParaRPr lang="en-US" sz="1000" dirty="0"/>
          </a:p>
          <a:p>
            <a:pPr algn="l" indent="0" marL="0">
              <a:lnSpc>
                <a:spcPct val="112000"/>
              </a:lnSpc>
              <a:buNone/>
            </a:pP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catalog:</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models: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MLPRegressor:  sklearn.neural_network.MLPRegressor</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RandomForest:  model_training.estimators.RandomForest</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MultiOutputXGBoost: model_training.estimators.MultiOutputXGBoost</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PyTorchNN:     model_training.estimators.PyTorchNN</a:t>
            </a:r>
            <a:endParaRPr lang="en-US" sz="1000" dirty="0"/>
          </a:p>
        </p:txBody>
      </p:sp>
      <p:sp>
        <p:nvSpPr>
          <p:cNvPr id="6" name="Text 4"/>
          <p:cNvSpPr/>
          <p:nvPr/>
        </p:nvSpPr>
        <p:spPr>
          <a:xfrm>
            <a:off x="6675120" y="1261872"/>
            <a:ext cx="5102352" cy="4937760"/>
          </a:xfrm>
          <a:prstGeom prst="rect">
            <a:avLst/>
          </a:prstGeom>
          <a:noFill/>
          <a:ln/>
        </p:spPr>
        <p:txBody>
          <a:bodyPr wrap="square" lIns="0" tIns="0" rIns="0" bIns="0" rtlCol="0" anchor="ctr"/>
          <a:lstStyle/>
          <a:p>
            <a:pPr algn="just" indent="0" marL="0">
              <a:lnSpc>
                <a:spcPct val="125000"/>
              </a:lnSpc>
              <a:spcAft>
                <a:spcPts val="1400"/>
              </a:spcAft>
              <a:buNone/>
            </a:pPr>
            <a:r>
              <a:rPr lang="en-US" sz="1200" dirty="0">
                <a:solidFill>
                  <a:srgbClr val="1A1A1A"/>
                </a:solidFill>
                <a:latin typeface="Arial" pitchFamily="34" charset="0"/>
                <a:ea typeface="Arial" pitchFamily="34" charset="-122"/>
                <a:cs typeface="Arial" pitchFamily="34" charset="-120"/>
              </a:rPr>
              <a:t>A single YAML file defines the entire job: where data lives, where artifacts go, which experiment tracker records the run, and which model classes the catalog exposes. Nothing about the pipeline is hidden inside code.</a:t>
            </a:r>
            <a:endParaRPr lang="en-US" sz="1200" dirty="0"/>
          </a:p>
          <a:p>
            <a:pPr algn="just" indent="0" marL="0">
              <a:lnSpc>
                <a:spcPct val="125000"/>
              </a:lnSpc>
              <a:spcAft>
                <a:spcPts val="1400"/>
              </a:spcAft>
              <a:buNone/>
            </a:pPr>
            <a:r>
              <a:rPr lang="en-US" sz="1200" dirty="0">
                <a:solidFill>
                  <a:srgbClr val="1A1A1A"/>
                </a:solidFill>
                <a:latin typeface="Arial" pitchFamily="34" charset="0"/>
                <a:ea typeface="Arial" pitchFamily="34" charset="-122"/>
                <a:cs typeface="Arial" pitchFamily="34" charset="-120"/>
              </a:rPr>
              <a:t>Stage-level metadata is validated against a JSON schema before execution, and the resulting metadata store travels with the job — any colleague, auditor or future self can rerun the configuration and obtain the same model.</a:t>
            </a:r>
            <a:endParaRPr lang="en-US" sz="1200" dirty="0"/>
          </a:p>
          <a:p>
            <a:pPr algn="just" indent="0" marL="0">
              <a:lnSpc>
                <a:spcPct val="125000"/>
              </a:lnSpc>
              <a:buNone/>
            </a:pPr>
            <a:r>
              <a:rPr lang="en-US" sz="1200" dirty="0">
                <a:solidFill>
                  <a:srgbClr val="1A1A1A"/>
                </a:solidFill>
                <a:latin typeface="Arial" pitchFamily="34" charset="0"/>
                <a:ea typeface="Arial" pitchFamily="34" charset="-122"/>
                <a:cs typeface="Arial" pitchFamily="34" charset="-120"/>
              </a:rPr>
              <a:t>The catalog maps plain names to importable classes, so adding a new estimator to a programme is a one-line change, and switching the tracking backend or moving the whole pipeline to object storage never touches the engineering code.</a:t>
            </a:r>
            <a:endParaRPr lang="en-US" sz="120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Two Snippets Tell the Whole Story</a:t>
            </a:r>
            <a:endParaRPr lang="en-US" sz="2700" dirty="0"/>
          </a:p>
        </p:txBody>
      </p:sp>
      <p:sp>
        <p:nvSpPr>
          <p:cNvPr id="3" name="Shape 1"/>
          <p:cNvSpPr/>
          <p:nvPr/>
        </p:nvSpPr>
        <p:spPr>
          <a:xfrm>
            <a:off x="411480" y="1261872"/>
            <a:ext cx="5532120" cy="4069080"/>
          </a:xfrm>
          <a:prstGeom prst="roundRect">
            <a:avLst>
              <a:gd name="adj" fmla="val 1573"/>
            </a:avLst>
          </a:prstGeom>
          <a:solidFill>
            <a:srgbClr val="00205B"/>
          </a:solidFill>
          <a:ln/>
        </p:spPr>
      </p:sp>
      <p:sp>
        <p:nvSpPr>
          <p:cNvPr id="4" name="Text 2"/>
          <p:cNvSpPr/>
          <p:nvPr/>
        </p:nvSpPr>
        <p:spPr>
          <a:xfrm>
            <a:off x="640080" y="1371600"/>
            <a:ext cx="5074920" cy="274320"/>
          </a:xfrm>
          <a:prstGeom prst="rect">
            <a:avLst/>
          </a:prstGeom>
          <a:noFill/>
          <a:ln/>
        </p:spPr>
        <p:txBody>
          <a:bodyPr wrap="square" lIns="0" tIns="0" rIns="0" bIns="0" rtlCol="0" anchor="ctr"/>
          <a:lstStyle/>
          <a:p>
            <a:pPr algn="l" indent="0" marL="0">
              <a:buNone/>
            </a:pPr>
            <a:r>
              <a:rPr lang="en-US" sz="1000" b="1" spc="100" kern="0" dirty="0">
                <a:solidFill>
                  <a:srgbClr val="7FC5DB"/>
                </a:solidFill>
                <a:latin typeface="Arial" pitchFamily="34" charset="0"/>
                <a:ea typeface="Arial" pitchFamily="34" charset="-122"/>
                <a:cs typeface="Arial" pitchFamily="34" charset="-120"/>
              </a:rPr>
              <a:t>SF_6_Model_Selection.yaml  ·  WHAT to train</a:t>
            </a:r>
            <a:endParaRPr lang="en-US" sz="1000" dirty="0"/>
          </a:p>
        </p:txBody>
      </p:sp>
      <p:sp>
        <p:nvSpPr>
          <p:cNvPr id="5" name="Text 3"/>
          <p:cNvSpPr/>
          <p:nvPr/>
        </p:nvSpPr>
        <p:spPr>
          <a:xfrm>
            <a:off x="640080" y="1673352"/>
            <a:ext cx="5074920" cy="3520440"/>
          </a:xfrm>
          <a:prstGeom prst="rect">
            <a:avLst/>
          </a:prstGeom>
          <a:noFill/>
          <a:ln/>
        </p:spPr>
        <p:txBody>
          <a:bodyPr wrap="square" lIns="0" tIns="0" rIns="0" bIns="0" rtlCol="0" anchor="ctr"/>
          <a:lstStyle/>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Model_Selection:</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inputs:  [Mach, Altitude_ft, ALPHA_deg]</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outputs: [Fz_WINGROOT, Mx_WINGROOT, ...,</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Mz_FUS]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algorithms: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 name: MultiOutputGradientBoosting</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label: GradientBoosting</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settings: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n_estimators: 100</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max_depth: 4</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learning_rate: 0.1</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subsample: 0.8</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min_samples_leaf: 5</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random_state: 42</a:t>
            </a:r>
            <a:endParaRPr lang="en-US" sz="1000" dirty="0"/>
          </a:p>
        </p:txBody>
      </p:sp>
      <p:sp>
        <p:nvSpPr>
          <p:cNvPr id="6" name="Shape 4"/>
          <p:cNvSpPr/>
          <p:nvPr/>
        </p:nvSpPr>
        <p:spPr>
          <a:xfrm>
            <a:off x="6245352" y="1261872"/>
            <a:ext cx="5532120" cy="4069080"/>
          </a:xfrm>
          <a:prstGeom prst="roundRect">
            <a:avLst>
              <a:gd name="adj" fmla="val 1573"/>
            </a:avLst>
          </a:prstGeom>
          <a:solidFill>
            <a:srgbClr val="00205B"/>
          </a:solidFill>
          <a:ln/>
        </p:spPr>
      </p:sp>
      <p:sp>
        <p:nvSpPr>
          <p:cNvPr id="7" name="Text 5"/>
          <p:cNvSpPr/>
          <p:nvPr/>
        </p:nvSpPr>
        <p:spPr>
          <a:xfrm>
            <a:off x="6473952" y="1371600"/>
            <a:ext cx="5074920" cy="274320"/>
          </a:xfrm>
          <a:prstGeom prst="rect">
            <a:avLst/>
          </a:prstGeom>
          <a:noFill/>
          <a:ln/>
        </p:spPr>
        <p:txBody>
          <a:bodyPr wrap="square" lIns="0" tIns="0" rIns="0" bIns="0" rtlCol="0" anchor="ctr"/>
          <a:lstStyle/>
          <a:p>
            <a:pPr algn="l" indent="0" marL="0">
              <a:buNone/>
            </a:pPr>
            <a:r>
              <a:rPr lang="en-US" sz="1000" b="1" spc="100" kern="0" dirty="0">
                <a:solidFill>
                  <a:srgbClr val="7FC5DB"/>
                </a:solidFill>
                <a:latin typeface="Arial" pitchFamily="34" charset="0"/>
                <a:ea typeface="Arial" pitchFamily="34" charset="-122"/>
                <a:cs typeface="Arial" pitchFamily="34" charset="-120"/>
              </a:rPr>
              <a:t>model_training/learn.py  ·  HOW it runs</a:t>
            </a:r>
            <a:endParaRPr lang="en-US" sz="1000" dirty="0"/>
          </a:p>
        </p:txBody>
      </p:sp>
      <p:sp>
        <p:nvSpPr>
          <p:cNvPr id="8" name="Text 6"/>
          <p:cNvSpPr/>
          <p:nvPr/>
        </p:nvSpPr>
        <p:spPr>
          <a:xfrm>
            <a:off x="6473952" y="1673352"/>
            <a:ext cx="5074920" cy="3520440"/>
          </a:xfrm>
          <a:prstGeom prst="rect">
            <a:avLst/>
          </a:prstGeom>
          <a:noFill/>
          <a:ln/>
        </p:spPr>
        <p:txBody>
          <a:bodyPr wrap="square" lIns="0" tIns="0" rIns="0" bIns="0" rtlCol="0" anchor="ctr"/>
          <a:lstStyle/>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@sf.node</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def train(workflow, Train_set, Val_set):</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"""Train every algorithm declared</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in Model_Selection."""</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ms = workflow.metadata.get_step_data(</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['metadata', 'Model_Selection'])</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for alg in ms['algorithms']: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cls = workflow.catalog.get_method(alg['name'])</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model = cls(**alg['settings'])</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model.fit(X_scaled, Train_Y)</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joblib.dump(model, artifacts /</a:t>
            </a:r>
            <a:endParaRPr lang="en-US" sz="1000" dirty="0"/>
          </a:p>
          <a:p>
            <a:pPr algn="l" indent="0" marL="0">
              <a:lnSpc>
                <a:spcPct val="112000"/>
              </a:lnSpc>
              <a:buNone/>
            </a:pPr>
            <a:r>
              <a:rPr lang="en-US" sz="1000" dirty="0">
                <a:solidFill>
                  <a:srgbClr val="E9F0F8"/>
                </a:solidFill>
                <a:latin typeface="Courier New" pitchFamily="34" charset="0"/>
                <a:ea typeface="Courier New" pitchFamily="34" charset="-122"/>
                <a:cs typeface="Courier New" pitchFamily="34" charset="-120"/>
              </a:rPr>
              <a:t>            f"model_{job}_{alg['label']}.modl")</a:t>
            </a:r>
            <a:endParaRPr lang="en-US" sz="1000" dirty="0"/>
          </a:p>
        </p:txBody>
      </p:sp>
      <p:sp>
        <p:nvSpPr>
          <p:cNvPr id="9" name="Text 7"/>
          <p:cNvSpPr/>
          <p:nvPr/>
        </p:nvSpPr>
        <p:spPr>
          <a:xfrm>
            <a:off x="411480" y="5504688"/>
            <a:ext cx="11365992" cy="868680"/>
          </a:xfrm>
          <a:prstGeom prst="rect">
            <a:avLst/>
          </a:prstGeom>
          <a:noFill/>
          <a:ln/>
        </p:spPr>
        <p:txBody>
          <a:bodyPr wrap="square" lIns="0" tIns="0" rIns="0" bIns="0" rtlCol="0" anchor="ctr"/>
          <a:lstStyle/>
          <a:p>
            <a:pPr algn="just" indent="0" marL="0">
              <a:lnSpc>
                <a:spcPct val="125000"/>
              </a:lnSpc>
              <a:buNone/>
            </a:pPr>
            <a:r>
              <a:rPr lang="en-US" sz="1150" dirty="0">
                <a:solidFill>
                  <a:srgbClr val="1A1A1A"/>
                </a:solidFill>
                <a:latin typeface="Arial" pitchFamily="34" charset="0"/>
                <a:ea typeface="Arial" pitchFamily="34" charset="-122"/>
                <a:cs typeface="Arial" pitchFamily="34" charset="-120"/>
              </a:rPr>
              <a:t>Engineers declare what should happen in YAML; decorated node functions define how, once, for everyone. The @sf.node decorator supplies logging, error wrapping, metadata recording and artifact management transparently — every training function automatically documents which script produced which model, with which settings, on which data. Fixed random seeds throughout make each result exactly repeatable.</a:t>
            </a:r>
            <a:endParaRPr lang="en-US" sz="11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An Open Model Catalog</a:t>
            </a:r>
            <a:endParaRPr lang="en-US" sz="2700" dirty="0"/>
          </a:p>
        </p:txBody>
      </p:sp>
      <p:sp>
        <p:nvSpPr>
          <p:cNvPr id="3" name="Text 1"/>
          <p:cNvSpPr/>
          <p:nvPr/>
        </p:nvSpPr>
        <p:spPr>
          <a:xfrm>
            <a:off x="411480" y="1152144"/>
            <a:ext cx="11365992" cy="566928"/>
          </a:xfrm>
          <a:prstGeom prst="rect">
            <a:avLst/>
          </a:prstGeom>
          <a:noFill/>
          <a:ln/>
        </p:spPr>
        <p:txBody>
          <a:bodyPr wrap="square" lIns="0" tIns="0" rIns="0" bIns="0" rtlCol="0" anchor="ctr"/>
          <a:lstStyle/>
          <a:p>
            <a:pPr algn="just" indent="0" marL="0">
              <a:lnSpc>
                <a:spcPct val="125000"/>
              </a:lnSpc>
              <a:buNone/>
            </a:pPr>
            <a:r>
              <a:rPr lang="en-US" sz="1200" dirty="0">
                <a:solidFill>
                  <a:srgbClr val="1A1A1A"/>
                </a:solidFill>
                <a:latin typeface="Arial" pitchFamily="34" charset="0"/>
                <a:ea typeface="Arial" pitchFamily="34" charset="-122"/>
                <a:cs typeface="Arial" pitchFamily="34" charset="-120"/>
              </a:rPr>
              <a:t>The catalog ships with five production-ready multi-output regression families, all exposed behind the same scikit-learn interface — and any estimator that honours that interface can be registered alongside them.</a:t>
            </a:r>
            <a:endParaRPr lang="en-US" sz="1200" dirty="0"/>
          </a:p>
        </p:txBody>
      </p:sp>
      <p:sp>
        <p:nvSpPr>
          <p:cNvPr id="4" name="Shape 2"/>
          <p:cNvSpPr/>
          <p:nvPr/>
        </p:nvSpPr>
        <p:spPr>
          <a:xfrm>
            <a:off x="411480" y="1874520"/>
            <a:ext cx="2203704" cy="2697480"/>
          </a:xfrm>
          <a:prstGeom prst="roundRect">
            <a:avLst>
              <a:gd name="adj" fmla="val 2905"/>
            </a:avLst>
          </a:prstGeom>
          <a:solidFill>
            <a:srgbClr val="F1F4F9"/>
          </a:solidFill>
          <a:ln/>
        </p:spPr>
      </p:sp>
      <p:sp>
        <p:nvSpPr>
          <p:cNvPr id="5" name="Shape 3"/>
          <p:cNvSpPr/>
          <p:nvPr/>
        </p:nvSpPr>
        <p:spPr>
          <a:xfrm>
            <a:off x="594360" y="2084832"/>
            <a:ext cx="502920" cy="502920"/>
          </a:xfrm>
          <a:prstGeom prst="ellipse">
            <a:avLst/>
          </a:prstGeom>
          <a:solidFill>
            <a:srgbClr val="0085AD"/>
          </a:solidFill>
          <a:ln/>
        </p:spPr>
      </p:sp>
      <p:pic>
        <p:nvPicPr>
          <p:cNvPr id="6" name="Image 0" descr="assets/icon_FiActivity_white.png">    </p:cNvPr>
          <p:cNvPicPr>
            <a:picLocks noChangeAspect="1"/>
          </p:cNvPicPr>
          <p:nvPr/>
        </p:nvPicPr>
        <p:blipFill>
          <a:blip r:embed="rId1"/>
          <a:stretch>
            <a:fillRect/>
          </a:stretch>
        </p:blipFill>
        <p:spPr>
          <a:xfrm>
            <a:off x="715061" y="2205533"/>
            <a:ext cx="261518" cy="261518"/>
          </a:xfrm>
          <a:prstGeom prst="rect">
            <a:avLst/>
          </a:prstGeom>
        </p:spPr>
      </p:pic>
      <p:sp>
        <p:nvSpPr>
          <p:cNvPr id="7" name="Text 4"/>
          <p:cNvSpPr/>
          <p:nvPr/>
        </p:nvSpPr>
        <p:spPr>
          <a:xfrm>
            <a:off x="594360" y="2697480"/>
            <a:ext cx="1874520" cy="566928"/>
          </a:xfrm>
          <a:prstGeom prst="rect">
            <a:avLst/>
          </a:prstGeom>
          <a:noFill/>
          <a:ln/>
        </p:spPr>
        <p:txBody>
          <a:bodyPr wrap="square" lIns="0" tIns="0" rIns="0" bIns="0" rtlCol="0" anchor="ctr"/>
          <a:lstStyle/>
          <a:p>
            <a:pPr indent="0" marL="0">
              <a:lnSpc>
                <a:spcPct val="105000"/>
              </a:lnSpc>
              <a:buNone/>
            </a:pPr>
            <a:r>
              <a:rPr lang="en-US" sz="1250" b="1" dirty="0">
                <a:solidFill>
                  <a:srgbClr val="00205B"/>
                </a:solidFill>
                <a:latin typeface="Arial" pitchFamily="34" charset="0"/>
                <a:ea typeface="Arial" pitchFamily="34" charset="-122"/>
                <a:cs typeface="Arial" pitchFamily="34" charset="-120"/>
              </a:rPr>
              <a:t>MLP</a:t>
            </a:r>
            <a:endParaRPr lang="en-US" sz="1250" dirty="0"/>
          </a:p>
        </p:txBody>
      </p:sp>
      <p:sp>
        <p:nvSpPr>
          <p:cNvPr id="8" name="Text 5"/>
          <p:cNvSpPr/>
          <p:nvPr/>
        </p:nvSpPr>
        <p:spPr>
          <a:xfrm>
            <a:off x="594360" y="3291840"/>
            <a:ext cx="1856232" cy="1188720"/>
          </a:xfrm>
          <a:prstGeom prst="rect">
            <a:avLst/>
          </a:prstGeom>
          <a:noFill/>
          <a:ln/>
        </p:spPr>
        <p:txBody>
          <a:bodyPr wrap="square" lIns="0" tIns="0" rIns="0" bIns="0" rtlCol="0" anchor="t"/>
          <a:lstStyle/>
          <a:p>
            <a:pPr algn="just" indent="0" marL="0">
              <a:lnSpc>
                <a:spcPct val="115000"/>
              </a:lnSpc>
              <a:buNone/>
            </a:pPr>
            <a:r>
              <a:rPr lang="en-US" sz="940" dirty="0">
                <a:solidFill>
                  <a:srgbClr val="1A1A1A"/>
                </a:solidFill>
                <a:latin typeface="Arial" pitchFamily="34" charset="0"/>
                <a:ea typeface="Arial" pitchFamily="34" charset="-122"/>
                <a:cs typeface="Arial" pitchFamily="34" charset="-120"/>
              </a:rPr>
              <a:t>scikit-learn feed-forward network with ReLU activations, Adam optimiser and early stopping.</a:t>
            </a:r>
            <a:endParaRPr lang="en-US" sz="940" dirty="0"/>
          </a:p>
        </p:txBody>
      </p:sp>
      <p:sp>
        <p:nvSpPr>
          <p:cNvPr id="9" name="Shape 6"/>
          <p:cNvSpPr/>
          <p:nvPr/>
        </p:nvSpPr>
        <p:spPr>
          <a:xfrm>
            <a:off x="2724912" y="1874520"/>
            <a:ext cx="2203704" cy="2697480"/>
          </a:xfrm>
          <a:prstGeom prst="roundRect">
            <a:avLst>
              <a:gd name="adj" fmla="val 2905"/>
            </a:avLst>
          </a:prstGeom>
          <a:solidFill>
            <a:srgbClr val="F1F4F9"/>
          </a:solidFill>
          <a:ln/>
        </p:spPr>
      </p:sp>
      <p:sp>
        <p:nvSpPr>
          <p:cNvPr id="10" name="Shape 7"/>
          <p:cNvSpPr/>
          <p:nvPr/>
        </p:nvSpPr>
        <p:spPr>
          <a:xfrm>
            <a:off x="2907792" y="2084832"/>
            <a:ext cx="502920" cy="502920"/>
          </a:xfrm>
          <a:prstGeom prst="ellipse">
            <a:avLst/>
          </a:prstGeom>
          <a:solidFill>
            <a:srgbClr val="0085AD"/>
          </a:solidFill>
          <a:ln/>
        </p:spPr>
      </p:sp>
      <p:pic>
        <p:nvPicPr>
          <p:cNvPr id="11" name="Image 1" descr="assets/icon_FiTrendingUp_white.png">    </p:cNvPr>
          <p:cNvPicPr>
            <a:picLocks noChangeAspect="1"/>
          </p:cNvPicPr>
          <p:nvPr/>
        </p:nvPicPr>
        <p:blipFill>
          <a:blip r:embed="rId2"/>
          <a:stretch>
            <a:fillRect/>
          </a:stretch>
        </p:blipFill>
        <p:spPr>
          <a:xfrm>
            <a:off x="3028493" y="2205533"/>
            <a:ext cx="261518" cy="261518"/>
          </a:xfrm>
          <a:prstGeom prst="rect">
            <a:avLst/>
          </a:prstGeom>
        </p:spPr>
      </p:pic>
      <p:sp>
        <p:nvSpPr>
          <p:cNvPr id="12" name="Text 8"/>
          <p:cNvSpPr/>
          <p:nvPr/>
        </p:nvSpPr>
        <p:spPr>
          <a:xfrm>
            <a:off x="2907792" y="2697480"/>
            <a:ext cx="1874520" cy="566928"/>
          </a:xfrm>
          <a:prstGeom prst="rect">
            <a:avLst/>
          </a:prstGeom>
          <a:noFill/>
          <a:ln/>
        </p:spPr>
        <p:txBody>
          <a:bodyPr wrap="square" lIns="0" tIns="0" rIns="0" bIns="0" rtlCol="0" anchor="ctr"/>
          <a:lstStyle/>
          <a:p>
            <a:pPr indent="0" marL="0">
              <a:lnSpc>
                <a:spcPct val="105000"/>
              </a:lnSpc>
              <a:buNone/>
            </a:pPr>
            <a:r>
              <a:rPr lang="en-US" sz="1250" b="1" dirty="0">
                <a:solidFill>
                  <a:srgbClr val="00205B"/>
                </a:solidFill>
                <a:latin typeface="Arial" pitchFamily="34" charset="0"/>
                <a:ea typeface="Arial" pitchFamily="34" charset="-122"/>
                <a:cs typeface="Arial" pitchFamily="34" charset="-120"/>
              </a:rPr>
              <a:t>Gradient Boosting</a:t>
            </a:r>
            <a:endParaRPr lang="en-US" sz="1250" dirty="0"/>
          </a:p>
        </p:txBody>
      </p:sp>
      <p:sp>
        <p:nvSpPr>
          <p:cNvPr id="13" name="Text 9"/>
          <p:cNvSpPr/>
          <p:nvPr/>
        </p:nvSpPr>
        <p:spPr>
          <a:xfrm>
            <a:off x="2907792" y="3291840"/>
            <a:ext cx="1856232" cy="1188720"/>
          </a:xfrm>
          <a:prstGeom prst="rect">
            <a:avLst/>
          </a:prstGeom>
          <a:noFill/>
          <a:ln/>
        </p:spPr>
        <p:txBody>
          <a:bodyPr wrap="square" lIns="0" tIns="0" rIns="0" bIns="0" rtlCol="0" anchor="t"/>
          <a:lstStyle/>
          <a:p>
            <a:pPr algn="just" indent="0" marL="0">
              <a:lnSpc>
                <a:spcPct val="115000"/>
              </a:lnSpc>
              <a:buNone/>
            </a:pPr>
            <a:r>
              <a:rPr lang="en-US" sz="940" dirty="0">
                <a:solidFill>
                  <a:srgbClr val="1A1A1A"/>
                </a:solidFill>
                <a:latin typeface="Arial" pitchFamily="34" charset="0"/>
                <a:ea typeface="Arial" pitchFamily="34" charset="-122"/>
                <a:cs typeface="Arial" pitchFamily="34" charset="-120"/>
              </a:rPr>
              <a:t>Boosted trees per output via MultiOutputRegressor — the strongest baseline on tabular data.</a:t>
            </a:r>
            <a:endParaRPr lang="en-US" sz="940" dirty="0"/>
          </a:p>
        </p:txBody>
      </p:sp>
      <p:sp>
        <p:nvSpPr>
          <p:cNvPr id="14" name="Shape 10"/>
          <p:cNvSpPr/>
          <p:nvPr/>
        </p:nvSpPr>
        <p:spPr>
          <a:xfrm>
            <a:off x="5038344" y="1874520"/>
            <a:ext cx="2203704" cy="2697480"/>
          </a:xfrm>
          <a:prstGeom prst="roundRect">
            <a:avLst>
              <a:gd name="adj" fmla="val 2905"/>
            </a:avLst>
          </a:prstGeom>
          <a:solidFill>
            <a:srgbClr val="F1F4F9"/>
          </a:solidFill>
          <a:ln/>
        </p:spPr>
      </p:sp>
      <p:sp>
        <p:nvSpPr>
          <p:cNvPr id="15" name="Shape 11"/>
          <p:cNvSpPr/>
          <p:nvPr/>
        </p:nvSpPr>
        <p:spPr>
          <a:xfrm>
            <a:off x="5221224" y="2084832"/>
            <a:ext cx="502920" cy="502920"/>
          </a:xfrm>
          <a:prstGeom prst="ellipse">
            <a:avLst/>
          </a:prstGeom>
          <a:solidFill>
            <a:srgbClr val="0085AD"/>
          </a:solidFill>
          <a:ln/>
        </p:spPr>
      </p:sp>
      <p:pic>
        <p:nvPicPr>
          <p:cNvPr id="16" name="Image 2" descr="assets/icon_FiGitBranch_white.png">    </p:cNvPr>
          <p:cNvPicPr>
            <a:picLocks noChangeAspect="1"/>
          </p:cNvPicPr>
          <p:nvPr/>
        </p:nvPicPr>
        <p:blipFill>
          <a:blip r:embed="rId3"/>
          <a:stretch>
            <a:fillRect/>
          </a:stretch>
        </p:blipFill>
        <p:spPr>
          <a:xfrm>
            <a:off x="5341925" y="2205533"/>
            <a:ext cx="261518" cy="261518"/>
          </a:xfrm>
          <a:prstGeom prst="rect">
            <a:avLst/>
          </a:prstGeom>
        </p:spPr>
      </p:pic>
      <p:sp>
        <p:nvSpPr>
          <p:cNvPr id="17" name="Text 12"/>
          <p:cNvSpPr/>
          <p:nvPr/>
        </p:nvSpPr>
        <p:spPr>
          <a:xfrm>
            <a:off x="5221224" y="2697480"/>
            <a:ext cx="1874520" cy="566928"/>
          </a:xfrm>
          <a:prstGeom prst="rect">
            <a:avLst/>
          </a:prstGeom>
          <a:noFill/>
          <a:ln/>
        </p:spPr>
        <p:txBody>
          <a:bodyPr wrap="square" lIns="0" tIns="0" rIns="0" bIns="0" rtlCol="0" anchor="ctr"/>
          <a:lstStyle/>
          <a:p>
            <a:pPr indent="0" marL="0">
              <a:lnSpc>
                <a:spcPct val="105000"/>
              </a:lnSpc>
              <a:buNone/>
            </a:pPr>
            <a:r>
              <a:rPr lang="en-US" sz="1250" b="1" dirty="0">
                <a:solidFill>
                  <a:srgbClr val="00205B"/>
                </a:solidFill>
                <a:latin typeface="Arial" pitchFamily="34" charset="0"/>
                <a:ea typeface="Arial" pitchFamily="34" charset="-122"/>
                <a:cs typeface="Arial" pitchFamily="34" charset="-120"/>
              </a:rPr>
              <a:t>Random Forest</a:t>
            </a:r>
            <a:endParaRPr lang="en-US" sz="1250" dirty="0"/>
          </a:p>
        </p:txBody>
      </p:sp>
      <p:sp>
        <p:nvSpPr>
          <p:cNvPr id="18" name="Text 13"/>
          <p:cNvSpPr/>
          <p:nvPr/>
        </p:nvSpPr>
        <p:spPr>
          <a:xfrm>
            <a:off x="5221224" y="3291840"/>
            <a:ext cx="1856232" cy="1188720"/>
          </a:xfrm>
          <a:prstGeom prst="rect">
            <a:avLst/>
          </a:prstGeom>
          <a:noFill/>
          <a:ln/>
        </p:spPr>
        <p:txBody>
          <a:bodyPr wrap="square" lIns="0" tIns="0" rIns="0" bIns="0" rtlCol="0" anchor="t"/>
          <a:lstStyle/>
          <a:p>
            <a:pPr algn="just" indent="0" marL="0">
              <a:lnSpc>
                <a:spcPct val="115000"/>
              </a:lnSpc>
              <a:buNone/>
            </a:pPr>
            <a:r>
              <a:rPr lang="en-US" sz="940" dirty="0">
                <a:solidFill>
                  <a:srgbClr val="1A1A1A"/>
                </a:solidFill>
                <a:latin typeface="Arial" pitchFamily="34" charset="0"/>
                <a:ea typeface="Arial" pitchFamily="34" charset="-122"/>
                <a:cs typeface="Arial" pitchFamily="34" charset="-120"/>
              </a:rPr>
              <a:t>Natively multi-output ensemble; robust, low-tuning reference for any new dataset.</a:t>
            </a:r>
            <a:endParaRPr lang="en-US" sz="940" dirty="0"/>
          </a:p>
        </p:txBody>
      </p:sp>
      <p:sp>
        <p:nvSpPr>
          <p:cNvPr id="19" name="Shape 14"/>
          <p:cNvSpPr/>
          <p:nvPr/>
        </p:nvSpPr>
        <p:spPr>
          <a:xfrm>
            <a:off x="7351776" y="1874520"/>
            <a:ext cx="2203704" cy="2697480"/>
          </a:xfrm>
          <a:prstGeom prst="roundRect">
            <a:avLst>
              <a:gd name="adj" fmla="val 2905"/>
            </a:avLst>
          </a:prstGeom>
          <a:solidFill>
            <a:srgbClr val="F1F4F9"/>
          </a:solidFill>
          <a:ln/>
        </p:spPr>
      </p:sp>
      <p:sp>
        <p:nvSpPr>
          <p:cNvPr id="20" name="Shape 15"/>
          <p:cNvSpPr/>
          <p:nvPr/>
        </p:nvSpPr>
        <p:spPr>
          <a:xfrm>
            <a:off x="7534656" y="2084832"/>
            <a:ext cx="502920" cy="502920"/>
          </a:xfrm>
          <a:prstGeom prst="ellipse">
            <a:avLst/>
          </a:prstGeom>
          <a:solidFill>
            <a:srgbClr val="0085AD"/>
          </a:solidFill>
          <a:ln/>
        </p:spPr>
      </p:sp>
      <p:pic>
        <p:nvPicPr>
          <p:cNvPr id="21" name="Image 3" descr="assets/icon_FiZap_white.png">    </p:cNvPr>
          <p:cNvPicPr>
            <a:picLocks noChangeAspect="1"/>
          </p:cNvPicPr>
          <p:nvPr/>
        </p:nvPicPr>
        <p:blipFill>
          <a:blip r:embed="rId4"/>
          <a:stretch>
            <a:fillRect/>
          </a:stretch>
        </p:blipFill>
        <p:spPr>
          <a:xfrm>
            <a:off x="7655357" y="2205533"/>
            <a:ext cx="261518" cy="261518"/>
          </a:xfrm>
          <a:prstGeom prst="rect">
            <a:avLst/>
          </a:prstGeom>
        </p:spPr>
      </p:pic>
      <p:sp>
        <p:nvSpPr>
          <p:cNvPr id="22" name="Text 16"/>
          <p:cNvSpPr/>
          <p:nvPr/>
        </p:nvSpPr>
        <p:spPr>
          <a:xfrm>
            <a:off x="7534656" y="2697480"/>
            <a:ext cx="1874520" cy="566928"/>
          </a:xfrm>
          <a:prstGeom prst="rect">
            <a:avLst/>
          </a:prstGeom>
          <a:noFill/>
          <a:ln/>
        </p:spPr>
        <p:txBody>
          <a:bodyPr wrap="square" lIns="0" tIns="0" rIns="0" bIns="0" rtlCol="0" anchor="ctr"/>
          <a:lstStyle/>
          <a:p>
            <a:pPr indent="0" marL="0">
              <a:lnSpc>
                <a:spcPct val="105000"/>
              </a:lnSpc>
              <a:buNone/>
            </a:pPr>
            <a:r>
              <a:rPr lang="en-US" sz="1250" b="1" dirty="0">
                <a:solidFill>
                  <a:srgbClr val="00205B"/>
                </a:solidFill>
                <a:latin typeface="Arial" pitchFamily="34" charset="0"/>
                <a:ea typeface="Arial" pitchFamily="34" charset="-122"/>
                <a:cs typeface="Arial" pitchFamily="34" charset="-120"/>
              </a:rPr>
              <a:t>XGBoost</a:t>
            </a:r>
            <a:endParaRPr lang="en-US" sz="1250" dirty="0"/>
          </a:p>
        </p:txBody>
      </p:sp>
      <p:sp>
        <p:nvSpPr>
          <p:cNvPr id="23" name="Text 17"/>
          <p:cNvSpPr/>
          <p:nvPr/>
        </p:nvSpPr>
        <p:spPr>
          <a:xfrm>
            <a:off x="7534656" y="3291840"/>
            <a:ext cx="1856232" cy="1188720"/>
          </a:xfrm>
          <a:prstGeom prst="rect">
            <a:avLst/>
          </a:prstGeom>
          <a:noFill/>
          <a:ln/>
        </p:spPr>
        <p:txBody>
          <a:bodyPr wrap="square" lIns="0" tIns="0" rIns="0" bIns="0" rtlCol="0" anchor="t"/>
          <a:lstStyle/>
          <a:p>
            <a:pPr algn="just" indent="0" marL="0">
              <a:lnSpc>
                <a:spcPct val="115000"/>
              </a:lnSpc>
              <a:buNone/>
            </a:pPr>
            <a:r>
              <a:rPr lang="en-US" sz="940" dirty="0">
                <a:solidFill>
                  <a:srgbClr val="1A1A1A"/>
                </a:solidFill>
                <a:latin typeface="Arial" pitchFamily="34" charset="0"/>
                <a:ea typeface="Arial" pitchFamily="34" charset="-122"/>
                <a:cs typeface="Arial" pitchFamily="34" charset="-120"/>
              </a:rPr>
              <a:t>Regularised gradient boosting wrapped per output for high-accuracy tabular regression.</a:t>
            </a:r>
            <a:endParaRPr lang="en-US" sz="940" dirty="0"/>
          </a:p>
        </p:txBody>
      </p:sp>
      <p:sp>
        <p:nvSpPr>
          <p:cNvPr id="24" name="Shape 18"/>
          <p:cNvSpPr/>
          <p:nvPr/>
        </p:nvSpPr>
        <p:spPr>
          <a:xfrm>
            <a:off x="9665208" y="1874520"/>
            <a:ext cx="2203704" cy="2697480"/>
          </a:xfrm>
          <a:prstGeom prst="roundRect">
            <a:avLst>
              <a:gd name="adj" fmla="val 2905"/>
            </a:avLst>
          </a:prstGeom>
          <a:solidFill>
            <a:srgbClr val="EAF0F6"/>
          </a:solidFill>
          <a:ln/>
        </p:spPr>
      </p:sp>
      <p:sp>
        <p:nvSpPr>
          <p:cNvPr id="25" name="Shape 19"/>
          <p:cNvSpPr/>
          <p:nvPr/>
        </p:nvSpPr>
        <p:spPr>
          <a:xfrm>
            <a:off x="9848088" y="2084832"/>
            <a:ext cx="502920" cy="502920"/>
          </a:xfrm>
          <a:prstGeom prst="ellipse">
            <a:avLst/>
          </a:prstGeom>
          <a:solidFill>
            <a:srgbClr val="00205B"/>
          </a:solidFill>
          <a:ln/>
        </p:spPr>
      </p:sp>
      <p:pic>
        <p:nvPicPr>
          <p:cNvPr id="26" name="Image 4" descr="assets/icon_FiCpu_white.png">    </p:cNvPr>
          <p:cNvPicPr>
            <a:picLocks noChangeAspect="1"/>
          </p:cNvPicPr>
          <p:nvPr/>
        </p:nvPicPr>
        <p:blipFill>
          <a:blip r:embed="rId5"/>
          <a:stretch>
            <a:fillRect/>
          </a:stretch>
        </p:blipFill>
        <p:spPr>
          <a:xfrm>
            <a:off x="9968789" y="2205533"/>
            <a:ext cx="261518" cy="261518"/>
          </a:xfrm>
          <a:prstGeom prst="rect">
            <a:avLst/>
          </a:prstGeom>
        </p:spPr>
      </p:pic>
      <p:sp>
        <p:nvSpPr>
          <p:cNvPr id="27" name="Text 20"/>
          <p:cNvSpPr/>
          <p:nvPr/>
        </p:nvSpPr>
        <p:spPr>
          <a:xfrm>
            <a:off x="9848088" y="2697480"/>
            <a:ext cx="1874520" cy="566928"/>
          </a:xfrm>
          <a:prstGeom prst="rect">
            <a:avLst/>
          </a:prstGeom>
          <a:noFill/>
          <a:ln/>
        </p:spPr>
        <p:txBody>
          <a:bodyPr wrap="square" lIns="0" tIns="0" rIns="0" bIns="0" rtlCol="0" anchor="ctr"/>
          <a:lstStyle/>
          <a:p>
            <a:pPr indent="0" marL="0">
              <a:lnSpc>
                <a:spcPct val="105000"/>
              </a:lnSpc>
              <a:buNone/>
            </a:pPr>
            <a:r>
              <a:rPr lang="en-US" sz="1250" b="1" dirty="0">
                <a:solidFill>
                  <a:srgbClr val="00205B"/>
                </a:solidFill>
                <a:latin typeface="Arial" pitchFamily="34" charset="0"/>
                <a:ea typeface="Arial" pitchFamily="34" charset="-122"/>
                <a:cs typeface="Arial" pitchFamily="34" charset="-120"/>
              </a:rPr>
              <a:t>PyTorch Residual NN</a:t>
            </a:r>
            <a:endParaRPr lang="en-US" sz="1250" dirty="0"/>
          </a:p>
        </p:txBody>
      </p:sp>
      <p:sp>
        <p:nvSpPr>
          <p:cNvPr id="28" name="Text 21"/>
          <p:cNvSpPr/>
          <p:nvPr/>
        </p:nvSpPr>
        <p:spPr>
          <a:xfrm>
            <a:off x="9848088" y="3291840"/>
            <a:ext cx="1856232" cy="1188720"/>
          </a:xfrm>
          <a:prstGeom prst="rect">
            <a:avLst/>
          </a:prstGeom>
          <a:noFill/>
          <a:ln/>
        </p:spPr>
        <p:txBody>
          <a:bodyPr wrap="square" lIns="0" tIns="0" rIns="0" bIns="0" rtlCol="0" anchor="t"/>
          <a:lstStyle/>
          <a:p>
            <a:pPr algn="just" indent="0" marL="0">
              <a:lnSpc>
                <a:spcPct val="115000"/>
              </a:lnSpc>
              <a:buNone/>
            </a:pPr>
            <a:r>
              <a:rPr lang="en-US" sz="940" dirty="0">
                <a:solidFill>
                  <a:srgbClr val="1A1A1A"/>
                </a:solidFill>
                <a:latin typeface="Arial" pitchFamily="34" charset="0"/>
                <a:ea typeface="Arial" pitchFamily="34" charset="-122"/>
                <a:cs typeface="Arial" pitchFamily="34" charset="-120"/>
              </a:rPr>
              <a:t>Custom deep residual network (LayerNorm, GELU, skip connections) with internal output standardisation.</a:t>
            </a:r>
            <a:endParaRPr lang="en-US" sz="940" dirty="0"/>
          </a:p>
        </p:txBody>
      </p:sp>
      <p:sp>
        <p:nvSpPr>
          <p:cNvPr id="29" name="Shape 22"/>
          <p:cNvSpPr/>
          <p:nvPr/>
        </p:nvSpPr>
        <p:spPr>
          <a:xfrm>
            <a:off x="411480" y="4800600"/>
            <a:ext cx="11365992" cy="1417320"/>
          </a:xfrm>
          <a:prstGeom prst="roundRect">
            <a:avLst>
              <a:gd name="adj" fmla="val 4516"/>
            </a:avLst>
          </a:prstGeom>
          <a:solidFill>
            <a:srgbClr val="00205B"/>
          </a:solidFill>
          <a:ln/>
        </p:spPr>
      </p:sp>
      <p:sp>
        <p:nvSpPr>
          <p:cNvPr id="30" name="Shape 23"/>
          <p:cNvSpPr/>
          <p:nvPr/>
        </p:nvSpPr>
        <p:spPr>
          <a:xfrm>
            <a:off x="713232" y="5138928"/>
            <a:ext cx="685800" cy="685800"/>
          </a:xfrm>
          <a:prstGeom prst="ellipse">
            <a:avLst/>
          </a:prstGeom>
          <a:solidFill>
            <a:srgbClr val="0085AD"/>
          </a:solidFill>
          <a:ln/>
        </p:spPr>
      </p:sp>
      <p:pic>
        <p:nvPicPr>
          <p:cNvPr id="31" name="Image 5" descr="assets/icon_FiSliders_white.png">    </p:cNvPr>
          <p:cNvPicPr>
            <a:picLocks noChangeAspect="1"/>
          </p:cNvPicPr>
          <p:nvPr/>
        </p:nvPicPr>
        <p:blipFill>
          <a:blip r:embed="rId6"/>
          <a:stretch>
            <a:fillRect/>
          </a:stretch>
        </p:blipFill>
        <p:spPr>
          <a:xfrm>
            <a:off x="877824" y="5303520"/>
            <a:ext cx="356616" cy="356616"/>
          </a:xfrm>
          <a:prstGeom prst="rect">
            <a:avLst/>
          </a:prstGeom>
        </p:spPr>
      </p:pic>
      <p:sp>
        <p:nvSpPr>
          <p:cNvPr id="32" name="Text 24"/>
          <p:cNvSpPr/>
          <p:nvPr/>
        </p:nvSpPr>
        <p:spPr>
          <a:xfrm>
            <a:off x="1691640" y="4937760"/>
            <a:ext cx="9921240" cy="1143000"/>
          </a:xfrm>
          <a:prstGeom prst="rect">
            <a:avLst/>
          </a:prstGeom>
          <a:noFill/>
          <a:ln/>
        </p:spPr>
        <p:txBody>
          <a:bodyPr wrap="square" lIns="0" tIns="0" rIns="0" bIns="0" rtlCol="0" anchor="ctr"/>
          <a:lstStyle/>
          <a:p>
            <a:pPr algn="just" indent="0" marL="0">
              <a:lnSpc>
                <a:spcPct val="120000"/>
              </a:lnSpc>
              <a:buNone/>
            </a:pPr>
            <a:r>
              <a:rPr lang="en-US" sz="1150" b="1" dirty="0">
                <a:solidFill>
                  <a:srgbClr val="FFFFFF"/>
                </a:solidFill>
                <a:latin typeface="Arial" pitchFamily="34" charset="0"/>
                <a:ea typeface="Arial" pitchFamily="34" charset="-122"/>
                <a:cs typeface="Arial" pitchFamily="34" charset="-120"/>
              </a:rPr>
              <a:t>Hyper-parameter tuning as configuration.  </a:t>
            </a:r>
            <a:pPr algn="just" indent="0" marL="0">
              <a:lnSpc>
                <a:spcPct val="120000"/>
              </a:lnSpc>
              <a:buNone/>
            </a:pPr>
            <a:r>
              <a:rPr lang="en-US" sz="1150" dirty="0">
                <a:solidFill>
                  <a:srgbClr val="D9E5F2"/>
                </a:solidFill>
                <a:latin typeface="Arial" pitchFamily="34" charset="0"/>
                <a:ea typeface="Arial" pitchFamily="34" charset="-122"/>
                <a:cs typeface="Arial" pitchFamily="34" charset="-120"/>
              </a:rPr>
              <a:t>Optuna search spaces are declared per output directly in the SF_6 YAML — layer-size choices, log-scaled regularisation ranges, static parameters — so systematic tuning campaigns are versioned, reviewable and repeatable like everything else in the pipeline. When Optuna is not installed, the pipeline degrades gracefully to the declared static settings.</a:t>
            </a:r>
            <a:endParaRPr lang="en-US" sz="11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MLOps Capabilities Out of the Box</a:t>
            </a:r>
            <a:endParaRPr lang="en-US" sz="2700" dirty="0"/>
          </a:p>
        </p:txBody>
      </p:sp>
      <p:sp>
        <p:nvSpPr>
          <p:cNvPr id="3" name="Shape 1"/>
          <p:cNvSpPr/>
          <p:nvPr/>
        </p:nvSpPr>
        <p:spPr>
          <a:xfrm>
            <a:off x="411480" y="1371600"/>
            <a:ext cx="475488" cy="475488"/>
          </a:xfrm>
          <a:prstGeom prst="ellipse">
            <a:avLst/>
          </a:prstGeom>
          <a:solidFill>
            <a:srgbClr val="0085AD"/>
          </a:solidFill>
          <a:ln/>
        </p:spPr>
      </p:sp>
      <p:pic>
        <p:nvPicPr>
          <p:cNvPr id="4" name="Image 0" descr="assets/icon_FiBarChart2_white.png">    </p:cNvPr>
          <p:cNvPicPr>
            <a:picLocks noChangeAspect="1"/>
          </p:cNvPicPr>
          <p:nvPr/>
        </p:nvPicPr>
        <p:blipFill>
          <a:blip r:embed="rId1"/>
          <a:stretch>
            <a:fillRect/>
          </a:stretch>
        </p:blipFill>
        <p:spPr>
          <a:xfrm>
            <a:off x="525597" y="1485717"/>
            <a:ext cx="247254" cy="247254"/>
          </a:xfrm>
          <a:prstGeom prst="rect">
            <a:avLst/>
          </a:prstGeom>
        </p:spPr>
      </p:pic>
      <p:sp>
        <p:nvSpPr>
          <p:cNvPr id="5" name="Text 2"/>
          <p:cNvSpPr/>
          <p:nvPr/>
        </p:nvSpPr>
        <p:spPr>
          <a:xfrm>
            <a:off x="1051560" y="1298448"/>
            <a:ext cx="5394960" cy="310896"/>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Experiment tracking</a:t>
            </a:r>
            <a:endParaRPr lang="en-US" sz="1250" dirty="0"/>
          </a:p>
        </p:txBody>
      </p:sp>
      <p:sp>
        <p:nvSpPr>
          <p:cNvPr id="6" name="Text 3"/>
          <p:cNvSpPr/>
          <p:nvPr/>
        </p:nvSpPr>
        <p:spPr>
          <a:xfrm>
            <a:off x="1051560" y="1609344"/>
            <a:ext cx="5394960" cy="603504"/>
          </a:xfrm>
          <a:prstGeom prst="rect">
            <a:avLst/>
          </a:prstGeom>
          <a:noFill/>
          <a:ln/>
        </p:spPr>
        <p:txBody>
          <a:bodyPr wrap="square" lIns="0" tIns="0" rIns="0" bIns="0" rtlCol="0" anchor="t"/>
          <a:lstStyle/>
          <a:p>
            <a:pPr algn="just" indent="0" marL="0">
              <a:lnSpc>
                <a:spcPct val="112000"/>
              </a:lnSpc>
              <a:buNone/>
            </a:pPr>
            <a:r>
              <a:rPr lang="en-US" sz="1020" dirty="0">
                <a:solidFill>
                  <a:srgbClr val="1A1A1A"/>
                </a:solidFill>
                <a:latin typeface="Arial" pitchFamily="34" charset="0"/>
                <a:ea typeface="Arial" pitchFamily="34" charset="-122"/>
                <a:cs typeface="Arial" pitchFamily="34" charset="-120"/>
              </a:rPr>
              <a:t>Every training run logs hyper-parameters, learning curves and per-output R², MAE, Q90 and KS statistics to MLflow.</a:t>
            </a:r>
            <a:endParaRPr lang="en-US" sz="1020" dirty="0"/>
          </a:p>
        </p:txBody>
      </p:sp>
      <p:sp>
        <p:nvSpPr>
          <p:cNvPr id="7" name="Shape 4"/>
          <p:cNvSpPr/>
          <p:nvPr/>
        </p:nvSpPr>
        <p:spPr>
          <a:xfrm>
            <a:off x="411480" y="2340864"/>
            <a:ext cx="475488" cy="475488"/>
          </a:xfrm>
          <a:prstGeom prst="ellipse">
            <a:avLst/>
          </a:prstGeom>
          <a:solidFill>
            <a:srgbClr val="00205B"/>
          </a:solidFill>
          <a:ln/>
        </p:spPr>
      </p:sp>
      <p:pic>
        <p:nvPicPr>
          <p:cNvPr id="8" name="Image 1" descr="assets/icon_FiFileText_white.png">    </p:cNvPr>
          <p:cNvPicPr>
            <a:picLocks noChangeAspect="1"/>
          </p:cNvPicPr>
          <p:nvPr/>
        </p:nvPicPr>
        <p:blipFill>
          <a:blip r:embed="rId2"/>
          <a:stretch>
            <a:fillRect/>
          </a:stretch>
        </p:blipFill>
        <p:spPr>
          <a:xfrm>
            <a:off x="525597" y="2454981"/>
            <a:ext cx="247254" cy="247254"/>
          </a:xfrm>
          <a:prstGeom prst="rect">
            <a:avLst/>
          </a:prstGeom>
        </p:spPr>
      </p:pic>
      <p:sp>
        <p:nvSpPr>
          <p:cNvPr id="9" name="Text 5"/>
          <p:cNvSpPr/>
          <p:nvPr/>
        </p:nvSpPr>
        <p:spPr>
          <a:xfrm>
            <a:off x="1051560" y="2267712"/>
            <a:ext cx="5394960" cy="310896"/>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Metadata &amp; lineage</a:t>
            </a:r>
            <a:endParaRPr lang="en-US" sz="1250" dirty="0"/>
          </a:p>
        </p:txBody>
      </p:sp>
      <p:sp>
        <p:nvSpPr>
          <p:cNvPr id="10" name="Text 6"/>
          <p:cNvSpPr/>
          <p:nvPr/>
        </p:nvSpPr>
        <p:spPr>
          <a:xfrm>
            <a:off x="1051560" y="2578608"/>
            <a:ext cx="5394960" cy="603504"/>
          </a:xfrm>
          <a:prstGeom prst="rect">
            <a:avLst/>
          </a:prstGeom>
          <a:noFill/>
          <a:ln/>
        </p:spPr>
        <p:txBody>
          <a:bodyPr wrap="square" lIns="0" tIns="0" rIns="0" bIns="0" rtlCol="0" anchor="t"/>
          <a:lstStyle/>
          <a:p>
            <a:pPr algn="just" indent="0" marL="0">
              <a:lnSpc>
                <a:spcPct val="112000"/>
              </a:lnSpc>
              <a:buNone/>
            </a:pPr>
            <a:r>
              <a:rPr lang="en-US" sz="1020" dirty="0">
                <a:solidFill>
                  <a:srgbClr val="1A1A1A"/>
                </a:solidFill>
                <a:latin typeface="Arial" pitchFamily="34" charset="0"/>
                <a:ea typeface="Arial" pitchFamily="34" charset="-122"/>
                <a:cs typeface="Arial" pitchFamily="34" charset="-120"/>
              </a:rPr>
              <a:t>A schema-validated metadata store records every stage's inputs, outputs and source script — full provenance for every model.</a:t>
            </a:r>
            <a:endParaRPr lang="en-US" sz="1020" dirty="0"/>
          </a:p>
        </p:txBody>
      </p:sp>
      <p:sp>
        <p:nvSpPr>
          <p:cNvPr id="11" name="Shape 7"/>
          <p:cNvSpPr/>
          <p:nvPr/>
        </p:nvSpPr>
        <p:spPr>
          <a:xfrm>
            <a:off x="411480" y="3310128"/>
            <a:ext cx="475488" cy="475488"/>
          </a:xfrm>
          <a:prstGeom prst="ellipse">
            <a:avLst/>
          </a:prstGeom>
          <a:solidFill>
            <a:srgbClr val="0085AD"/>
          </a:solidFill>
          <a:ln/>
        </p:spPr>
      </p:sp>
      <p:pic>
        <p:nvPicPr>
          <p:cNvPr id="12" name="Image 2" descr="assets/icon_FiBox_white.png">    </p:cNvPr>
          <p:cNvPicPr>
            <a:picLocks noChangeAspect="1"/>
          </p:cNvPicPr>
          <p:nvPr/>
        </p:nvPicPr>
        <p:blipFill>
          <a:blip r:embed="rId3"/>
          <a:stretch>
            <a:fillRect/>
          </a:stretch>
        </p:blipFill>
        <p:spPr>
          <a:xfrm>
            <a:off x="525597" y="3424245"/>
            <a:ext cx="247254" cy="247254"/>
          </a:xfrm>
          <a:prstGeom prst="rect">
            <a:avLst/>
          </a:prstGeom>
        </p:spPr>
      </p:pic>
      <p:sp>
        <p:nvSpPr>
          <p:cNvPr id="13" name="Text 8"/>
          <p:cNvSpPr/>
          <p:nvPr/>
        </p:nvSpPr>
        <p:spPr>
          <a:xfrm>
            <a:off x="1051560" y="3236976"/>
            <a:ext cx="5394960" cy="310896"/>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Registry &amp; versioned artifacts</a:t>
            </a:r>
            <a:endParaRPr lang="en-US" sz="1250" dirty="0"/>
          </a:p>
        </p:txBody>
      </p:sp>
      <p:sp>
        <p:nvSpPr>
          <p:cNvPr id="14" name="Text 9"/>
          <p:cNvSpPr/>
          <p:nvPr/>
        </p:nvSpPr>
        <p:spPr>
          <a:xfrm>
            <a:off x="1051560" y="3547872"/>
            <a:ext cx="5394960" cy="603504"/>
          </a:xfrm>
          <a:prstGeom prst="rect">
            <a:avLst/>
          </a:prstGeom>
          <a:noFill/>
          <a:ln/>
        </p:spPr>
        <p:txBody>
          <a:bodyPr wrap="square" lIns="0" tIns="0" rIns="0" bIns="0" rtlCol="0" anchor="t"/>
          <a:lstStyle/>
          <a:p>
            <a:pPr algn="just" indent="0" marL="0">
              <a:lnSpc>
                <a:spcPct val="112000"/>
              </a:lnSpc>
              <a:buNone/>
            </a:pPr>
            <a:r>
              <a:rPr lang="en-US" sz="1020" dirty="0">
                <a:solidFill>
                  <a:srgbClr val="1A1A1A"/>
                </a:solidFill>
                <a:latin typeface="Arial" pitchFamily="34" charset="0"/>
                <a:ea typeface="Arial" pitchFamily="34" charset="-122"/>
                <a:cs typeface="Arial" pitchFamily="34" charset="-120"/>
              </a:rPr>
              <a:t>Models are persisted as job-keyed artifacts (scaler + estimator pipelines) with a dedicated storage stage for governed reuse.</a:t>
            </a:r>
            <a:endParaRPr lang="en-US" sz="1020" dirty="0"/>
          </a:p>
        </p:txBody>
      </p:sp>
      <p:sp>
        <p:nvSpPr>
          <p:cNvPr id="15" name="Shape 10"/>
          <p:cNvSpPr/>
          <p:nvPr/>
        </p:nvSpPr>
        <p:spPr>
          <a:xfrm>
            <a:off x="411480" y="4279392"/>
            <a:ext cx="475488" cy="475488"/>
          </a:xfrm>
          <a:prstGeom prst="ellipse">
            <a:avLst/>
          </a:prstGeom>
          <a:solidFill>
            <a:srgbClr val="00205B"/>
          </a:solidFill>
          <a:ln/>
        </p:spPr>
      </p:sp>
      <p:pic>
        <p:nvPicPr>
          <p:cNvPr id="16" name="Image 3" descr="assets/icon_FiSearch_white.png">    </p:cNvPr>
          <p:cNvPicPr>
            <a:picLocks noChangeAspect="1"/>
          </p:cNvPicPr>
          <p:nvPr/>
        </p:nvPicPr>
        <p:blipFill>
          <a:blip r:embed="rId4"/>
          <a:stretch>
            <a:fillRect/>
          </a:stretch>
        </p:blipFill>
        <p:spPr>
          <a:xfrm>
            <a:off x="525597" y="4393509"/>
            <a:ext cx="247254" cy="247254"/>
          </a:xfrm>
          <a:prstGeom prst="rect">
            <a:avLst/>
          </a:prstGeom>
        </p:spPr>
      </p:pic>
      <p:sp>
        <p:nvSpPr>
          <p:cNvPr id="17" name="Text 11"/>
          <p:cNvSpPr/>
          <p:nvPr/>
        </p:nvSpPr>
        <p:spPr>
          <a:xfrm>
            <a:off x="1051560" y="4206240"/>
            <a:ext cx="5394960" cy="310896"/>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Automated EDA</a:t>
            </a:r>
            <a:endParaRPr lang="en-US" sz="1250" dirty="0"/>
          </a:p>
        </p:txBody>
      </p:sp>
      <p:sp>
        <p:nvSpPr>
          <p:cNvPr id="18" name="Text 12"/>
          <p:cNvSpPr/>
          <p:nvPr/>
        </p:nvSpPr>
        <p:spPr>
          <a:xfrm>
            <a:off x="1051560" y="4517136"/>
            <a:ext cx="5394960" cy="603504"/>
          </a:xfrm>
          <a:prstGeom prst="rect">
            <a:avLst/>
          </a:prstGeom>
          <a:noFill/>
          <a:ln/>
        </p:spPr>
        <p:txBody>
          <a:bodyPr wrap="square" lIns="0" tIns="0" rIns="0" bIns="0" rtlCol="0" anchor="t"/>
          <a:lstStyle/>
          <a:p>
            <a:pPr algn="just" indent="0" marL="0">
              <a:lnSpc>
                <a:spcPct val="112000"/>
              </a:lnSpc>
              <a:buNone/>
            </a:pPr>
            <a:r>
              <a:rPr lang="en-US" sz="1020" dirty="0">
                <a:solidFill>
                  <a:srgbClr val="1A1A1A"/>
                </a:solidFill>
                <a:latin typeface="Arial" pitchFamily="34" charset="0"/>
                <a:ea typeface="Arial" pitchFamily="34" charset="-122"/>
                <a:cs typeface="Arial" pitchFamily="34" charset="-120"/>
              </a:rPr>
              <a:t>Correlation matrices, input/output distributions and PCA design-space coverage are generated and logged for every run.</a:t>
            </a:r>
            <a:endParaRPr lang="en-US" sz="1020" dirty="0"/>
          </a:p>
        </p:txBody>
      </p:sp>
      <p:sp>
        <p:nvSpPr>
          <p:cNvPr id="19" name="Shape 13"/>
          <p:cNvSpPr/>
          <p:nvPr/>
        </p:nvSpPr>
        <p:spPr>
          <a:xfrm>
            <a:off x="411480" y="5248656"/>
            <a:ext cx="475488" cy="475488"/>
          </a:xfrm>
          <a:prstGeom prst="ellipse">
            <a:avLst/>
          </a:prstGeom>
          <a:solidFill>
            <a:srgbClr val="0085AD"/>
          </a:solidFill>
          <a:ln/>
        </p:spPr>
      </p:sp>
      <p:pic>
        <p:nvPicPr>
          <p:cNvPr id="20" name="Image 4" descr="assets/icon_FiPackage_white.png">    </p:cNvPr>
          <p:cNvPicPr>
            <a:picLocks noChangeAspect="1"/>
          </p:cNvPicPr>
          <p:nvPr/>
        </p:nvPicPr>
        <p:blipFill>
          <a:blip r:embed="rId5"/>
          <a:stretch>
            <a:fillRect/>
          </a:stretch>
        </p:blipFill>
        <p:spPr>
          <a:xfrm>
            <a:off x="525597" y="5362773"/>
            <a:ext cx="247254" cy="247254"/>
          </a:xfrm>
          <a:prstGeom prst="rect">
            <a:avLst/>
          </a:prstGeom>
        </p:spPr>
      </p:pic>
      <p:sp>
        <p:nvSpPr>
          <p:cNvPr id="21" name="Text 14"/>
          <p:cNvSpPr/>
          <p:nvPr/>
        </p:nvSpPr>
        <p:spPr>
          <a:xfrm>
            <a:off x="1051560" y="5175504"/>
            <a:ext cx="5394960" cy="310896"/>
          </a:xfrm>
          <a:prstGeom prst="rect">
            <a:avLst/>
          </a:prstGeom>
          <a:noFill/>
          <a:ln/>
        </p:spPr>
        <p:txBody>
          <a:bodyPr wrap="square" lIns="0" tIns="0" rIns="0" bIns="0" rtlCol="0" anchor="ctr"/>
          <a:lstStyle/>
          <a:p>
            <a:pPr indent="0" marL="0">
              <a:buNone/>
            </a:pPr>
            <a:r>
              <a:rPr lang="en-US" sz="1250" b="1" dirty="0">
                <a:solidFill>
                  <a:srgbClr val="00205B"/>
                </a:solidFill>
                <a:latin typeface="Arial" pitchFamily="34" charset="0"/>
                <a:ea typeface="Arial" pitchFamily="34" charset="-122"/>
                <a:cs typeface="Arial" pitchFamily="34" charset="-120"/>
              </a:rPr>
              <a:t>Interoperable deployment</a:t>
            </a:r>
            <a:endParaRPr lang="en-US" sz="1250" dirty="0"/>
          </a:p>
        </p:txBody>
      </p:sp>
      <p:sp>
        <p:nvSpPr>
          <p:cNvPr id="22" name="Text 15"/>
          <p:cNvSpPr/>
          <p:nvPr/>
        </p:nvSpPr>
        <p:spPr>
          <a:xfrm>
            <a:off x="1051560" y="5486400"/>
            <a:ext cx="5394960" cy="603504"/>
          </a:xfrm>
          <a:prstGeom prst="rect">
            <a:avLst/>
          </a:prstGeom>
          <a:noFill/>
          <a:ln/>
        </p:spPr>
        <p:txBody>
          <a:bodyPr wrap="square" lIns="0" tIns="0" rIns="0" bIns="0" rtlCol="0" anchor="t"/>
          <a:lstStyle/>
          <a:p>
            <a:pPr algn="just" indent="0" marL="0">
              <a:lnSpc>
                <a:spcPct val="112000"/>
              </a:lnSpc>
              <a:buNone/>
            </a:pPr>
            <a:r>
              <a:rPr lang="en-US" sz="1020" dirty="0">
                <a:solidFill>
                  <a:srgbClr val="1A1A1A"/>
                </a:solidFill>
                <a:latin typeface="Arial" pitchFamily="34" charset="0"/>
                <a:ea typeface="Arial" pitchFamily="34" charset="-122"/>
                <a:cs typeface="Arial" pitchFamily="34" charset="-120"/>
              </a:rPr>
              <a:t>ONNX export (skl2onnx / tf2onnx) plus fsspec storage make models consumable far beyond the Python ecosystem.</a:t>
            </a:r>
            <a:endParaRPr lang="en-US" sz="1020" dirty="0"/>
          </a:p>
        </p:txBody>
      </p:sp>
      <p:sp>
        <p:nvSpPr>
          <p:cNvPr id="23" name="Shape 16"/>
          <p:cNvSpPr/>
          <p:nvPr/>
        </p:nvSpPr>
        <p:spPr>
          <a:xfrm>
            <a:off x="6766560" y="1298448"/>
            <a:ext cx="5010912" cy="4828032"/>
          </a:xfrm>
          <a:prstGeom prst="roundRect">
            <a:avLst>
              <a:gd name="adj" fmla="val 1326"/>
            </a:avLst>
          </a:prstGeom>
          <a:solidFill>
            <a:srgbClr val="F1F4F9"/>
          </a:solidFill>
          <a:ln/>
        </p:spPr>
      </p:sp>
      <p:pic>
        <p:nvPicPr>
          <p:cNvPr id="24" name="Image 5" descr="assets/correlation_matrix.png">    </p:cNvPr>
          <p:cNvPicPr>
            <a:picLocks noChangeAspect="1"/>
          </p:cNvPicPr>
          <p:nvPr/>
        </p:nvPicPr>
        <p:blipFill>
          <a:blip r:embed="rId6"/>
          <a:stretch>
            <a:fillRect/>
          </a:stretch>
        </p:blipFill>
        <p:spPr>
          <a:xfrm>
            <a:off x="7086600" y="1481328"/>
            <a:ext cx="3977640" cy="2907792"/>
          </a:xfrm>
          <a:prstGeom prst="rect">
            <a:avLst/>
          </a:prstGeom>
        </p:spPr>
      </p:pic>
      <p:pic>
        <p:nvPicPr>
          <p:cNvPr id="25" name="Image 6" descr="assets/input_distributions.png">    </p:cNvPr>
          <p:cNvPicPr>
            <a:picLocks noChangeAspect="1"/>
          </p:cNvPicPr>
          <p:nvPr/>
        </p:nvPicPr>
        <p:blipFill>
          <a:blip r:embed="rId7"/>
          <a:stretch>
            <a:fillRect/>
          </a:stretch>
        </p:blipFill>
        <p:spPr>
          <a:xfrm>
            <a:off x="6967728" y="4498848"/>
            <a:ext cx="4608576" cy="1371600"/>
          </a:xfrm>
          <a:prstGeom prst="rect">
            <a:avLst/>
          </a:prstGeom>
        </p:spPr>
      </p:pic>
      <p:sp>
        <p:nvSpPr>
          <p:cNvPr id="26" name="Text 17"/>
          <p:cNvSpPr/>
          <p:nvPr/>
        </p:nvSpPr>
        <p:spPr>
          <a:xfrm>
            <a:off x="6949440" y="5888736"/>
            <a:ext cx="466344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EDA artifacts logged automatically to MLflow for every UCFatigue run: input–output correlation matrix and input feature distributions.</a:t>
            </a:r>
            <a:endParaRPr lang="en-US" sz="9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11480" y="2240280"/>
            <a:ext cx="11365992" cy="822960"/>
          </a:xfrm>
          <a:prstGeom prst="rect">
            <a:avLst/>
          </a:prstGeom>
          <a:noFill/>
          <a:ln/>
        </p:spPr>
        <p:txBody>
          <a:bodyPr wrap="square" lIns="0" tIns="0" rIns="0" bIns="0" rtlCol="0" anchor="ctr"/>
          <a:lstStyle/>
          <a:p>
            <a:pPr algn="ctr" indent="0" marL="0">
              <a:buNone/>
            </a:pPr>
            <a:r>
              <a:rPr lang="en-US" sz="4000" b="1" dirty="0">
                <a:solidFill>
                  <a:srgbClr val="0085AD"/>
                </a:solidFill>
                <a:latin typeface="Arial" pitchFamily="34" charset="0"/>
                <a:ea typeface="Arial" pitchFamily="34" charset="-122"/>
                <a:cs typeface="Arial" pitchFamily="34" charset="-120"/>
              </a:rPr>
              <a:t>03</a:t>
            </a:r>
            <a:endParaRPr lang="en-US" sz="4000" dirty="0"/>
          </a:p>
        </p:txBody>
      </p:sp>
      <p:sp>
        <p:nvSpPr>
          <p:cNvPr id="3" name="Text 1"/>
          <p:cNvSpPr/>
          <p:nvPr/>
        </p:nvSpPr>
        <p:spPr>
          <a:xfrm>
            <a:off x="411480" y="3063240"/>
            <a:ext cx="11365992" cy="777240"/>
          </a:xfrm>
          <a:prstGeom prst="rect">
            <a:avLst/>
          </a:prstGeom>
          <a:noFill/>
          <a:ln/>
        </p:spPr>
        <p:txBody>
          <a:bodyPr wrap="square" lIns="0" tIns="0" rIns="0" bIns="0" rtlCol="0" anchor="ctr"/>
          <a:lstStyle/>
          <a:p>
            <a:pPr algn="ctr" indent="0" marL="0">
              <a:buNone/>
            </a:pPr>
            <a:r>
              <a:rPr lang="en-US" sz="3300" b="1" dirty="0">
                <a:solidFill>
                  <a:srgbClr val="00205B"/>
                </a:solidFill>
                <a:latin typeface="Arial" pitchFamily="34" charset="0"/>
                <a:ea typeface="Arial" pitchFamily="34" charset="-122"/>
                <a:cs typeface="Arial" pitchFamily="34" charset="-120"/>
              </a:rPr>
              <a:t>Validation Framework</a:t>
            </a:r>
            <a:endParaRPr lang="en-US" sz="3300" dirty="0"/>
          </a:p>
        </p:txBody>
      </p:sp>
      <p:sp>
        <p:nvSpPr>
          <p:cNvPr id="4" name="Text 2"/>
          <p:cNvSpPr/>
          <p:nvPr/>
        </p:nvSpPr>
        <p:spPr>
          <a:xfrm>
            <a:off x="2194560" y="3931920"/>
            <a:ext cx="7799832" cy="640080"/>
          </a:xfrm>
          <a:prstGeom prst="rect">
            <a:avLst/>
          </a:prstGeom>
          <a:noFill/>
          <a:ln/>
        </p:spPr>
        <p:txBody>
          <a:bodyPr wrap="square" lIns="0" tIns="0" rIns="0" bIns="0" rtlCol="0" anchor="t"/>
          <a:lstStyle/>
          <a:p>
            <a:pPr algn="ctr" indent="0" marL="0">
              <a:lnSpc>
                <a:spcPct val="125000"/>
              </a:lnSpc>
              <a:buNone/>
            </a:pPr>
            <a:r>
              <a:rPr lang="en-US" sz="1350" dirty="0">
                <a:solidFill>
                  <a:srgbClr val="859199"/>
                </a:solidFill>
                <a:latin typeface="Arial" pitchFamily="34" charset="0"/>
                <a:ea typeface="Arial" pitchFamily="34" charset="-122"/>
                <a:cs typeface="Arial" pitchFamily="34" charset="-120"/>
              </a:rPr>
              <a:t>A surrogate is only as useful as the evidence behind it. Surrogate Factory makes statistical validation systematic, automatic and non-negotiable.</a:t>
            </a:r>
            <a:endParaRPr lang="en-US" sz="13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A Four-Layer Validation Methodology</a:t>
            </a:r>
            <a:endParaRPr lang="en-US" sz="2700" dirty="0"/>
          </a:p>
        </p:txBody>
      </p:sp>
      <p:sp>
        <p:nvSpPr>
          <p:cNvPr id="3" name="Text 1"/>
          <p:cNvSpPr/>
          <p:nvPr/>
        </p:nvSpPr>
        <p:spPr>
          <a:xfrm>
            <a:off x="411480" y="1152144"/>
            <a:ext cx="11365992" cy="777240"/>
          </a:xfrm>
          <a:prstGeom prst="rect">
            <a:avLst/>
          </a:prstGeom>
          <a:noFill/>
          <a:ln/>
        </p:spPr>
        <p:txBody>
          <a:bodyPr wrap="square" lIns="0" tIns="0" rIns="0" bIns="0" rtlCol="0" anchor="ctr"/>
          <a:lstStyle/>
          <a:p>
            <a:pPr algn="just" indent="0" marL="0">
              <a:lnSpc>
                <a:spcPct val="125000"/>
              </a:lnSpc>
              <a:buNone/>
            </a:pPr>
            <a:r>
              <a:rPr lang="en-US" sz="1200" dirty="0">
                <a:solidFill>
                  <a:srgbClr val="1A1A1A"/>
                </a:solidFill>
                <a:latin typeface="Arial" pitchFamily="34" charset="0"/>
                <a:ea typeface="Arial" pitchFamily="34" charset="-122"/>
                <a:cs typeface="Arial" pitchFamily="34" charset="-120"/>
              </a:rPr>
              <a:t>Validation is powered by validationlib, a dedicated statistical library developed jointly by Airbus and Universidad Politécnica de Madrid within the ISAMI+ collaboration. Every candidate model must pass four successive layers of evidence before it can be frozen.</a:t>
            </a:r>
            <a:endParaRPr lang="en-US" sz="1200" dirty="0"/>
          </a:p>
        </p:txBody>
      </p:sp>
      <p:sp>
        <p:nvSpPr>
          <p:cNvPr id="4" name="Shape 2"/>
          <p:cNvSpPr/>
          <p:nvPr/>
        </p:nvSpPr>
        <p:spPr>
          <a:xfrm>
            <a:off x="411480" y="2084832"/>
            <a:ext cx="11365992" cy="896112"/>
          </a:xfrm>
          <a:prstGeom prst="roundRect">
            <a:avLst>
              <a:gd name="adj" fmla="val 6122"/>
            </a:avLst>
          </a:prstGeom>
          <a:solidFill>
            <a:srgbClr val="F1F4F9"/>
          </a:solidFill>
          <a:ln/>
        </p:spPr>
      </p:sp>
      <p:sp>
        <p:nvSpPr>
          <p:cNvPr id="5" name="Shape 3"/>
          <p:cNvSpPr/>
          <p:nvPr/>
        </p:nvSpPr>
        <p:spPr>
          <a:xfrm>
            <a:off x="621792" y="2267712"/>
            <a:ext cx="530352" cy="530352"/>
          </a:xfrm>
          <a:prstGeom prst="ellipse">
            <a:avLst/>
          </a:prstGeom>
          <a:solidFill>
            <a:srgbClr val="0085AD"/>
          </a:solidFill>
          <a:ln/>
        </p:spPr>
      </p:sp>
      <p:sp>
        <p:nvSpPr>
          <p:cNvPr id="6" name="Text 4"/>
          <p:cNvSpPr/>
          <p:nvPr/>
        </p:nvSpPr>
        <p:spPr>
          <a:xfrm>
            <a:off x="621792" y="226771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371600" y="2157984"/>
            <a:ext cx="2377440" cy="749808"/>
          </a:xfrm>
          <a:prstGeom prst="rect">
            <a:avLst/>
          </a:prstGeom>
          <a:noFill/>
          <a:ln/>
        </p:spPr>
        <p:txBody>
          <a:bodyPr wrap="square" lIns="0" tIns="0" rIns="0" bIns="0" rtlCol="0" anchor="ctr"/>
          <a:lstStyle/>
          <a:p>
            <a:pPr indent="0" marL="0">
              <a:buNone/>
            </a:pPr>
            <a:r>
              <a:rPr lang="en-US" sz="1350" b="1" dirty="0">
                <a:solidFill>
                  <a:srgbClr val="00205B"/>
                </a:solidFill>
                <a:latin typeface="Arial" pitchFamily="34" charset="0"/>
                <a:ea typeface="Arial" pitchFamily="34" charset="-122"/>
                <a:cs typeface="Arial" pitchFamily="34" charset="-120"/>
              </a:rPr>
              <a:t>Split quality</a:t>
            </a:r>
            <a:endParaRPr lang="en-US" sz="1350" dirty="0"/>
          </a:p>
        </p:txBody>
      </p:sp>
      <p:sp>
        <p:nvSpPr>
          <p:cNvPr id="8" name="Text 6"/>
          <p:cNvSpPr/>
          <p:nvPr/>
        </p:nvSpPr>
        <p:spPr>
          <a:xfrm>
            <a:off x="3840480" y="2157984"/>
            <a:ext cx="7726680" cy="749808"/>
          </a:xfrm>
          <a:prstGeom prst="rect">
            <a:avLst/>
          </a:prstGeom>
          <a:noFill/>
          <a:ln/>
        </p:spPr>
        <p:txBody>
          <a:bodyPr wrap="square" lIns="0" tIns="0" rIns="0" bIns="0" rtlCol="0" anchor="ctr"/>
          <a:lstStyle/>
          <a:p>
            <a:pPr algn="just" indent="0" marL="0">
              <a:lnSpc>
                <a:spcPct val="112000"/>
              </a:lnSpc>
              <a:buNone/>
            </a:pPr>
            <a:r>
              <a:rPr lang="en-US" sz="1060" dirty="0">
                <a:solidFill>
                  <a:srgbClr val="1A1A1A"/>
                </a:solidFill>
                <a:latin typeface="Arial" pitchFamily="34" charset="0"/>
                <a:ea typeface="Arial" pitchFamily="34" charset="-122"/>
                <a:cs typeface="Arial" pitchFamily="34" charset="-120"/>
              </a:rPr>
              <a:t>Voxel Tesselation Proximity and χ² tests verify that train, validation and test sets partition the design space fairly — before any model is trained.</a:t>
            </a:r>
            <a:endParaRPr lang="en-US" sz="1060" dirty="0"/>
          </a:p>
        </p:txBody>
      </p:sp>
      <p:sp>
        <p:nvSpPr>
          <p:cNvPr id="9" name="Shape 7"/>
          <p:cNvSpPr/>
          <p:nvPr/>
        </p:nvSpPr>
        <p:spPr>
          <a:xfrm>
            <a:off x="411480" y="3081528"/>
            <a:ext cx="11365992" cy="896112"/>
          </a:xfrm>
          <a:prstGeom prst="roundRect">
            <a:avLst>
              <a:gd name="adj" fmla="val 6122"/>
            </a:avLst>
          </a:prstGeom>
          <a:solidFill>
            <a:srgbClr val="EAF0F6"/>
          </a:solidFill>
          <a:ln/>
        </p:spPr>
      </p:sp>
      <p:sp>
        <p:nvSpPr>
          <p:cNvPr id="10" name="Shape 8"/>
          <p:cNvSpPr/>
          <p:nvPr/>
        </p:nvSpPr>
        <p:spPr>
          <a:xfrm>
            <a:off x="621792" y="3264408"/>
            <a:ext cx="530352" cy="530352"/>
          </a:xfrm>
          <a:prstGeom prst="ellipse">
            <a:avLst/>
          </a:prstGeom>
          <a:solidFill>
            <a:srgbClr val="005587"/>
          </a:solidFill>
          <a:ln/>
        </p:spPr>
      </p:sp>
      <p:sp>
        <p:nvSpPr>
          <p:cNvPr id="11" name="Text 9"/>
          <p:cNvSpPr/>
          <p:nvPr/>
        </p:nvSpPr>
        <p:spPr>
          <a:xfrm>
            <a:off x="621792" y="326440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371600" y="3154680"/>
            <a:ext cx="2377440" cy="749808"/>
          </a:xfrm>
          <a:prstGeom prst="rect">
            <a:avLst/>
          </a:prstGeom>
          <a:noFill/>
          <a:ln/>
        </p:spPr>
        <p:txBody>
          <a:bodyPr wrap="square" lIns="0" tIns="0" rIns="0" bIns="0" rtlCol="0" anchor="ctr"/>
          <a:lstStyle/>
          <a:p>
            <a:pPr indent="0" marL="0">
              <a:buNone/>
            </a:pPr>
            <a:r>
              <a:rPr lang="en-US" sz="1350" b="1" dirty="0">
                <a:solidFill>
                  <a:srgbClr val="00205B"/>
                </a:solidFill>
                <a:latin typeface="Arial" pitchFamily="34" charset="0"/>
                <a:ea typeface="Arial" pitchFamily="34" charset="-122"/>
                <a:cs typeface="Arial" pitchFamily="34" charset="-120"/>
              </a:rPr>
              <a:t>Distribution coverage</a:t>
            </a:r>
            <a:endParaRPr lang="en-US" sz="1350" dirty="0"/>
          </a:p>
        </p:txBody>
      </p:sp>
      <p:sp>
        <p:nvSpPr>
          <p:cNvPr id="13" name="Text 11"/>
          <p:cNvSpPr/>
          <p:nvPr/>
        </p:nvSpPr>
        <p:spPr>
          <a:xfrm>
            <a:off x="3840480" y="3154680"/>
            <a:ext cx="7726680" cy="749808"/>
          </a:xfrm>
          <a:prstGeom prst="rect">
            <a:avLst/>
          </a:prstGeom>
          <a:noFill/>
          <a:ln/>
        </p:spPr>
        <p:txBody>
          <a:bodyPr wrap="square" lIns="0" tIns="0" rIns="0" bIns="0" rtlCol="0" anchor="ctr"/>
          <a:lstStyle/>
          <a:p>
            <a:pPr algn="just" indent="0" marL="0">
              <a:lnSpc>
                <a:spcPct val="112000"/>
              </a:lnSpc>
              <a:buNone/>
            </a:pPr>
            <a:r>
              <a:rPr lang="en-US" sz="1060" dirty="0">
                <a:solidFill>
                  <a:srgbClr val="1A1A1A"/>
                </a:solidFill>
                <a:latin typeface="Arial" pitchFamily="34" charset="0"/>
                <a:ea typeface="Arial" pitchFamily="34" charset="-122"/>
                <a:cs typeface="Arial" pitchFamily="34" charset="-120"/>
              </a:rPr>
              <a:t>Kolmogorov–Smirnov and Anderson–Darling tests plus convex-hull analysis confirm the model is evaluated inside the domain it actually learned.</a:t>
            </a:r>
            <a:endParaRPr lang="en-US" sz="1060" dirty="0"/>
          </a:p>
        </p:txBody>
      </p:sp>
      <p:sp>
        <p:nvSpPr>
          <p:cNvPr id="14" name="Shape 12"/>
          <p:cNvSpPr/>
          <p:nvPr/>
        </p:nvSpPr>
        <p:spPr>
          <a:xfrm>
            <a:off x="411480" y="4078224"/>
            <a:ext cx="11365992" cy="896112"/>
          </a:xfrm>
          <a:prstGeom prst="roundRect">
            <a:avLst>
              <a:gd name="adj" fmla="val 6122"/>
            </a:avLst>
          </a:prstGeom>
          <a:solidFill>
            <a:srgbClr val="F1F4F9"/>
          </a:solidFill>
          <a:ln/>
        </p:spPr>
      </p:sp>
      <p:sp>
        <p:nvSpPr>
          <p:cNvPr id="15" name="Shape 13"/>
          <p:cNvSpPr/>
          <p:nvPr/>
        </p:nvSpPr>
        <p:spPr>
          <a:xfrm>
            <a:off x="621792" y="4261104"/>
            <a:ext cx="530352" cy="530352"/>
          </a:xfrm>
          <a:prstGeom prst="ellipse">
            <a:avLst/>
          </a:prstGeom>
          <a:solidFill>
            <a:srgbClr val="00205B"/>
          </a:solidFill>
          <a:ln/>
        </p:spPr>
      </p:sp>
      <p:sp>
        <p:nvSpPr>
          <p:cNvPr id="16" name="Text 14"/>
          <p:cNvSpPr/>
          <p:nvPr/>
        </p:nvSpPr>
        <p:spPr>
          <a:xfrm>
            <a:off x="621792" y="426110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371600" y="4151376"/>
            <a:ext cx="2377440" cy="749808"/>
          </a:xfrm>
          <a:prstGeom prst="rect">
            <a:avLst/>
          </a:prstGeom>
          <a:noFill/>
          <a:ln/>
        </p:spPr>
        <p:txBody>
          <a:bodyPr wrap="square" lIns="0" tIns="0" rIns="0" bIns="0" rtlCol="0" anchor="ctr"/>
          <a:lstStyle/>
          <a:p>
            <a:pPr indent="0" marL="0">
              <a:buNone/>
            </a:pPr>
            <a:r>
              <a:rPr lang="en-US" sz="1350" b="1" dirty="0">
                <a:solidFill>
                  <a:srgbClr val="00205B"/>
                </a:solidFill>
                <a:latin typeface="Arial" pitchFamily="34" charset="0"/>
                <a:ea typeface="Arial" pitchFamily="34" charset="-122"/>
                <a:cs typeface="Arial" pitchFamily="34" charset="-120"/>
              </a:rPr>
              <a:t>Precision &amp; residuals</a:t>
            </a:r>
            <a:endParaRPr lang="en-US" sz="1350" dirty="0"/>
          </a:p>
        </p:txBody>
      </p:sp>
      <p:sp>
        <p:nvSpPr>
          <p:cNvPr id="18" name="Text 16"/>
          <p:cNvSpPr/>
          <p:nvPr/>
        </p:nvSpPr>
        <p:spPr>
          <a:xfrm>
            <a:off x="3840480" y="4151376"/>
            <a:ext cx="7726680" cy="749808"/>
          </a:xfrm>
          <a:prstGeom prst="rect">
            <a:avLst/>
          </a:prstGeom>
          <a:noFill/>
          <a:ln/>
        </p:spPr>
        <p:txBody>
          <a:bodyPr wrap="square" lIns="0" tIns="0" rIns="0" bIns="0" rtlCol="0" anchor="ctr"/>
          <a:lstStyle/>
          <a:p>
            <a:pPr algn="just" indent="0" marL="0">
              <a:lnSpc>
                <a:spcPct val="112000"/>
              </a:lnSpc>
              <a:buNone/>
            </a:pPr>
            <a:r>
              <a:rPr lang="en-US" sz="1060" dirty="0">
                <a:solidFill>
                  <a:srgbClr val="1A1A1A"/>
                </a:solidFill>
                <a:latin typeface="Arial" pitchFamily="34" charset="0"/>
                <a:ea typeface="Arial" pitchFamily="34" charset="-122"/>
                <a:cs typeface="Arial" pitchFamily="34" charset="-120"/>
              </a:rPr>
              <a:t>Per-output R², MAE and Q90 against explicit requirements; bias detection through Pearson/Spearman trends and Kruskal–Wallis tests on binned residuals.</a:t>
            </a:r>
            <a:endParaRPr lang="en-US" sz="1060" dirty="0"/>
          </a:p>
        </p:txBody>
      </p:sp>
      <p:sp>
        <p:nvSpPr>
          <p:cNvPr id="19" name="Shape 17"/>
          <p:cNvSpPr/>
          <p:nvPr/>
        </p:nvSpPr>
        <p:spPr>
          <a:xfrm>
            <a:off x="411480" y="5074920"/>
            <a:ext cx="11365992" cy="896112"/>
          </a:xfrm>
          <a:prstGeom prst="roundRect">
            <a:avLst>
              <a:gd name="adj" fmla="val 6122"/>
            </a:avLst>
          </a:prstGeom>
          <a:solidFill>
            <a:srgbClr val="EAF0F6"/>
          </a:solidFill>
          <a:ln/>
        </p:spPr>
      </p:sp>
      <p:sp>
        <p:nvSpPr>
          <p:cNvPr id="20" name="Shape 18"/>
          <p:cNvSpPr/>
          <p:nvPr/>
        </p:nvSpPr>
        <p:spPr>
          <a:xfrm>
            <a:off x="621792" y="5257800"/>
            <a:ext cx="530352" cy="530352"/>
          </a:xfrm>
          <a:prstGeom prst="ellipse">
            <a:avLst/>
          </a:prstGeom>
          <a:solidFill>
            <a:srgbClr val="00205B"/>
          </a:solidFill>
          <a:ln/>
        </p:spPr>
      </p:sp>
      <p:sp>
        <p:nvSpPr>
          <p:cNvPr id="21" name="Text 19"/>
          <p:cNvSpPr/>
          <p:nvPr/>
        </p:nvSpPr>
        <p:spPr>
          <a:xfrm>
            <a:off x="621792" y="52578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371600" y="5148072"/>
            <a:ext cx="2377440" cy="749808"/>
          </a:xfrm>
          <a:prstGeom prst="rect">
            <a:avLst/>
          </a:prstGeom>
          <a:noFill/>
          <a:ln/>
        </p:spPr>
        <p:txBody>
          <a:bodyPr wrap="square" lIns="0" tIns="0" rIns="0" bIns="0" rtlCol="0" anchor="ctr"/>
          <a:lstStyle/>
          <a:p>
            <a:pPr indent="0" marL="0">
              <a:buNone/>
            </a:pPr>
            <a:r>
              <a:rPr lang="en-US" sz="1350" b="1" dirty="0">
                <a:solidFill>
                  <a:srgbClr val="00205B"/>
                </a:solidFill>
                <a:latin typeface="Arial" pitchFamily="34" charset="0"/>
                <a:ea typeface="Arial" pitchFamily="34" charset="-122"/>
                <a:cs typeface="Arial" pitchFamily="34" charset="-120"/>
              </a:rPr>
              <a:t>Engineering evidence</a:t>
            </a:r>
            <a:endParaRPr lang="en-US" sz="1350" dirty="0"/>
          </a:p>
        </p:txBody>
      </p:sp>
      <p:sp>
        <p:nvSpPr>
          <p:cNvPr id="23" name="Text 21"/>
          <p:cNvSpPr/>
          <p:nvPr/>
        </p:nvSpPr>
        <p:spPr>
          <a:xfrm>
            <a:off x="3840480" y="5148072"/>
            <a:ext cx="7726680" cy="749808"/>
          </a:xfrm>
          <a:prstGeom prst="rect">
            <a:avLst/>
          </a:prstGeom>
          <a:noFill/>
          <a:ln/>
        </p:spPr>
        <p:txBody>
          <a:bodyPr wrap="square" lIns="0" tIns="0" rIns="0" bIns="0" rtlCol="0" anchor="ctr"/>
          <a:lstStyle/>
          <a:p>
            <a:pPr algn="just" indent="0" marL="0">
              <a:lnSpc>
                <a:spcPct val="112000"/>
              </a:lnSpc>
              <a:buNone/>
            </a:pPr>
            <a:r>
              <a:rPr lang="en-US" sz="1060" dirty="0">
                <a:solidFill>
                  <a:srgbClr val="1A1A1A"/>
                </a:solidFill>
                <a:latin typeface="Arial" pitchFamily="34" charset="0"/>
                <a:ea typeface="Arial" pitchFamily="34" charset="-122"/>
                <a:cs typeface="Arial" pitchFamily="34" charset="-120"/>
              </a:rPr>
              <a:t>Scatter and ratio plots, residual distribution fits, and binned uncertainty and coverage models delivering 95 % confidence intervals per output.</a:t>
            </a:r>
            <a:endParaRPr lang="en-US" sz="1060" dirty="0"/>
          </a:p>
        </p:txBody>
      </p:sp>
      <p:sp>
        <p:nvSpPr>
          <p:cNvPr id="24" name="Text 22"/>
          <p:cNvSpPr/>
          <p:nvPr/>
        </p:nvSpPr>
        <p:spPr>
          <a:xfrm>
            <a:off x="411480" y="6053328"/>
            <a:ext cx="11365992" cy="365760"/>
          </a:xfrm>
          <a:prstGeom prst="rect">
            <a:avLst/>
          </a:prstGeom>
          <a:noFill/>
          <a:ln/>
        </p:spPr>
        <p:txBody>
          <a:bodyPr wrap="square" lIns="0" tIns="0" rIns="0" bIns="0" rtlCol="0" anchor="ctr"/>
          <a:lstStyle/>
          <a:p>
            <a:pPr algn="ctr" indent="0" marL="0">
              <a:buNone/>
            </a:pPr>
            <a:r>
              <a:rPr lang="en-US" sz="1150" b="1" i="1" dirty="0">
                <a:solidFill>
                  <a:srgbClr val="0085AD"/>
                </a:solidFill>
                <a:latin typeface="Arial" pitchFamily="34" charset="0"/>
                <a:ea typeface="Arial" pitchFamily="34" charset="-122"/>
                <a:cs typeface="Arial" pitchFamily="34" charset="-120"/>
              </a:rPr>
              <a:t>A model is released only after all four layers pass — and when it fails, the layers say why.</a:t>
            </a:r>
            <a:endParaRPr lang="en-US" sz="11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Every Model Ships With an Automated Validation Report</a:t>
            </a:r>
            <a:endParaRPr lang="en-US" sz="2700" dirty="0"/>
          </a:p>
        </p:txBody>
      </p:sp>
      <p:sp>
        <p:nvSpPr>
          <p:cNvPr id="3" name="Text 1"/>
          <p:cNvSpPr/>
          <p:nvPr/>
        </p:nvSpPr>
        <p:spPr>
          <a:xfrm>
            <a:off x="411480" y="1170432"/>
            <a:ext cx="11365992" cy="1234440"/>
          </a:xfrm>
          <a:prstGeom prst="rect">
            <a:avLst/>
          </a:prstGeom>
          <a:noFill/>
          <a:ln/>
        </p:spPr>
        <p:txBody>
          <a:bodyPr wrap="square" lIns="0" tIns="0" rIns="0" bIns="0" rtlCol="0" anchor="ctr"/>
          <a:lstStyle/>
          <a:p>
            <a:pPr algn="just" indent="0" marL="0">
              <a:lnSpc>
                <a:spcPct val="125000"/>
              </a:lnSpc>
              <a:buNone/>
            </a:pPr>
            <a:r>
              <a:rPr lang="en-US" sz="1200" dirty="0">
                <a:solidFill>
                  <a:srgbClr val="1A1A1A"/>
                </a:solidFill>
                <a:latin typeface="Arial" pitchFamily="34" charset="0"/>
                <a:ea typeface="Arial" pitchFamily="34" charset="-122"/>
                <a:cs typeface="Arial" pitchFamily="34" charset="-120"/>
              </a:rPr>
              <a:t>One command executes a parameterised validation notebook against each trained model and renders it into a self-contained HTML report — more than sixty statistical checks and plots, from exploratory data analysis to bias tables and uncertainty coverage, with every figure embedded. The report opens in any browser, needs no Python environment, and gives stress engineers, reviewers and certification stakeholders the complete evidence package behind a single link. The figures below are taken directly from the UCLoads GradientBoosting report.</a:t>
            </a:r>
            <a:endParaRPr lang="en-US" sz="1200" dirty="0"/>
          </a:p>
        </p:txBody>
      </p:sp>
      <p:sp>
        <p:nvSpPr>
          <p:cNvPr id="4" name="Shape 2"/>
          <p:cNvSpPr/>
          <p:nvPr/>
        </p:nvSpPr>
        <p:spPr>
          <a:xfrm>
            <a:off x="704088" y="2624328"/>
            <a:ext cx="2843784" cy="3035808"/>
          </a:xfrm>
          <a:prstGeom prst="roundRect">
            <a:avLst>
              <a:gd name="adj" fmla="val 1286"/>
            </a:avLst>
          </a:prstGeom>
          <a:solidFill>
            <a:srgbClr val="FFFFFF"/>
          </a:solidFill>
          <a:ln w="12700">
            <a:solidFill>
              <a:srgbClr val="D3DAE3"/>
            </a:solidFill>
            <a:prstDash val="solid"/>
          </a:ln>
          <a:effectLst>
            <a:outerShdw sx="100000" sy="100000" kx="0" ky="0" algn="bl" rotWithShape="0" blurRad="76200" dist="25400" dir="5400000">
              <a:srgbClr val="9AA5B1">
                <a:alpha val="40000"/>
              </a:srgbClr>
            </a:outerShdw>
          </a:effectLst>
        </p:spPr>
      </p:sp>
      <p:pic>
        <p:nvPicPr>
          <p:cNvPr id="5" name="Image 0" descr="html_imgs/uc_016.png">    </p:cNvPr>
          <p:cNvPicPr>
            <a:picLocks noChangeAspect="1"/>
          </p:cNvPicPr>
          <p:nvPr/>
        </p:nvPicPr>
        <p:blipFill>
          <a:blip r:embed="rId1"/>
          <a:stretch>
            <a:fillRect/>
          </a:stretch>
        </p:blipFill>
        <p:spPr>
          <a:xfrm>
            <a:off x="777240" y="2697480"/>
            <a:ext cx="2697480" cy="2889504"/>
          </a:xfrm>
          <a:prstGeom prst="rect">
            <a:avLst/>
          </a:prstGeom>
        </p:spPr>
      </p:pic>
      <p:sp>
        <p:nvSpPr>
          <p:cNvPr id="6" name="Text 3"/>
          <p:cNvSpPr/>
          <p:nvPr/>
        </p:nvSpPr>
        <p:spPr>
          <a:xfrm>
            <a:off x="594360" y="5788152"/>
            <a:ext cx="306324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Residual distribution fit with goodness-of-fit p-value (layer 4)</a:t>
            </a:r>
            <a:endParaRPr lang="en-US" sz="950" dirty="0"/>
          </a:p>
        </p:txBody>
      </p:sp>
      <p:sp>
        <p:nvSpPr>
          <p:cNvPr id="7" name="Shape 4"/>
          <p:cNvSpPr/>
          <p:nvPr/>
        </p:nvSpPr>
        <p:spPr>
          <a:xfrm>
            <a:off x="3995928" y="2624328"/>
            <a:ext cx="3666744" cy="3035808"/>
          </a:xfrm>
          <a:prstGeom prst="roundRect">
            <a:avLst>
              <a:gd name="adj" fmla="val 1205"/>
            </a:avLst>
          </a:prstGeom>
          <a:solidFill>
            <a:srgbClr val="FFFFFF"/>
          </a:solidFill>
          <a:ln w="12700">
            <a:solidFill>
              <a:srgbClr val="D3DAE3"/>
            </a:solidFill>
            <a:prstDash val="solid"/>
          </a:ln>
          <a:effectLst>
            <a:outerShdw sx="100000" sy="100000" kx="0" ky="0" algn="bl" rotWithShape="0" blurRad="76200" dist="25400" dir="5400000">
              <a:srgbClr val="9AA5B1">
                <a:alpha val="40000"/>
              </a:srgbClr>
            </a:outerShdw>
          </a:effectLst>
        </p:spPr>
      </p:sp>
      <p:pic>
        <p:nvPicPr>
          <p:cNvPr id="8" name="Image 1" descr="html_imgs/uc_014.png">    </p:cNvPr>
          <p:cNvPicPr>
            <a:picLocks noChangeAspect="1"/>
          </p:cNvPicPr>
          <p:nvPr/>
        </p:nvPicPr>
        <p:blipFill>
          <a:blip r:embed="rId2"/>
          <a:stretch>
            <a:fillRect/>
          </a:stretch>
        </p:blipFill>
        <p:spPr>
          <a:xfrm>
            <a:off x="4069080" y="2697480"/>
            <a:ext cx="3520440" cy="2889504"/>
          </a:xfrm>
          <a:prstGeom prst="rect">
            <a:avLst/>
          </a:prstGeom>
        </p:spPr>
      </p:pic>
      <p:sp>
        <p:nvSpPr>
          <p:cNvPr id="9" name="Text 5"/>
          <p:cNvSpPr/>
          <p:nvPr/>
        </p:nvSpPr>
        <p:spPr>
          <a:xfrm>
            <a:off x="3886200" y="5788152"/>
            <a:ext cx="388620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True vs predicted per output, coloured by residual (layer 3)</a:t>
            </a:r>
            <a:endParaRPr lang="en-US" sz="950" dirty="0"/>
          </a:p>
        </p:txBody>
      </p:sp>
      <p:sp>
        <p:nvSpPr>
          <p:cNvPr id="10" name="Shape 6"/>
          <p:cNvSpPr/>
          <p:nvPr/>
        </p:nvSpPr>
        <p:spPr>
          <a:xfrm>
            <a:off x="8110728" y="2624328"/>
            <a:ext cx="3346704" cy="3035808"/>
          </a:xfrm>
          <a:prstGeom prst="roundRect">
            <a:avLst>
              <a:gd name="adj" fmla="val 1205"/>
            </a:avLst>
          </a:prstGeom>
          <a:solidFill>
            <a:srgbClr val="FFFFFF"/>
          </a:solidFill>
          <a:ln w="12700">
            <a:solidFill>
              <a:srgbClr val="D3DAE3"/>
            </a:solidFill>
            <a:prstDash val="solid"/>
          </a:ln>
          <a:effectLst>
            <a:outerShdw sx="100000" sy="100000" kx="0" ky="0" algn="bl" rotWithShape="0" blurRad="76200" dist="25400" dir="5400000">
              <a:srgbClr val="9AA5B1">
                <a:alpha val="40000"/>
              </a:srgbClr>
            </a:outerShdw>
          </a:effectLst>
        </p:spPr>
      </p:sp>
      <p:pic>
        <p:nvPicPr>
          <p:cNvPr id="11" name="Image 2" descr="html_imgs/uc_005.png">    </p:cNvPr>
          <p:cNvPicPr>
            <a:picLocks noChangeAspect="1"/>
          </p:cNvPicPr>
          <p:nvPr/>
        </p:nvPicPr>
        <p:blipFill>
          <a:blip r:embed="rId3"/>
          <a:stretch>
            <a:fillRect/>
          </a:stretch>
        </p:blipFill>
        <p:spPr>
          <a:xfrm>
            <a:off x="8183880" y="2697480"/>
            <a:ext cx="3200400" cy="2889504"/>
          </a:xfrm>
          <a:prstGeom prst="rect">
            <a:avLst/>
          </a:prstGeom>
        </p:spPr>
      </p:pic>
      <p:sp>
        <p:nvSpPr>
          <p:cNvPr id="12" name="Text 7"/>
          <p:cNvSpPr/>
          <p:nvPr/>
        </p:nvSpPr>
        <p:spPr>
          <a:xfrm>
            <a:off x="8001000" y="5788152"/>
            <a:ext cx="356616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Train vs test distribution overlap per output (layer 2)</a:t>
            </a:r>
            <a:endParaRPr lang="en-US" sz="9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11480" y="2240280"/>
            <a:ext cx="11365992" cy="822960"/>
          </a:xfrm>
          <a:prstGeom prst="rect">
            <a:avLst/>
          </a:prstGeom>
          <a:noFill/>
          <a:ln/>
        </p:spPr>
        <p:txBody>
          <a:bodyPr wrap="square" lIns="0" tIns="0" rIns="0" bIns="0" rtlCol="0" anchor="ctr"/>
          <a:lstStyle/>
          <a:p>
            <a:pPr algn="ctr" indent="0" marL="0">
              <a:buNone/>
            </a:pPr>
            <a:r>
              <a:rPr lang="en-US" sz="4000" b="1" dirty="0">
                <a:solidFill>
                  <a:srgbClr val="0085AD"/>
                </a:solidFill>
                <a:latin typeface="Arial" pitchFamily="34" charset="0"/>
                <a:ea typeface="Arial" pitchFamily="34" charset="-122"/>
                <a:cs typeface="Arial" pitchFamily="34" charset="-120"/>
              </a:rPr>
              <a:t>04</a:t>
            </a:r>
            <a:endParaRPr lang="en-US" sz="4000" dirty="0"/>
          </a:p>
        </p:txBody>
      </p:sp>
      <p:sp>
        <p:nvSpPr>
          <p:cNvPr id="3" name="Text 1"/>
          <p:cNvSpPr/>
          <p:nvPr/>
        </p:nvSpPr>
        <p:spPr>
          <a:xfrm>
            <a:off x="411480" y="3063240"/>
            <a:ext cx="11365992" cy="777240"/>
          </a:xfrm>
          <a:prstGeom prst="rect">
            <a:avLst/>
          </a:prstGeom>
          <a:noFill/>
          <a:ln/>
        </p:spPr>
        <p:txBody>
          <a:bodyPr wrap="square" lIns="0" tIns="0" rIns="0" bIns="0" rtlCol="0" anchor="ctr"/>
          <a:lstStyle/>
          <a:p>
            <a:pPr algn="ctr" indent="0" marL="0">
              <a:buNone/>
            </a:pPr>
            <a:r>
              <a:rPr lang="en-US" sz="3300" b="1" dirty="0">
                <a:solidFill>
                  <a:srgbClr val="00205B"/>
                </a:solidFill>
                <a:latin typeface="Arial" pitchFamily="34" charset="0"/>
                <a:ea typeface="Arial" pitchFamily="34" charset="-122"/>
                <a:cs typeface="Arial" pitchFamily="34" charset="-120"/>
              </a:rPr>
              <a:t>Use Cases and Results</a:t>
            </a:r>
            <a:endParaRPr lang="en-US" sz="3300" dirty="0"/>
          </a:p>
        </p:txBody>
      </p:sp>
      <p:sp>
        <p:nvSpPr>
          <p:cNvPr id="4" name="Text 2"/>
          <p:cNvSpPr/>
          <p:nvPr/>
        </p:nvSpPr>
        <p:spPr>
          <a:xfrm>
            <a:off x="2194560" y="3931920"/>
            <a:ext cx="7799832" cy="640080"/>
          </a:xfrm>
          <a:prstGeom prst="rect">
            <a:avLst/>
          </a:prstGeom>
          <a:noFill/>
          <a:ln/>
        </p:spPr>
        <p:txBody>
          <a:bodyPr wrap="square" lIns="0" tIns="0" rIns="0" bIns="0" rtlCol="0" anchor="t"/>
          <a:lstStyle/>
          <a:p>
            <a:pPr algn="ctr" indent="0" marL="0">
              <a:lnSpc>
                <a:spcPct val="125000"/>
              </a:lnSpc>
              <a:buNone/>
            </a:pPr>
            <a:r>
              <a:rPr lang="en-US" sz="1350" dirty="0">
                <a:solidFill>
                  <a:srgbClr val="859199"/>
                </a:solidFill>
                <a:latin typeface="Arial" pitchFamily="34" charset="0"/>
                <a:ea typeface="Arial" pitchFamily="34" charset="-122"/>
                <a:cs typeface="Arial" pitchFamily="34" charset="-120"/>
              </a:rPr>
              <a:t>Two real structural disciplines — fatigue and aerodynamic loads — built, tracked and validated end-to-end on the platform.</a:t>
            </a:r>
            <a:endParaRPr lang="en-US" sz="13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Use Case 1 · UCFatigue — Structural Fatigue Loads</a:t>
            </a:r>
            <a:endParaRPr lang="en-US" sz="2700" dirty="0"/>
          </a:p>
        </p:txBody>
      </p:sp>
      <p:sp>
        <p:nvSpPr>
          <p:cNvPr id="3" name="Text 1"/>
          <p:cNvSpPr/>
          <p:nvPr/>
        </p:nvSpPr>
        <p:spPr>
          <a:xfrm>
            <a:off x="411480" y="1207008"/>
            <a:ext cx="6126480" cy="3291840"/>
          </a:xfrm>
          <a:prstGeom prst="rect">
            <a:avLst/>
          </a:prstGeom>
          <a:noFill/>
          <a:ln/>
        </p:spPr>
        <p:txBody>
          <a:bodyPr wrap="square" lIns="0" tIns="0" rIns="0" bIns="0" rtlCol="0" anchor="ctr"/>
          <a:lstStyle/>
          <a:p>
            <a:pPr algn="just" indent="0" marL="0">
              <a:lnSpc>
                <a:spcPct val="125000"/>
              </a:lnSpc>
              <a:spcAft>
                <a:spcPts val="1400"/>
              </a:spcAft>
              <a:buNone/>
            </a:pPr>
            <a:r>
              <a:rPr lang="en-US" sz="1300" dirty="0">
                <a:solidFill>
                  <a:srgbClr val="1A1A1A"/>
                </a:solidFill>
                <a:latin typeface="Arial" pitchFamily="34" charset="0"/>
                <a:ea typeface="Arial" pitchFamily="34" charset="-122"/>
                <a:cs typeface="Arial" pitchFamily="34" charset="-120"/>
              </a:rPr>
              <a:t>UCFatigue replaces hours-long finite-element fatigue computations for structural element SSE 2110017 with a surrogate that answers in milliseconds. Eight flight and segment parameters — flap setting, altitude, true airspeed, mass, dynamic pressure, flight-path angle, segment type and centre-of-gravity position — predict seven fatigue load components, from the 1g reference case to vertical gust and turn loads.</a:t>
            </a:r>
            <a:endParaRPr lang="en-US" sz="1300" dirty="0"/>
          </a:p>
          <a:p>
            <a:pPr algn="just" indent="0" marL="0">
              <a:lnSpc>
                <a:spcPct val="125000"/>
              </a:lnSpc>
              <a:buNone/>
            </a:pPr>
            <a:r>
              <a:rPr lang="en-US" sz="1300" dirty="0">
                <a:solidFill>
                  <a:srgbClr val="1A1A1A"/>
                </a:solidFill>
                <a:latin typeface="Arial" pitchFamily="34" charset="0"/>
                <a:ea typeface="Arial" pitchFamily="34" charset="-122"/>
                <a:cs typeface="Arial" pitchFamily="34" charset="-120"/>
              </a:rPr>
              <a:t>The development subset holds roughly 870 points, partitioned 70/10/20 into train, validation and test sets with a fixed seed. After one-hot encoding and standardisation the model sees nineteen features. The acceptance requirement is explicit and demanding: for each output, ninety per cent of predictions must fall within ten per cent of the reference value (Q90 &lt; 0.10).</a:t>
            </a:r>
            <a:endParaRPr lang="en-US" sz="1300" dirty="0"/>
          </a:p>
        </p:txBody>
      </p:sp>
      <p:sp>
        <p:nvSpPr>
          <p:cNvPr id="4" name="Shape 2"/>
          <p:cNvSpPr/>
          <p:nvPr/>
        </p:nvSpPr>
        <p:spPr>
          <a:xfrm>
            <a:off x="6812280" y="1207008"/>
            <a:ext cx="4965192" cy="3291840"/>
          </a:xfrm>
          <a:prstGeom prst="roundRect">
            <a:avLst>
              <a:gd name="adj" fmla="val 1944"/>
            </a:avLst>
          </a:prstGeom>
          <a:solidFill>
            <a:srgbClr val="F1F4F9"/>
          </a:solidFill>
          <a:ln/>
        </p:spPr>
      </p:sp>
      <p:pic>
        <p:nvPicPr>
          <p:cNvPr id="5" name="Image 0" descr="assets/pca_coverage.png">    </p:cNvPr>
          <p:cNvPicPr>
            <a:picLocks noChangeAspect="1"/>
          </p:cNvPicPr>
          <p:nvPr/>
        </p:nvPicPr>
        <p:blipFill>
          <a:blip r:embed="rId1"/>
          <a:stretch>
            <a:fillRect/>
          </a:stretch>
        </p:blipFill>
        <p:spPr>
          <a:xfrm>
            <a:off x="7040880" y="1371600"/>
            <a:ext cx="4160520" cy="2761488"/>
          </a:xfrm>
          <a:prstGeom prst="rect">
            <a:avLst/>
          </a:prstGeom>
        </p:spPr>
      </p:pic>
      <p:sp>
        <p:nvSpPr>
          <p:cNvPr id="6" name="Text 3"/>
          <p:cNvSpPr/>
          <p:nvPr/>
        </p:nvSpPr>
        <p:spPr>
          <a:xfrm>
            <a:off x="6949440" y="4160520"/>
            <a:ext cx="470916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PCA design-space coverage of train / validation / test — split quality verified before training (validation layer 1).</a:t>
            </a:r>
            <a:endParaRPr lang="en-US" sz="950" dirty="0"/>
          </a:p>
        </p:txBody>
      </p:sp>
      <p:sp>
        <p:nvSpPr>
          <p:cNvPr id="7" name="Shape 4"/>
          <p:cNvSpPr/>
          <p:nvPr/>
        </p:nvSpPr>
        <p:spPr>
          <a:xfrm>
            <a:off x="411480" y="4800600"/>
            <a:ext cx="3630168" cy="1371600"/>
          </a:xfrm>
          <a:prstGeom prst="roundRect">
            <a:avLst>
              <a:gd name="adj" fmla="val 4000"/>
            </a:avLst>
          </a:prstGeom>
          <a:solidFill>
            <a:srgbClr val="F1F4F9"/>
          </a:solidFill>
          <a:ln/>
        </p:spPr>
      </p:sp>
      <p:sp>
        <p:nvSpPr>
          <p:cNvPr id="8" name="Text 5"/>
          <p:cNvSpPr/>
          <p:nvPr/>
        </p:nvSpPr>
        <p:spPr>
          <a:xfrm>
            <a:off x="548640" y="4910328"/>
            <a:ext cx="3355848" cy="630936"/>
          </a:xfrm>
          <a:prstGeom prst="rect">
            <a:avLst/>
          </a:prstGeom>
          <a:noFill/>
          <a:ln/>
        </p:spPr>
        <p:txBody>
          <a:bodyPr wrap="square" lIns="0" tIns="0" rIns="0" bIns="0" rtlCol="0" anchor="ctr"/>
          <a:lstStyle/>
          <a:p>
            <a:pPr algn="ctr" indent="0" marL="0">
              <a:buNone/>
            </a:pPr>
            <a:r>
              <a:rPr lang="en-US" sz="2500" b="1" dirty="0">
                <a:solidFill>
                  <a:srgbClr val="0085AD"/>
                </a:solidFill>
                <a:latin typeface="Arial" pitchFamily="34" charset="0"/>
                <a:ea typeface="Arial" pitchFamily="34" charset="-122"/>
                <a:cs typeface="Arial" pitchFamily="34" charset="-120"/>
              </a:rPr>
              <a:t>8 → 7</a:t>
            </a:r>
            <a:endParaRPr lang="en-US" sz="2500" dirty="0"/>
          </a:p>
        </p:txBody>
      </p:sp>
      <p:sp>
        <p:nvSpPr>
          <p:cNvPr id="9" name="Text 6"/>
          <p:cNvSpPr/>
          <p:nvPr/>
        </p:nvSpPr>
        <p:spPr>
          <a:xfrm>
            <a:off x="640080" y="5513832"/>
            <a:ext cx="3172968" cy="57607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input parameters to fatigue load outputs (19 features after encoding)</a:t>
            </a:r>
            <a:endParaRPr lang="en-US" sz="1050" dirty="0"/>
          </a:p>
        </p:txBody>
      </p:sp>
      <p:sp>
        <p:nvSpPr>
          <p:cNvPr id="10" name="Shape 7"/>
          <p:cNvSpPr/>
          <p:nvPr/>
        </p:nvSpPr>
        <p:spPr>
          <a:xfrm>
            <a:off x="4279392" y="4800600"/>
            <a:ext cx="3630168" cy="1371600"/>
          </a:xfrm>
          <a:prstGeom prst="roundRect">
            <a:avLst>
              <a:gd name="adj" fmla="val 4000"/>
            </a:avLst>
          </a:prstGeom>
          <a:solidFill>
            <a:srgbClr val="F1F4F9"/>
          </a:solidFill>
          <a:ln/>
        </p:spPr>
      </p:sp>
      <p:sp>
        <p:nvSpPr>
          <p:cNvPr id="11" name="Text 8"/>
          <p:cNvSpPr/>
          <p:nvPr/>
        </p:nvSpPr>
        <p:spPr>
          <a:xfrm>
            <a:off x="4416552" y="4910328"/>
            <a:ext cx="3355848" cy="630936"/>
          </a:xfrm>
          <a:prstGeom prst="rect">
            <a:avLst/>
          </a:prstGeom>
          <a:noFill/>
          <a:ln/>
        </p:spPr>
        <p:txBody>
          <a:bodyPr wrap="square" lIns="0" tIns="0" rIns="0" bIns="0" rtlCol="0" anchor="ctr"/>
          <a:lstStyle/>
          <a:p>
            <a:pPr algn="ctr" indent="0" marL="0">
              <a:buNone/>
            </a:pPr>
            <a:r>
              <a:rPr lang="en-US" sz="2500" b="1" dirty="0">
                <a:solidFill>
                  <a:srgbClr val="00205B"/>
                </a:solidFill>
                <a:latin typeface="Arial" pitchFamily="34" charset="0"/>
                <a:ea typeface="Arial" pitchFamily="34" charset="-122"/>
                <a:cs typeface="Arial" pitchFamily="34" charset="-120"/>
              </a:rPr>
              <a:t>≈ 870</a:t>
            </a:r>
            <a:endParaRPr lang="en-US" sz="2500" dirty="0"/>
          </a:p>
        </p:txBody>
      </p:sp>
      <p:sp>
        <p:nvSpPr>
          <p:cNvPr id="12" name="Text 9"/>
          <p:cNvSpPr/>
          <p:nvPr/>
        </p:nvSpPr>
        <p:spPr>
          <a:xfrm>
            <a:off x="4507992" y="5513832"/>
            <a:ext cx="3172968" cy="57607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development points, split 70 / 10 / 20 with fixed random seed</a:t>
            </a:r>
            <a:endParaRPr lang="en-US" sz="1050" dirty="0"/>
          </a:p>
        </p:txBody>
      </p:sp>
      <p:sp>
        <p:nvSpPr>
          <p:cNvPr id="13" name="Shape 10"/>
          <p:cNvSpPr/>
          <p:nvPr/>
        </p:nvSpPr>
        <p:spPr>
          <a:xfrm>
            <a:off x="8147304" y="4800600"/>
            <a:ext cx="3630168" cy="1371600"/>
          </a:xfrm>
          <a:prstGeom prst="roundRect">
            <a:avLst>
              <a:gd name="adj" fmla="val 4000"/>
            </a:avLst>
          </a:prstGeom>
          <a:solidFill>
            <a:srgbClr val="F1F4F9"/>
          </a:solidFill>
          <a:ln/>
        </p:spPr>
      </p:sp>
      <p:sp>
        <p:nvSpPr>
          <p:cNvPr id="14" name="Text 11"/>
          <p:cNvSpPr/>
          <p:nvPr/>
        </p:nvSpPr>
        <p:spPr>
          <a:xfrm>
            <a:off x="8284464" y="4910328"/>
            <a:ext cx="3355848" cy="630936"/>
          </a:xfrm>
          <a:prstGeom prst="rect">
            <a:avLst/>
          </a:prstGeom>
          <a:noFill/>
          <a:ln/>
        </p:spPr>
        <p:txBody>
          <a:bodyPr wrap="square" lIns="0" tIns="0" rIns="0" bIns="0" rtlCol="0" anchor="ctr"/>
          <a:lstStyle/>
          <a:p>
            <a:pPr algn="ctr" indent="0" marL="0">
              <a:buNone/>
            </a:pPr>
            <a:r>
              <a:rPr lang="en-US" sz="2500" b="1" dirty="0">
                <a:solidFill>
                  <a:srgbClr val="0085AD"/>
                </a:solidFill>
                <a:latin typeface="Arial" pitchFamily="34" charset="0"/>
                <a:ea typeface="Arial" pitchFamily="34" charset="-122"/>
                <a:cs typeface="Arial" pitchFamily="34" charset="-120"/>
              </a:rPr>
              <a:t>Q90 &lt; 10 %</a:t>
            </a:r>
            <a:endParaRPr lang="en-US" sz="2500" dirty="0"/>
          </a:p>
        </p:txBody>
      </p:sp>
      <p:sp>
        <p:nvSpPr>
          <p:cNvPr id="15" name="Text 12"/>
          <p:cNvSpPr/>
          <p:nvPr/>
        </p:nvSpPr>
        <p:spPr>
          <a:xfrm>
            <a:off x="8375904" y="5513832"/>
            <a:ext cx="3172968" cy="57607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acceptance requirement on relative error, per output</a:t>
            </a:r>
            <a:endParaRPr lang="en-US" sz="10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UCFatigue — Results on the Development Subset</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6172200" cy="914400"/>
        </p:xfrm>
        <a:graphic>
          <a:graphicData uri="http://schemas.openxmlformats.org/drawingml/2006/table">
            <a:tbl>
              <a:tblPr/>
              <a:tblGrid>
                <a:gridCol w="1234440"/>
                <a:gridCol w="1234440"/>
                <a:gridCol w="1234440"/>
                <a:gridCol w="1234440"/>
                <a:gridCol w="1234440"/>
              </a:tblGrid>
              <a:tr h="384048">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Output</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00205B"/>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GB R²</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00205B"/>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GB Q90</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00205B"/>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Requirement</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00205B"/>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MLP R²</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00205B"/>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1g</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0.980</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0.026</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84BD00"/>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0.916</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Vertical manoeuvre</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0.972</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0.032</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b="1" dirty="0">
                          <a:solidFill>
                            <a:srgbClr val="84BD00"/>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0.912</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Vertical gust</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0.991</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0.026</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84BD00"/>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0.938</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Turn</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0.929</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0.035</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b="1" dirty="0">
                          <a:solidFill>
                            <a:srgbClr val="84BD00"/>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0.754</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Frontal gust</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0.996</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0.280</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E4002B"/>
                          </a:solidFill>
                          <a:latin typeface="Arial" pitchFamily="34" charset="0"/>
                          <a:ea typeface="Arial" pitchFamily="34" charset="-122"/>
                          <a:cs typeface="Arial" pitchFamily="34" charset="-120"/>
                        </a:rPr>
                        <a:t>Fail</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0.979</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n0</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0.932</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0.015</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b="1" dirty="0">
                          <a:solidFill>
                            <a:srgbClr val="84BD00"/>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c>
                  <a:txBody>
                    <a:bodyPr/>
                    <a:lstStyle/>
                    <a:p>
                      <a:pPr algn="ctr" indent="0" marL="0">
                        <a:buNone/>
                      </a:pPr>
                      <a:r>
                        <a:rPr lang="en-US" sz="1050" dirty="0">
                          <a:solidFill>
                            <a:srgbClr val="E4002B"/>
                          </a:solidFill>
                          <a:latin typeface="Arial" pitchFamily="34" charset="0"/>
                          <a:ea typeface="Arial" pitchFamily="34" charset="-122"/>
                          <a:cs typeface="Arial" pitchFamily="34" charset="-120"/>
                        </a:rPr>
                        <a:t>−0.729</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1F4F9"/>
                    </a:solidFill>
                  </a:tcPr>
                </a:tc>
              </a:tr>
              <a:tr h="384048">
                <a:tc>
                  <a:txBody>
                    <a:bodyPr/>
                    <a:lstStyle/>
                    <a:p>
                      <a:pPr algn="l" indent="0" marL="0">
                        <a:buNone/>
                      </a:pPr>
                      <a:r>
                        <a:rPr lang="en-US" sz="1050" b="1" dirty="0">
                          <a:solidFill>
                            <a:srgbClr val="00205B"/>
                          </a:solidFill>
                          <a:latin typeface="Arial" pitchFamily="34" charset="0"/>
                          <a:ea typeface="Arial" pitchFamily="34" charset="-122"/>
                          <a:cs typeface="Arial" pitchFamily="34" charset="-120"/>
                        </a:rPr>
                        <a:t>Giro</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0.950</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0.222</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E4002B"/>
                          </a:solidFill>
                          <a:latin typeface="Arial" pitchFamily="34" charset="0"/>
                          <a:ea typeface="Arial" pitchFamily="34" charset="-122"/>
                          <a:cs typeface="Arial" pitchFamily="34" charset="-120"/>
                        </a:rPr>
                        <a:t>Fail</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4002B"/>
                          </a:solidFill>
                          <a:latin typeface="Arial" pitchFamily="34" charset="0"/>
                          <a:ea typeface="Arial" pitchFamily="34" charset="-122"/>
                          <a:cs typeface="Arial" pitchFamily="34" charset="-120"/>
                        </a:rPr>
                        <a:t>−0.104</a:t>
                      </a:r>
                      <a:endParaRPr lang="en-US" sz="1050" dirty="0">
                        <a:latin typeface="Arial" charset="0"/>
                        <a:ea typeface="Arial" charset="0"/>
                        <a:cs typeface="Arial" charset="0"/>
                      </a:endParaRPr>
                    </a:p>
                  </a:txBody>
                  <a:tcPr marL="91440" marR="91440" marT="45720" marB="45720" anchor="ctr">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FFFFFF"/>
                    </a:solidFill>
                  </a:tcPr>
                </a:tc>
              </a:tr>
            </a:tbl>
          </a:graphicData>
        </a:graphic>
      </p:graphicFrame>
      <p:sp>
        <p:nvSpPr>
          <p:cNvPr id="4" name="Text 1"/>
          <p:cNvSpPr/>
          <p:nvPr/>
        </p:nvSpPr>
        <p:spPr>
          <a:xfrm>
            <a:off x="6949440" y="1234440"/>
            <a:ext cx="4828032" cy="3246120"/>
          </a:xfrm>
          <a:prstGeom prst="rect">
            <a:avLst/>
          </a:prstGeom>
          <a:noFill/>
          <a:ln/>
        </p:spPr>
        <p:txBody>
          <a:bodyPr wrap="square" lIns="0" tIns="0" rIns="0" bIns="0" rtlCol="0" anchor="ctr"/>
          <a:lstStyle/>
          <a:p>
            <a:pPr algn="just" indent="0" marL="0">
              <a:lnSpc>
                <a:spcPct val="125000"/>
              </a:lnSpc>
              <a:spcAft>
                <a:spcPts val="1400"/>
              </a:spcAft>
              <a:buNone/>
            </a:pPr>
            <a:r>
              <a:rPr lang="en-US" sz="1150" dirty="0">
                <a:solidFill>
                  <a:srgbClr val="1A1A1A"/>
                </a:solidFill>
                <a:latin typeface="Arial" pitchFamily="34" charset="0"/>
                <a:ea typeface="Arial" pitchFamily="34" charset="-122"/>
                <a:cs typeface="Arial" pitchFamily="34" charset="-120"/>
              </a:rPr>
              <a:t>Gradient Boosting outperforms the MLP on every one of the seven outputs, and five of them already meet the Q90 &lt; 10 % requirement on a subset of only ~870 points — with Q90 as low as 1.5 % for the n0 case. The MLP, by contrast, collapses to negative R² on two outputs, confirming that small tabular datasets favour tree ensembles over neural networks.</a:t>
            </a:r>
            <a:endParaRPr lang="en-US" sz="1150" dirty="0"/>
          </a:p>
          <a:p>
            <a:pPr algn="just" indent="0" marL="0">
              <a:lnSpc>
                <a:spcPct val="125000"/>
              </a:lnSpc>
              <a:buNone/>
            </a:pPr>
            <a:r>
              <a:rPr lang="en-US" sz="1150" dirty="0">
                <a:solidFill>
                  <a:srgbClr val="1A1A1A"/>
                </a:solidFill>
                <a:latin typeface="Arial" pitchFamily="34" charset="0"/>
                <a:ea typeface="Arial" pitchFamily="34" charset="-122"/>
                <a:cs typeface="Arial" pitchFamily="34" charset="-120"/>
              </a:rPr>
              <a:t>The two failing outputs, Frontal gust and Giro, fail in both architectures — a signature the validation framework reads as a data-coverage problem rather than a modelling one.</a:t>
            </a:r>
            <a:endParaRPr lang="en-US" sz="1150" dirty="0"/>
          </a:p>
        </p:txBody>
      </p:sp>
      <p:sp>
        <p:nvSpPr>
          <p:cNvPr id="5" name="Text 2"/>
          <p:cNvSpPr/>
          <p:nvPr/>
        </p:nvSpPr>
        <p:spPr>
          <a:xfrm>
            <a:off x="1316736" y="4297680"/>
            <a:ext cx="457200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GradientBoosting · predicted vs true (test set)</a:t>
            </a:r>
            <a:endParaRPr lang="en-US" sz="950" dirty="0"/>
          </a:p>
        </p:txBody>
      </p:sp>
      <p:sp>
        <p:nvSpPr>
          <p:cNvPr id="6" name="Text 3"/>
          <p:cNvSpPr/>
          <p:nvPr/>
        </p:nvSpPr>
        <p:spPr>
          <a:xfrm>
            <a:off x="6300216" y="4297680"/>
            <a:ext cx="457200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GradientBoosting · prediction ratio (test set)</a:t>
            </a:r>
            <a:endParaRPr lang="en-US" sz="950" dirty="0"/>
          </a:p>
        </p:txBody>
      </p:sp>
      <p:pic>
        <p:nvPicPr>
          <p:cNvPr id="7" name="Image 0" descr="assets/ucfat_scatter_GB.png">    </p:cNvPr>
          <p:cNvPicPr>
            <a:picLocks noChangeAspect="1"/>
          </p:cNvPicPr>
          <p:nvPr/>
        </p:nvPicPr>
        <p:blipFill>
          <a:blip r:embed="rId1"/>
          <a:stretch>
            <a:fillRect/>
          </a:stretch>
        </p:blipFill>
        <p:spPr>
          <a:xfrm>
            <a:off x="1316736" y="4590288"/>
            <a:ext cx="4572000" cy="1811186"/>
          </a:xfrm>
          <a:prstGeom prst="rect">
            <a:avLst/>
          </a:prstGeom>
        </p:spPr>
      </p:pic>
      <p:pic>
        <p:nvPicPr>
          <p:cNvPr id="8" name="Image 1" descr="assets/ucfat_ratio_GB.png">    </p:cNvPr>
          <p:cNvPicPr>
            <a:picLocks noChangeAspect="1"/>
          </p:cNvPicPr>
          <p:nvPr/>
        </p:nvPicPr>
        <p:blipFill>
          <a:blip r:embed="rId2"/>
          <a:stretch>
            <a:fillRect/>
          </a:stretch>
        </p:blipFill>
        <p:spPr>
          <a:xfrm>
            <a:off x="6300216" y="4590288"/>
            <a:ext cx="4572000" cy="1811186"/>
          </a:xfrm>
          <a:prstGeom prst="rect">
            <a:avLst/>
          </a:prstGeom>
        </p:spPr>
      </p:pic>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Use Case 2 · UCLoads — Aerodynamic Structural Loads</a:t>
            </a:r>
            <a:endParaRPr lang="en-US" sz="2700" dirty="0"/>
          </a:p>
        </p:txBody>
      </p:sp>
      <p:sp>
        <p:nvSpPr>
          <p:cNvPr id="3" name="Text 1"/>
          <p:cNvSpPr/>
          <p:nvPr/>
        </p:nvSpPr>
        <p:spPr>
          <a:xfrm>
            <a:off x="411480" y="1207008"/>
            <a:ext cx="6126480" cy="3291840"/>
          </a:xfrm>
          <a:prstGeom prst="rect">
            <a:avLst/>
          </a:prstGeom>
          <a:noFill/>
          <a:ln/>
        </p:spPr>
        <p:txBody>
          <a:bodyPr wrap="square" lIns="0" tIns="0" rIns="0" bIns="0" rtlCol="0" anchor="ctr"/>
          <a:lstStyle/>
          <a:p>
            <a:pPr algn="just" indent="0" marL="0">
              <a:lnSpc>
                <a:spcPct val="125000"/>
              </a:lnSpc>
              <a:spcAft>
                <a:spcPts val="1400"/>
              </a:spcAft>
              <a:buNone/>
            </a:pPr>
            <a:r>
              <a:rPr lang="en-US" sz="1300" dirty="0">
                <a:solidFill>
                  <a:srgbClr val="1A1A1A"/>
                </a:solidFill>
                <a:latin typeface="Arial" pitchFamily="34" charset="0"/>
                <a:ea typeface="Arial" pitchFamily="34" charset="-122"/>
                <a:cs typeface="Arial" pitchFamily="34" charset="-120"/>
              </a:rPr>
              <a:t>UCLoads targets the loads process directly: predicting eight force and moment components at the wing-root and fuselage monitor stations from just three flight parameters — Mach number, altitude and angle of attack. The production dataset covers 357,000 CFD-derived flight conditions spanning Mach 0.4 to 1.4, altitudes up to 50,000 ft and incidences from −7.5° to 32.5°.</a:t>
            </a:r>
            <a:endParaRPr lang="en-US" sz="1300" dirty="0"/>
          </a:p>
          <a:p>
            <a:pPr algn="just" indent="0" marL="0">
              <a:lnSpc>
                <a:spcPct val="125000"/>
              </a:lnSpc>
              <a:buNone/>
            </a:pPr>
            <a:r>
              <a:rPr lang="en-US" sz="1300" dirty="0">
                <a:solidFill>
                  <a:srgbClr val="1A1A1A"/>
                </a:solidFill>
                <a:latin typeface="Arial" pitchFamily="34" charset="0"/>
                <a:ea typeface="Arial" pitchFamily="34" charset="-122"/>
                <a:cs typeface="Arial" pitchFamily="34" charset="-120"/>
              </a:rPr>
              <a:t>Development to date uses a 2,000-point synthetic dataset calibrated to the real statistics, on which five model families — MLP, Gradient Boosting, Random Forest, XGBoost and the custom PyTorch residual network — are benchmarked head-to-head through the identical pipeline, with every run tracked in MLflow.</a:t>
            </a:r>
            <a:endParaRPr lang="en-US" sz="1300" dirty="0"/>
          </a:p>
        </p:txBody>
      </p:sp>
      <p:sp>
        <p:nvSpPr>
          <p:cNvPr id="4" name="Shape 2"/>
          <p:cNvSpPr/>
          <p:nvPr/>
        </p:nvSpPr>
        <p:spPr>
          <a:xfrm>
            <a:off x="6812280" y="1207008"/>
            <a:ext cx="4965192" cy="3291840"/>
          </a:xfrm>
          <a:prstGeom prst="roundRect">
            <a:avLst>
              <a:gd name="adj" fmla="val 1944"/>
            </a:avLst>
          </a:prstGeom>
          <a:solidFill>
            <a:srgbClr val="F1F4F9"/>
          </a:solidFill>
          <a:ln/>
        </p:spPr>
      </p:sp>
      <p:pic>
        <p:nvPicPr>
          <p:cNvPr id="5" name="Image 0" descr="html_imgs/uc_003.png">    </p:cNvPr>
          <p:cNvPicPr>
            <a:picLocks noChangeAspect="1"/>
          </p:cNvPicPr>
          <p:nvPr/>
        </p:nvPicPr>
        <p:blipFill>
          <a:blip r:embed="rId1"/>
          <a:stretch>
            <a:fillRect/>
          </a:stretch>
        </p:blipFill>
        <p:spPr>
          <a:xfrm>
            <a:off x="7287768" y="1353312"/>
            <a:ext cx="3657600" cy="2770632"/>
          </a:xfrm>
          <a:prstGeom prst="rect">
            <a:avLst/>
          </a:prstGeom>
        </p:spPr>
      </p:pic>
      <p:sp>
        <p:nvSpPr>
          <p:cNvPr id="6" name="Text 3"/>
          <p:cNvSpPr/>
          <p:nvPr/>
        </p:nvSpPr>
        <p:spPr>
          <a:xfrm>
            <a:off x="6949440" y="4169664"/>
            <a:ext cx="470916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Distributions of the eight load outputs at the two monitor stations, from the automated validation report.</a:t>
            </a:r>
            <a:endParaRPr lang="en-US" sz="950" dirty="0"/>
          </a:p>
        </p:txBody>
      </p:sp>
      <p:sp>
        <p:nvSpPr>
          <p:cNvPr id="7" name="Shape 4"/>
          <p:cNvSpPr/>
          <p:nvPr/>
        </p:nvSpPr>
        <p:spPr>
          <a:xfrm>
            <a:off x="411480" y="4800600"/>
            <a:ext cx="3630168" cy="1371600"/>
          </a:xfrm>
          <a:prstGeom prst="roundRect">
            <a:avLst>
              <a:gd name="adj" fmla="val 4000"/>
            </a:avLst>
          </a:prstGeom>
          <a:solidFill>
            <a:srgbClr val="F1F4F9"/>
          </a:solidFill>
          <a:ln/>
        </p:spPr>
      </p:sp>
      <p:sp>
        <p:nvSpPr>
          <p:cNvPr id="8" name="Text 5"/>
          <p:cNvSpPr/>
          <p:nvPr/>
        </p:nvSpPr>
        <p:spPr>
          <a:xfrm>
            <a:off x="548640" y="4910328"/>
            <a:ext cx="3355848" cy="630936"/>
          </a:xfrm>
          <a:prstGeom prst="rect">
            <a:avLst/>
          </a:prstGeom>
          <a:noFill/>
          <a:ln/>
        </p:spPr>
        <p:txBody>
          <a:bodyPr wrap="square" lIns="0" tIns="0" rIns="0" bIns="0" rtlCol="0" anchor="ctr"/>
          <a:lstStyle/>
          <a:p>
            <a:pPr algn="ctr" indent="0" marL="0">
              <a:buNone/>
            </a:pPr>
            <a:r>
              <a:rPr lang="en-US" sz="2500" b="1" dirty="0">
                <a:solidFill>
                  <a:srgbClr val="0085AD"/>
                </a:solidFill>
                <a:latin typeface="Arial" pitchFamily="34" charset="0"/>
                <a:ea typeface="Arial" pitchFamily="34" charset="-122"/>
                <a:cs typeface="Arial" pitchFamily="34" charset="-120"/>
              </a:rPr>
              <a:t>3 → 8</a:t>
            </a:r>
            <a:endParaRPr lang="en-US" sz="2500" dirty="0"/>
          </a:p>
        </p:txBody>
      </p:sp>
      <p:sp>
        <p:nvSpPr>
          <p:cNvPr id="9" name="Text 6"/>
          <p:cNvSpPr/>
          <p:nvPr/>
        </p:nvSpPr>
        <p:spPr>
          <a:xfrm>
            <a:off x="640080" y="5513832"/>
            <a:ext cx="3172968" cy="57607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flight parameters to load components at two monitor stations</a:t>
            </a:r>
            <a:endParaRPr lang="en-US" sz="1050" dirty="0"/>
          </a:p>
        </p:txBody>
      </p:sp>
      <p:sp>
        <p:nvSpPr>
          <p:cNvPr id="10" name="Shape 7"/>
          <p:cNvSpPr/>
          <p:nvPr/>
        </p:nvSpPr>
        <p:spPr>
          <a:xfrm>
            <a:off x="4279392" y="4800600"/>
            <a:ext cx="3630168" cy="1371600"/>
          </a:xfrm>
          <a:prstGeom prst="roundRect">
            <a:avLst>
              <a:gd name="adj" fmla="val 4000"/>
            </a:avLst>
          </a:prstGeom>
          <a:solidFill>
            <a:srgbClr val="F1F4F9"/>
          </a:solidFill>
          <a:ln/>
        </p:spPr>
      </p:sp>
      <p:sp>
        <p:nvSpPr>
          <p:cNvPr id="11" name="Text 8"/>
          <p:cNvSpPr/>
          <p:nvPr/>
        </p:nvSpPr>
        <p:spPr>
          <a:xfrm>
            <a:off x="4416552" y="4910328"/>
            <a:ext cx="3355848" cy="630936"/>
          </a:xfrm>
          <a:prstGeom prst="rect">
            <a:avLst/>
          </a:prstGeom>
          <a:noFill/>
          <a:ln/>
        </p:spPr>
        <p:txBody>
          <a:bodyPr wrap="square" lIns="0" tIns="0" rIns="0" bIns="0" rtlCol="0" anchor="ctr"/>
          <a:lstStyle/>
          <a:p>
            <a:pPr algn="ctr" indent="0" marL="0">
              <a:buNone/>
            </a:pPr>
            <a:r>
              <a:rPr lang="en-US" sz="2500" b="1" dirty="0">
                <a:solidFill>
                  <a:srgbClr val="00205B"/>
                </a:solidFill>
                <a:latin typeface="Arial" pitchFamily="34" charset="0"/>
                <a:ea typeface="Arial" pitchFamily="34" charset="-122"/>
                <a:cs typeface="Arial" pitchFamily="34" charset="-120"/>
              </a:rPr>
              <a:t>5 families</a:t>
            </a:r>
            <a:endParaRPr lang="en-US" sz="2500" dirty="0"/>
          </a:p>
        </p:txBody>
      </p:sp>
      <p:sp>
        <p:nvSpPr>
          <p:cNvPr id="12" name="Text 9"/>
          <p:cNvSpPr/>
          <p:nvPr/>
        </p:nvSpPr>
        <p:spPr>
          <a:xfrm>
            <a:off x="4507992" y="5513832"/>
            <a:ext cx="3172968" cy="57607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of models benchmarked through one identical pipeline</a:t>
            </a:r>
            <a:endParaRPr lang="en-US" sz="1050" dirty="0"/>
          </a:p>
        </p:txBody>
      </p:sp>
      <p:sp>
        <p:nvSpPr>
          <p:cNvPr id="13" name="Shape 10"/>
          <p:cNvSpPr/>
          <p:nvPr/>
        </p:nvSpPr>
        <p:spPr>
          <a:xfrm>
            <a:off x="8147304" y="4800600"/>
            <a:ext cx="3630168" cy="1371600"/>
          </a:xfrm>
          <a:prstGeom prst="roundRect">
            <a:avLst>
              <a:gd name="adj" fmla="val 4000"/>
            </a:avLst>
          </a:prstGeom>
          <a:solidFill>
            <a:srgbClr val="F1F4F9"/>
          </a:solidFill>
          <a:ln/>
        </p:spPr>
      </p:sp>
      <p:sp>
        <p:nvSpPr>
          <p:cNvPr id="14" name="Text 11"/>
          <p:cNvSpPr/>
          <p:nvPr/>
        </p:nvSpPr>
        <p:spPr>
          <a:xfrm>
            <a:off x="8284464" y="4910328"/>
            <a:ext cx="3355848" cy="630936"/>
          </a:xfrm>
          <a:prstGeom prst="rect">
            <a:avLst/>
          </a:prstGeom>
          <a:noFill/>
          <a:ln/>
        </p:spPr>
        <p:txBody>
          <a:bodyPr wrap="square" lIns="0" tIns="0" rIns="0" bIns="0" rtlCol="0" anchor="ctr"/>
          <a:lstStyle/>
          <a:p>
            <a:pPr algn="ctr" indent="0" marL="0">
              <a:buNone/>
            </a:pPr>
            <a:r>
              <a:rPr lang="en-US" sz="2500" b="1" dirty="0">
                <a:solidFill>
                  <a:srgbClr val="0085AD"/>
                </a:solidFill>
                <a:latin typeface="Arial" pitchFamily="34" charset="0"/>
                <a:ea typeface="Arial" pitchFamily="34" charset="-122"/>
                <a:cs typeface="Arial" pitchFamily="34" charset="-120"/>
              </a:rPr>
              <a:t>357 k</a:t>
            </a:r>
            <a:endParaRPr lang="en-US" sz="2500" dirty="0"/>
          </a:p>
        </p:txBody>
      </p:sp>
      <p:sp>
        <p:nvSpPr>
          <p:cNvPr id="15" name="Text 12"/>
          <p:cNvSpPr/>
          <p:nvPr/>
        </p:nvSpPr>
        <p:spPr>
          <a:xfrm>
            <a:off x="8375904" y="5513832"/>
            <a:ext cx="3172968" cy="576072"/>
          </a:xfrm>
          <a:prstGeom prst="rect">
            <a:avLst/>
          </a:prstGeom>
          <a:noFill/>
          <a:ln/>
        </p:spPr>
        <p:txBody>
          <a:bodyPr wrap="square" lIns="0" tIns="0" rIns="0" bIns="0" rtlCol="0" anchor="t"/>
          <a:lstStyle/>
          <a:p>
            <a:pPr algn="ctr" indent="0" marL="0">
              <a:lnSpc>
                <a:spcPct val="110000"/>
              </a:lnSpc>
              <a:buNone/>
            </a:pPr>
            <a:r>
              <a:rPr lang="en-US" sz="1050" dirty="0">
                <a:solidFill>
                  <a:srgbClr val="859199"/>
                </a:solidFill>
                <a:latin typeface="Arial" pitchFamily="34" charset="0"/>
                <a:ea typeface="Arial" pitchFamily="34" charset="-122"/>
                <a:cs typeface="Arial" pitchFamily="34" charset="-120"/>
              </a:rPr>
              <a:t>real CFD flight conditions in the production dataset</a:t>
            </a:r>
            <a:endParaRPr lang="en-US" sz="10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UCLoads — Five Models, One Verdict</a:t>
            </a:r>
            <a:endParaRPr lang="en-US" sz="2700" dirty="0"/>
          </a:p>
        </p:txBody>
      </p:sp>
      <p:graphicFrame>
        <p:nvGraphicFramePr>
          <p:cNvPr id="3" name="Chart 0" descr=""/>
          <p:cNvGraphicFramePr/>
          <p:nvPr/>
        </p:nvGraphicFramePr>
        <p:xfrm>
          <a:off x="411480" y="1280160"/>
          <a:ext cx="672084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360920" y="1280160"/>
            <a:ext cx="4416552" cy="2971800"/>
          </a:xfrm>
          <a:prstGeom prst="rect">
            <a:avLst/>
          </a:prstGeom>
          <a:noFill/>
          <a:ln/>
        </p:spPr>
        <p:txBody>
          <a:bodyPr wrap="square" lIns="0" tIns="0" rIns="0" bIns="0" rtlCol="0" anchor="ctr"/>
          <a:lstStyle/>
          <a:p>
            <a:pPr algn="just" indent="0" marL="0">
              <a:lnSpc>
                <a:spcPct val="125000"/>
              </a:lnSpc>
              <a:spcAft>
                <a:spcPts val="1400"/>
              </a:spcAft>
              <a:buNone/>
            </a:pPr>
            <a:r>
              <a:rPr lang="en-US" sz="1100" dirty="0">
                <a:solidFill>
                  <a:srgbClr val="1A1A1A"/>
                </a:solidFill>
                <a:latin typeface="Arial" pitchFamily="34" charset="0"/>
                <a:ea typeface="Arial" pitchFamily="34" charset="-122"/>
                <a:cs typeface="Arial" pitchFamily="34" charset="-120"/>
              </a:rPr>
              <a:t>The custom PyTorch residual network posts the best R² on seven of the eight outputs — up to 0.998 — while the Kolmogorov–Smirnov overfitting test clears it on all eight outputs, the only model besides the MLP with a perfect score. Gradient Boosting remains an excellent, cheaper baseline.</a:t>
            </a:r>
            <a:endParaRPr lang="en-US" sz="1100" dirty="0"/>
          </a:p>
          <a:p>
            <a:pPr algn="just" indent="0" marL="0">
              <a:lnSpc>
                <a:spcPct val="125000"/>
              </a:lnSpc>
              <a:buNone/>
            </a:pPr>
            <a:r>
              <a:rPr lang="en-US" sz="1100" dirty="0">
                <a:solidFill>
                  <a:srgbClr val="1A1A1A"/>
                </a:solidFill>
                <a:latin typeface="Arial" pitchFamily="34" charset="0"/>
                <a:ea typeface="Arial" pitchFamily="34" charset="-122"/>
                <a:cs typeface="Arial" pitchFamily="34" charset="-120"/>
              </a:rPr>
              <a:t>On synthetic data the Q90 targets are bounded by the injected 10 % noise floor, as expected; the recommendation is a scaled PyTorch network plus a Gradient Boosting baseline on the full 357 k-point CFD dataset.</a:t>
            </a:r>
            <a:endParaRPr lang="en-US" sz="1100" dirty="0"/>
          </a:p>
        </p:txBody>
      </p:sp>
      <p:sp>
        <p:nvSpPr>
          <p:cNvPr id="5" name="Text 2"/>
          <p:cNvSpPr/>
          <p:nvPr/>
        </p:nvSpPr>
        <p:spPr>
          <a:xfrm>
            <a:off x="3584448" y="4133088"/>
            <a:ext cx="5029200" cy="384048"/>
          </a:xfrm>
          <a:prstGeom prst="rect">
            <a:avLst/>
          </a:prstGeom>
          <a:noFill/>
          <a:ln/>
        </p:spPr>
        <p:txBody>
          <a:bodyPr wrap="square" lIns="0" tIns="0" rIns="0" bIns="0" rtlCol="0" anchor="t"/>
          <a:lstStyle/>
          <a:p>
            <a:pPr algn="ctr" indent="0" marL="0">
              <a:lnSpc>
                <a:spcPct val="110000"/>
              </a:lnSpc>
              <a:buNone/>
            </a:pPr>
            <a:r>
              <a:rPr lang="en-US" sz="950" i="1" dirty="0">
                <a:solidFill>
                  <a:srgbClr val="859199"/>
                </a:solidFill>
                <a:latin typeface="Arial" pitchFamily="34" charset="0"/>
                <a:ea typeface="Arial" pitchFamily="34" charset="-122"/>
                <a:cs typeface="Arial" pitchFamily="34" charset="-120"/>
              </a:rPr>
              <a:t>PyTorch residual network: predicted vs true on the held-out test set, all eight outputs.</a:t>
            </a:r>
            <a:endParaRPr lang="en-US" sz="950" dirty="0"/>
          </a:p>
        </p:txBody>
      </p:sp>
      <p:pic>
        <p:nvPicPr>
          <p:cNvPr id="6" name="Image 0" descr="assets/scatter_PyTorchNN.png">    </p:cNvPr>
          <p:cNvPicPr>
            <a:picLocks noChangeAspect="1"/>
          </p:cNvPicPr>
          <p:nvPr/>
        </p:nvPicPr>
        <p:blipFill>
          <a:blip r:embed="rId2"/>
          <a:stretch>
            <a:fillRect/>
          </a:stretch>
        </p:blipFill>
        <p:spPr>
          <a:xfrm>
            <a:off x="3584448" y="4389120"/>
            <a:ext cx="5029200" cy="1995647"/>
          </a:xfrm>
          <a:prstGeom prst="rect">
            <a:avLst/>
          </a:prstGeom>
        </p:spPr>
      </p:pic>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When Validation Speaks, Engineering Listens</a:t>
            </a:r>
            <a:endParaRPr lang="en-US" sz="2700" dirty="0"/>
          </a:p>
        </p:txBody>
      </p:sp>
      <p:sp>
        <p:nvSpPr>
          <p:cNvPr id="3" name="Text 1"/>
          <p:cNvSpPr/>
          <p:nvPr/>
        </p:nvSpPr>
        <p:spPr>
          <a:xfrm>
            <a:off x="411480" y="1207008"/>
            <a:ext cx="6035040" cy="4114800"/>
          </a:xfrm>
          <a:prstGeom prst="rect">
            <a:avLst/>
          </a:prstGeom>
          <a:noFill/>
          <a:ln/>
        </p:spPr>
        <p:txBody>
          <a:bodyPr wrap="square" lIns="0" tIns="0" rIns="0" bIns="0" rtlCol="0" anchor="ctr"/>
          <a:lstStyle/>
          <a:p>
            <a:pPr algn="just" indent="0" marL="0">
              <a:lnSpc>
                <a:spcPct val="125000"/>
              </a:lnSpc>
              <a:spcAft>
                <a:spcPts val="1400"/>
              </a:spcAft>
              <a:buNone/>
            </a:pPr>
            <a:r>
              <a:rPr lang="en-US" sz="1300" dirty="0">
                <a:solidFill>
                  <a:srgbClr val="1A1A1A"/>
                </a:solidFill>
                <a:latin typeface="Arial" pitchFamily="34" charset="0"/>
                <a:ea typeface="Arial" pitchFamily="34" charset="-122"/>
                <a:cs typeface="Arial" pitchFamily="34" charset="-120"/>
              </a:rPr>
              <a:t>In UCFatigue, two outputs — Frontal gust and Giro — missed the Q90 requirement. The reflex answer would have been to reach for a bigger network, a longer tuning campaign, a different architecture. The four-layer evidence said otherwise: both outputs failed in both model families while the split quality, coverage tests and remaining five outputs were healthy. That pattern isolates the root cause as insufficient data coverage in specific regions of the envelope — a problem no amount of hyper-parameter tuning can fix.</a:t>
            </a:r>
            <a:endParaRPr lang="en-US" sz="1300" dirty="0"/>
          </a:p>
          <a:p>
            <a:pPr algn="just" indent="0" marL="0">
              <a:lnSpc>
                <a:spcPct val="125000"/>
              </a:lnSpc>
              <a:buNone/>
            </a:pPr>
            <a:r>
              <a:rPr lang="en-US" sz="1300" dirty="0">
                <a:solidFill>
                  <a:srgbClr val="1A1A1A"/>
                </a:solidFill>
                <a:latin typeface="Arial" pitchFamily="34" charset="0"/>
                <a:ea typeface="Arial" pitchFamily="34" charset="-122"/>
                <a:cs typeface="Arial" pitchFamily="34" charset="-120"/>
              </a:rPr>
              <a:t>The engineering action changed accordingly: enrich the dataset where the evidence points, instead of burning weeks of compute and effort on blind retraining. This is precisely what a validation framework is for — turning model failures into directed, defensible engineering decisions.</a:t>
            </a:r>
            <a:endParaRPr lang="en-US" sz="1300" dirty="0"/>
          </a:p>
        </p:txBody>
      </p:sp>
      <p:sp>
        <p:nvSpPr>
          <p:cNvPr id="4" name="Shape 2"/>
          <p:cNvSpPr/>
          <p:nvPr/>
        </p:nvSpPr>
        <p:spPr>
          <a:xfrm>
            <a:off x="6720840" y="1207008"/>
            <a:ext cx="5056632" cy="1298448"/>
          </a:xfrm>
          <a:prstGeom prst="roundRect">
            <a:avLst>
              <a:gd name="adj" fmla="val 4930"/>
            </a:avLst>
          </a:prstGeom>
          <a:solidFill>
            <a:srgbClr val="F1F4F9"/>
          </a:solidFill>
          <a:ln/>
        </p:spPr>
      </p:sp>
      <p:sp>
        <p:nvSpPr>
          <p:cNvPr id="5" name="Shape 3"/>
          <p:cNvSpPr/>
          <p:nvPr/>
        </p:nvSpPr>
        <p:spPr>
          <a:xfrm>
            <a:off x="6949440" y="1572768"/>
            <a:ext cx="548640" cy="548640"/>
          </a:xfrm>
          <a:prstGeom prst="ellipse">
            <a:avLst/>
          </a:prstGeom>
          <a:solidFill>
            <a:srgbClr val="0085AD"/>
          </a:solidFill>
          <a:ln/>
        </p:spPr>
      </p:sp>
      <p:pic>
        <p:nvPicPr>
          <p:cNvPr id="6" name="Image 0" descr="assets/icon_FiCrosshair_white.png">    </p:cNvPr>
          <p:cNvPicPr>
            <a:picLocks noChangeAspect="1"/>
          </p:cNvPicPr>
          <p:nvPr/>
        </p:nvPicPr>
        <p:blipFill>
          <a:blip r:embed="rId1"/>
          <a:stretch>
            <a:fillRect/>
          </a:stretch>
        </p:blipFill>
        <p:spPr>
          <a:xfrm>
            <a:off x="7081114" y="1704442"/>
            <a:ext cx="285293" cy="285293"/>
          </a:xfrm>
          <a:prstGeom prst="rect">
            <a:avLst/>
          </a:prstGeom>
        </p:spPr>
      </p:pic>
      <p:sp>
        <p:nvSpPr>
          <p:cNvPr id="7" name="Text 4"/>
          <p:cNvSpPr/>
          <p:nvPr/>
        </p:nvSpPr>
        <p:spPr>
          <a:xfrm>
            <a:off x="7699248" y="1353312"/>
            <a:ext cx="393192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Detect</a:t>
            </a:r>
            <a:endParaRPr lang="en-US" sz="1300" dirty="0"/>
          </a:p>
        </p:txBody>
      </p:sp>
      <p:sp>
        <p:nvSpPr>
          <p:cNvPr id="8" name="Text 5"/>
          <p:cNvSpPr/>
          <p:nvPr/>
        </p:nvSpPr>
        <p:spPr>
          <a:xfrm>
            <a:off x="7699248" y="1719072"/>
            <a:ext cx="3886200" cy="713232"/>
          </a:xfrm>
          <a:prstGeom prst="rect">
            <a:avLst/>
          </a:prstGeom>
          <a:noFill/>
          <a:ln/>
        </p:spPr>
        <p:txBody>
          <a:bodyPr wrap="square" lIns="0" tIns="0" rIns="0" bIns="0" rtlCol="0" anchor="t"/>
          <a:lstStyle/>
          <a:p>
            <a:pPr algn="just" indent="0" marL="0">
              <a:lnSpc>
                <a:spcPct val="112000"/>
              </a:lnSpc>
              <a:buNone/>
            </a:pPr>
            <a:r>
              <a:rPr lang="en-US" sz="1000" dirty="0">
                <a:solidFill>
                  <a:srgbClr val="1A1A1A"/>
                </a:solidFill>
                <a:latin typeface="Arial" pitchFamily="34" charset="0"/>
                <a:ea typeface="Arial" pitchFamily="34" charset="-122"/>
                <a:cs typeface="Arial" pitchFamily="34" charset="-120"/>
              </a:rPr>
              <a:t>Layer-3 precision tests flag Frontal gust and Giro above the Q90 threshold in every architecture.</a:t>
            </a:r>
            <a:endParaRPr lang="en-US" sz="1000" dirty="0"/>
          </a:p>
        </p:txBody>
      </p:sp>
      <p:sp>
        <p:nvSpPr>
          <p:cNvPr id="9" name="Shape 6"/>
          <p:cNvSpPr/>
          <p:nvPr/>
        </p:nvSpPr>
        <p:spPr>
          <a:xfrm>
            <a:off x="6720840" y="2651760"/>
            <a:ext cx="5056632" cy="1298448"/>
          </a:xfrm>
          <a:prstGeom prst="roundRect">
            <a:avLst>
              <a:gd name="adj" fmla="val 4930"/>
            </a:avLst>
          </a:prstGeom>
          <a:solidFill>
            <a:srgbClr val="F1F4F9"/>
          </a:solidFill>
          <a:ln/>
        </p:spPr>
      </p:sp>
      <p:sp>
        <p:nvSpPr>
          <p:cNvPr id="10" name="Shape 7"/>
          <p:cNvSpPr/>
          <p:nvPr/>
        </p:nvSpPr>
        <p:spPr>
          <a:xfrm>
            <a:off x="6949440" y="3017520"/>
            <a:ext cx="548640" cy="548640"/>
          </a:xfrm>
          <a:prstGeom prst="ellipse">
            <a:avLst/>
          </a:prstGeom>
          <a:solidFill>
            <a:srgbClr val="0085AD"/>
          </a:solidFill>
          <a:ln/>
        </p:spPr>
      </p:sp>
      <p:pic>
        <p:nvPicPr>
          <p:cNvPr id="11" name="Image 1" descr="assets/icon_FiSearch_white.png">    </p:cNvPr>
          <p:cNvPicPr>
            <a:picLocks noChangeAspect="1"/>
          </p:cNvPicPr>
          <p:nvPr/>
        </p:nvPicPr>
        <p:blipFill>
          <a:blip r:embed="rId2"/>
          <a:stretch>
            <a:fillRect/>
          </a:stretch>
        </p:blipFill>
        <p:spPr>
          <a:xfrm>
            <a:off x="7081114" y="3149194"/>
            <a:ext cx="285293" cy="285293"/>
          </a:xfrm>
          <a:prstGeom prst="rect">
            <a:avLst/>
          </a:prstGeom>
        </p:spPr>
      </p:pic>
      <p:sp>
        <p:nvSpPr>
          <p:cNvPr id="12" name="Text 8"/>
          <p:cNvSpPr/>
          <p:nvPr/>
        </p:nvSpPr>
        <p:spPr>
          <a:xfrm>
            <a:off x="7699248" y="2798064"/>
            <a:ext cx="393192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Diagnose</a:t>
            </a:r>
            <a:endParaRPr lang="en-US" sz="1300" dirty="0"/>
          </a:p>
        </p:txBody>
      </p:sp>
      <p:sp>
        <p:nvSpPr>
          <p:cNvPr id="13" name="Text 9"/>
          <p:cNvSpPr/>
          <p:nvPr/>
        </p:nvSpPr>
        <p:spPr>
          <a:xfrm>
            <a:off x="7699248" y="3163824"/>
            <a:ext cx="3886200" cy="713232"/>
          </a:xfrm>
          <a:prstGeom prst="rect">
            <a:avLst/>
          </a:prstGeom>
          <a:noFill/>
          <a:ln/>
        </p:spPr>
        <p:txBody>
          <a:bodyPr wrap="square" lIns="0" tIns="0" rIns="0" bIns="0" rtlCol="0" anchor="t"/>
          <a:lstStyle/>
          <a:p>
            <a:pPr algn="just" indent="0" marL="0">
              <a:lnSpc>
                <a:spcPct val="112000"/>
              </a:lnSpc>
              <a:buNone/>
            </a:pPr>
            <a:r>
              <a:rPr lang="en-US" sz="1000" dirty="0">
                <a:solidFill>
                  <a:srgbClr val="1A1A1A"/>
                </a:solidFill>
                <a:latin typeface="Arial" pitchFamily="34" charset="0"/>
                <a:ea typeface="Arial" pitchFamily="34" charset="-122"/>
                <a:cs typeface="Arial" pitchFamily="34" charset="-120"/>
              </a:rPr>
              <a:t>Cross-model failure with healthy splits and coverage points to the data, not the algorithms.</a:t>
            </a:r>
            <a:endParaRPr lang="en-US" sz="1000" dirty="0"/>
          </a:p>
        </p:txBody>
      </p:sp>
      <p:sp>
        <p:nvSpPr>
          <p:cNvPr id="14" name="Shape 10"/>
          <p:cNvSpPr/>
          <p:nvPr/>
        </p:nvSpPr>
        <p:spPr>
          <a:xfrm>
            <a:off x="6720840" y="4096512"/>
            <a:ext cx="5056632" cy="1298448"/>
          </a:xfrm>
          <a:prstGeom prst="roundRect">
            <a:avLst>
              <a:gd name="adj" fmla="val 4930"/>
            </a:avLst>
          </a:prstGeom>
          <a:solidFill>
            <a:srgbClr val="EAF0F6"/>
          </a:solidFill>
          <a:ln/>
        </p:spPr>
      </p:sp>
      <p:sp>
        <p:nvSpPr>
          <p:cNvPr id="15" name="Shape 11"/>
          <p:cNvSpPr/>
          <p:nvPr/>
        </p:nvSpPr>
        <p:spPr>
          <a:xfrm>
            <a:off x="6949440" y="4462272"/>
            <a:ext cx="548640" cy="548640"/>
          </a:xfrm>
          <a:prstGeom prst="ellipse">
            <a:avLst/>
          </a:prstGeom>
          <a:solidFill>
            <a:srgbClr val="00205B"/>
          </a:solidFill>
          <a:ln/>
        </p:spPr>
      </p:sp>
      <p:pic>
        <p:nvPicPr>
          <p:cNvPr id="16" name="Image 2" descr="assets/icon_FiTarget_white.png">    </p:cNvPr>
          <p:cNvPicPr>
            <a:picLocks noChangeAspect="1"/>
          </p:cNvPicPr>
          <p:nvPr/>
        </p:nvPicPr>
        <p:blipFill>
          <a:blip r:embed="rId3"/>
          <a:stretch>
            <a:fillRect/>
          </a:stretch>
        </p:blipFill>
        <p:spPr>
          <a:xfrm>
            <a:off x="7081114" y="4593946"/>
            <a:ext cx="285293" cy="285293"/>
          </a:xfrm>
          <a:prstGeom prst="rect">
            <a:avLst/>
          </a:prstGeom>
        </p:spPr>
      </p:pic>
      <p:sp>
        <p:nvSpPr>
          <p:cNvPr id="17" name="Text 12"/>
          <p:cNvSpPr/>
          <p:nvPr/>
        </p:nvSpPr>
        <p:spPr>
          <a:xfrm>
            <a:off x="7699248" y="4242816"/>
            <a:ext cx="3931920" cy="365760"/>
          </a:xfrm>
          <a:prstGeom prst="rect">
            <a:avLst/>
          </a:prstGeom>
          <a:noFill/>
          <a:ln/>
        </p:spPr>
        <p:txBody>
          <a:bodyPr wrap="square" lIns="0" tIns="0" rIns="0" bIns="0" rtlCol="0" anchor="ctr"/>
          <a:lstStyle/>
          <a:p>
            <a:pPr indent="0" marL="0">
              <a:buNone/>
            </a:pPr>
            <a:r>
              <a:rPr lang="en-US" sz="1300" b="1" dirty="0">
                <a:solidFill>
                  <a:srgbClr val="00205B"/>
                </a:solidFill>
                <a:latin typeface="Arial" pitchFamily="34" charset="0"/>
                <a:ea typeface="Arial" pitchFamily="34" charset="-122"/>
                <a:cs typeface="Arial" pitchFamily="34" charset="-120"/>
              </a:rPr>
              <a:t>Act</a:t>
            </a:r>
            <a:endParaRPr lang="en-US" sz="1300" dirty="0"/>
          </a:p>
        </p:txBody>
      </p:sp>
      <p:sp>
        <p:nvSpPr>
          <p:cNvPr id="18" name="Text 13"/>
          <p:cNvSpPr/>
          <p:nvPr/>
        </p:nvSpPr>
        <p:spPr>
          <a:xfrm>
            <a:off x="7699248" y="4608576"/>
            <a:ext cx="3886200" cy="713232"/>
          </a:xfrm>
          <a:prstGeom prst="rect">
            <a:avLst/>
          </a:prstGeom>
          <a:noFill/>
          <a:ln/>
        </p:spPr>
        <p:txBody>
          <a:bodyPr wrap="square" lIns="0" tIns="0" rIns="0" bIns="0" rtlCol="0" anchor="t"/>
          <a:lstStyle/>
          <a:p>
            <a:pPr algn="just" indent="0" marL="0">
              <a:lnSpc>
                <a:spcPct val="112000"/>
              </a:lnSpc>
              <a:buNone/>
            </a:pPr>
            <a:r>
              <a:rPr lang="en-US" sz="1000" dirty="0">
                <a:solidFill>
                  <a:srgbClr val="1A1A1A"/>
                </a:solidFill>
                <a:latin typeface="Arial" pitchFamily="34" charset="0"/>
                <a:ea typeface="Arial" pitchFamily="34" charset="-122"/>
                <a:cs typeface="Arial" pitchFamily="34" charset="-120"/>
              </a:rPr>
              <a:t>Targeted data enrichment is scheduled; retraining effort is redirected, not wasted.</a:t>
            </a:r>
            <a:endParaRPr lang="en-US" sz="1000" dirty="0"/>
          </a:p>
        </p:txBody>
      </p:sp>
      <p:sp>
        <p:nvSpPr>
          <p:cNvPr id="19" name="Shape 14"/>
          <p:cNvSpPr/>
          <p:nvPr/>
        </p:nvSpPr>
        <p:spPr>
          <a:xfrm>
            <a:off x="411480" y="5486400"/>
            <a:ext cx="11365992" cy="841248"/>
          </a:xfrm>
          <a:prstGeom prst="roundRect">
            <a:avLst>
              <a:gd name="adj" fmla="val 7609"/>
            </a:avLst>
          </a:prstGeom>
          <a:solidFill>
            <a:srgbClr val="00205B"/>
          </a:solidFill>
          <a:ln/>
        </p:spPr>
      </p:sp>
      <p:sp>
        <p:nvSpPr>
          <p:cNvPr id="20" name="Text 15"/>
          <p:cNvSpPr/>
          <p:nvPr/>
        </p:nvSpPr>
        <p:spPr>
          <a:xfrm>
            <a:off x="731520" y="5559552"/>
            <a:ext cx="10789920" cy="6949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The avoided cost:  </a:t>
            </a:r>
            <a:pPr algn="ctr" indent="0" marL="0">
              <a:buNone/>
            </a:pPr>
            <a:r>
              <a:rPr lang="en-US" sz="1200" dirty="0">
                <a:solidFill>
                  <a:srgbClr val="D9E5F2"/>
                </a:solidFill>
                <a:latin typeface="Arial" pitchFamily="34" charset="0"/>
                <a:ea typeface="Arial" pitchFamily="34" charset="-122"/>
                <a:cs typeface="Arial" pitchFamily="34" charset="-120"/>
              </a:rPr>
              <a:t>months of speculative retraining and compute, replaced by one evidence-based data acquisition decision.</a:t>
            </a:r>
            <a:endParaRPr lang="en-US" sz="120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Why Invest in an MLOps Platform</a:t>
            </a:r>
            <a:endParaRPr lang="en-US" sz="2700" dirty="0"/>
          </a:p>
        </p:txBody>
      </p:sp>
      <p:sp>
        <p:nvSpPr>
          <p:cNvPr id="3" name="Shape 1"/>
          <p:cNvSpPr/>
          <p:nvPr/>
        </p:nvSpPr>
        <p:spPr>
          <a:xfrm>
            <a:off x="411480" y="1298448"/>
            <a:ext cx="5577840" cy="2231136"/>
          </a:xfrm>
          <a:prstGeom prst="roundRect">
            <a:avLst>
              <a:gd name="adj" fmla="val 2869"/>
            </a:avLst>
          </a:prstGeom>
          <a:solidFill>
            <a:srgbClr val="F1F4F9"/>
          </a:solidFill>
          <a:ln/>
        </p:spPr>
      </p:sp>
      <p:sp>
        <p:nvSpPr>
          <p:cNvPr id="4" name="Shape 2"/>
          <p:cNvSpPr/>
          <p:nvPr/>
        </p:nvSpPr>
        <p:spPr>
          <a:xfrm>
            <a:off x="649224" y="1536192"/>
            <a:ext cx="566928" cy="566928"/>
          </a:xfrm>
          <a:prstGeom prst="ellipse">
            <a:avLst/>
          </a:prstGeom>
          <a:solidFill>
            <a:srgbClr val="0085AD"/>
          </a:solidFill>
          <a:ln/>
        </p:spPr>
      </p:sp>
      <p:pic>
        <p:nvPicPr>
          <p:cNvPr id="5" name="Image 0" descr="assets/icon_FiRepeat_white.png">    </p:cNvPr>
          <p:cNvPicPr>
            <a:picLocks noChangeAspect="1"/>
          </p:cNvPicPr>
          <p:nvPr/>
        </p:nvPicPr>
        <p:blipFill>
          <a:blip r:embed="rId1"/>
          <a:stretch>
            <a:fillRect/>
          </a:stretch>
        </p:blipFill>
        <p:spPr>
          <a:xfrm>
            <a:off x="785287" y="1672255"/>
            <a:ext cx="294803" cy="294803"/>
          </a:xfrm>
          <a:prstGeom prst="rect">
            <a:avLst/>
          </a:prstGeom>
        </p:spPr>
      </p:pic>
      <p:sp>
        <p:nvSpPr>
          <p:cNvPr id="6" name="Text 3"/>
          <p:cNvSpPr/>
          <p:nvPr/>
        </p:nvSpPr>
        <p:spPr>
          <a:xfrm>
            <a:off x="1371600" y="1572768"/>
            <a:ext cx="4389120" cy="457200"/>
          </a:xfrm>
          <a:prstGeom prst="rect">
            <a:avLst/>
          </a:prstGeom>
          <a:noFill/>
          <a:ln/>
        </p:spPr>
        <p:txBody>
          <a:bodyPr wrap="square" lIns="0" tIns="0" rIns="0" bIns="0" rtlCol="0" anchor="ctr"/>
          <a:lstStyle/>
          <a:p>
            <a:pPr indent="0" marL="0">
              <a:buNone/>
            </a:pPr>
            <a:r>
              <a:rPr lang="en-US" sz="1600" b="1" dirty="0">
                <a:solidFill>
                  <a:srgbClr val="00205B"/>
                </a:solidFill>
                <a:latin typeface="Arial" pitchFamily="34" charset="0"/>
                <a:ea typeface="Arial" pitchFamily="34" charset="-122"/>
                <a:cs typeface="Arial" pitchFamily="34" charset="-120"/>
              </a:rPr>
              <a:t>Reproducibility</a:t>
            </a:r>
            <a:endParaRPr lang="en-US" sz="1600" dirty="0"/>
          </a:p>
        </p:txBody>
      </p:sp>
      <p:sp>
        <p:nvSpPr>
          <p:cNvPr id="7" name="Text 4"/>
          <p:cNvSpPr/>
          <p:nvPr/>
        </p:nvSpPr>
        <p:spPr>
          <a:xfrm>
            <a:off x="667512" y="2167128"/>
            <a:ext cx="5074920" cy="1261872"/>
          </a:xfrm>
          <a:prstGeom prst="rect">
            <a:avLst/>
          </a:prstGeom>
          <a:noFill/>
          <a:ln/>
        </p:spPr>
        <p:txBody>
          <a:bodyPr wrap="square" lIns="0" tIns="0" rIns="0" bIns="0" rtlCol="0" anchor="t"/>
          <a:lstStyle/>
          <a:p>
            <a:pPr algn="just" indent="0" marL="0">
              <a:lnSpc>
                <a:spcPct val="118000"/>
              </a:lnSpc>
              <a:buNone/>
            </a:pPr>
            <a:r>
              <a:rPr lang="en-US" sz="1030" dirty="0">
                <a:solidFill>
                  <a:srgbClr val="1A1A1A"/>
                </a:solidFill>
                <a:latin typeface="Arial" pitchFamily="34" charset="0"/>
                <a:ea typeface="Arial" pitchFamily="34" charset="-122"/>
                <a:cs typeface="Arial" pitchFamily="34" charset="-120"/>
              </a:rPr>
              <a:t>Any delivered model can be rebuilt exactly from its versioned configuration and tracked run — the audit trail that certification-minded engineering demands, produced as a by-product of normal work rather than as an afterthought.</a:t>
            </a:r>
            <a:endParaRPr lang="en-US" sz="1030" dirty="0"/>
          </a:p>
        </p:txBody>
      </p:sp>
      <p:sp>
        <p:nvSpPr>
          <p:cNvPr id="8" name="Shape 5"/>
          <p:cNvSpPr/>
          <p:nvPr/>
        </p:nvSpPr>
        <p:spPr>
          <a:xfrm>
            <a:off x="6199632" y="1298448"/>
            <a:ext cx="5577840" cy="2231136"/>
          </a:xfrm>
          <a:prstGeom prst="roundRect">
            <a:avLst>
              <a:gd name="adj" fmla="val 2869"/>
            </a:avLst>
          </a:prstGeom>
          <a:solidFill>
            <a:srgbClr val="EAF0F6"/>
          </a:solidFill>
          <a:ln/>
        </p:spPr>
      </p:sp>
      <p:sp>
        <p:nvSpPr>
          <p:cNvPr id="9" name="Shape 6"/>
          <p:cNvSpPr/>
          <p:nvPr/>
        </p:nvSpPr>
        <p:spPr>
          <a:xfrm>
            <a:off x="6437376" y="1536192"/>
            <a:ext cx="566928" cy="566928"/>
          </a:xfrm>
          <a:prstGeom prst="ellipse">
            <a:avLst/>
          </a:prstGeom>
          <a:solidFill>
            <a:srgbClr val="00205B"/>
          </a:solidFill>
          <a:ln/>
        </p:spPr>
      </p:sp>
      <p:pic>
        <p:nvPicPr>
          <p:cNvPr id="10" name="Image 1" descr="assets/icon_FiZap_white.png">    </p:cNvPr>
          <p:cNvPicPr>
            <a:picLocks noChangeAspect="1"/>
          </p:cNvPicPr>
          <p:nvPr/>
        </p:nvPicPr>
        <p:blipFill>
          <a:blip r:embed="rId2"/>
          <a:stretch>
            <a:fillRect/>
          </a:stretch>
        </p:blipFill>
        <p:spPr>
          <a:xfrm>
            <a:off x="6573439" y="1672255"/>
            <a:ext cx="294803" cy="294803"/>
          </a:xfrm>
          <a:prstGeom prst="rect">
            <a:avLst/>
          </a:prstGeom>
        </p:spPr>
      </p:pic>
      <p:sp>
        <p:nvSpPr>
          <p:cNvPr id="11" name="Text 7"/>
          <p:cNvSpPr/>
          <p:nvPr/>
        </p:nvSpPr>
        <p:spPr>
          <a:xfrm>
            <a:off x="7159752" y="1572768"/>
            <a:ext cx="4389120" cy="457200"/>
          </a:xfrm>
          <a:prstGeom prst="rect">
            <a:avLst/>
          </a:prstGeom>
          <a:noFill/>
          <a:ln/>
        </p:spPr>
        <p:txBody>
          <a:bodyPr wrap="square" lIns="0" tIns="0" rIns="0" bIns="0" rtlCol="0" anchor="ctr"/>
          <a:lstStyle/>
          <a:p>
            <a:pPr indent="0" marL="0">
              <a:buNone/>
            </a:pPr>
            <a:r>
              <a:rPr lang="en-US" sz="1600" b="1" dirty="0">
                <a:solidFill>
                  <a:srgbClr val="00205B"/>
                </a:solidFill>
                <a:latin typeface="Arial" pitchFamily="34" charset="0"/>
                <a:ea typeface="Arial" pitchFamily="34" charset="-122"/>
                <a:cs typeface="Arial" pitchFamily="34" charset="-120"/>
              </a:rPr>
              <a:t>Speed</a:t>
            </a:r>
            <a:endParaRPr lang="en-US" sz="1600" dirty="0"/>
          </a:p>
        </p:txBody>
      </p:sp>
      <p:sp>
        <p:nvSpPr>
          <p:cNvPr id="12" name="Text 8"/>
          <p:cNvSpPr/>
          <p:nvPr/>
        </p:nvSpPr>
        <p:spPr>
          <a:xfrm>
            <a:off x="6455664" y="2167128"/>
            <a:ext cx="5074920" cy="1261872"/>
          </a:xfrm>
          <a:prstGeom prst="rect">
            <a:avLst/>
          </a:prstGeom>
          <a:noFill/>
          <a:ln/>
        </p:spPr>
        <p:txBody>
          <a:bodyPr wrap="square" lIns="0" tIns="0" rIns="0" bIns="0" rtlCol="0" anchor="t"/>
          <a:lstStyle/>
          <a:p>
            <a:pPr algn="just" indent="0" marL="0">
              <a:lnSpc>
                <a:spcPct val="118000"/>
              </a:lnSpc>
              <a:buNone/>
            </a:pPr>
            <a:r>
              <a:rPr lang="en-US" sz="1030" dirty="0">
                <a:solidFill>
                  <a:srgbClr val="1A1A1A"/>
                </a:solidFill>
                <a:latin typeface="Arial" pitchFamily="34" charset="0"/>
                <a:ea typeface="Arial" pitchFamily="34" charset="-122"/>
                <a:cs typeface="Arial" pitchFamily="34" charset="-120"/>
              </a:rPr>
              <a:t>The nine-stage skeleton, reusable node library and one-command scaffolding compress surrogate development from a bespoke, weeks-long effort into days — and every stage built for one programme is immediately available to the next.</a:t>
            </a:r>
            <a:endParaRPr lang="en-US" sz="1030" dirty="0"/>
          </a:p>
        </p:txBody>
      </p:sp>
      <p:sp>
        <p:nvSpPr>
          <p:cNvPr id="13" name="Shape 9"/>
          <p:cNvSpPr/>
          <p:nvPr/>
        </p:nvSpPr>
        <p:spPr>
          <a:xfrm>
            <a:off x="411480" y="3694176"/>
            <a:ext cx="5577840" cy="2231136"/>
          </a:xfrm>
          <a:prstGeom prst="roundRect">
            <a:avLst>
              <a:gd name="adj" fmla="val 2869"/>
            </a:avLst>
          </a:prstGeom>
          <a:solidFill>
            <a:srgbClr val="EAF0F6"/>
          </a:solidFill>
          <a:ln/>
        </p:spPr>
      </p:sp>
      <p:sp>
        <p:nvSpPr>
          <p:cNvPr id="14" name="Shape 10"/>
          <p:cNvSpPr/>
          <p:nvPr/>
        </p:nvSpPr>
        <p:spPr>
          <a:xfrm>
            <a:off x="649224" y="3931920"/>
            <a:ext cx="566928" cy="566928"/>
          </a:xfrm>
          <a:prstGeom prst="ellipse">
            <a:avLst/>
          </a:prstGeom>
          <a:solidFill>
            <a:srgbClr val="00205B"/>
          </a:solidFill>
          <a:ln/>
        </p:spPr>
      </p:sp>
      <p:pic>
        <p:nvPicPr>
          <p:cNvPr id="15" name="Image 2" descr="assets/icon_FiShield_white.png">    </p:cNvPr>
          <p:cNvPicPr>
            <a:picLocks noChangeAspect="1"/>
          </p:cNvPicPr>
          <p:nvPr/>
        </p:nvPicPr>
        <p:blipFill>
          <a:blip r:embed="rId3"/>
          <a:stretch>
            <a:fillRect/>
          </a:stretch>
        </p:blipFill>
        <p:spPr>
          <a:xfrm>
            <a:off x="785287" y="4067983"/>
            <a:ext cx="294803" cy="294803"/>
          </a:xfrm>
          <a:prstGeom prst="rect">
            <a:avLst/>
          </a:prstGeom>
        </p:spPr>
      </p:pic>
      <p:sp>
        <p:nvSpPr>
          <p:cNvPr id="16" name="Text 11"/>
          <p:cNvSpPr/>
          <p:nvPr/>
        </p:nvSpPr>
        <p:spPr>
          <a:xfrm>
            <a:off x="1371600" y="3968496"/>
            <a:ext cx="4389120" cy="457200"/>
          </a:xfrm>
          <a:prstGeom prst="rect">
            <a:avLst/>
          </a:prstGeom>
          <a:noFill/>
          <a:ln/>
        </p:spPr>
        <p:txBody>
          <a:bodyPr wrap="square" lIns="0" tIns="0" rIns="0" bIns="0" rtlCol="0" anchor="ctr"/>
          <a:lstStyle/>
          <a:p>
            <a:pPr indent="0" marL="0">
              <a:buNone/>
            </a:pPr>
            <a:r>
              <a:rPr lang="en-US" sz="1600" b="1" dirty="0">
                <a:solidFill>
                  <a:srgbClr val="00205B"/>
                </a:solidFill>
                <a:latin typeface="Arial" pitchFamily="34" charset="0"/>
                <a:ea typeface="Arial" pitchFamily="34" charset="-122"/>
                <a:cs typeface="Arial" pitchFamily="34" charset="-120"/>
              </a:rPr>
              <a:t>Trust</a:t>
            </a:r>
            <a:endParaRPr lang="en-US" sz="1600" dirty="0"/>
          </a:p>
        </p:txBody>
      </p:sp>
      <p:sp>
        <p:nvSpPr>
          <p:cNvPr id="17" name="Text 12"/>
          <p:cNvSpPr/>
          <p:nvPr/>
        </p:nvSpPr>
        <p:spPr>
          <a:xfrm>
            <a:off x="667512" y="4562856"/>
            <a:ext cx="5074920" cy="1261872"/>
          </a:xfrm>
          <a:prstGeom prst="rect">
            <a:avLst/>
          </a:prstGeom>
          <a:noFill/>
          <a:ln/>
        </p:spPr>
        <p:txBody>
          <a:bodyPr wrap="square" lIns="0" tIns="0" rIns="0" bIns="0" rtlCol="0" anchor="t"/>
          <a:lstStyle/>
          <a:p>
            <a:pPr algn="just" indent="0" marL="0">
              <a:lnSpc>
                <a:spcPct val="118000"/>
              </a:lnSpc>
              <a:buNone/>
            </a:pPr>
            <a:r>
              <a:rPr lang="en-US" sz="1030" dirty="0">
                <a:solidFill>
                  <a:srgbClr val="1A1A1A"/>
                </a:solidFill>
                <a:latin typeface="Arial" pitchFamily="34" charset="0"/>
                <a:ea typeface="Arial" pitchFamily="34" charset="-122"/>
                <a:cs typeface="Arial" pitchFamily="34" charset="-120"/>
              </a:rPr>
              <a:t>A mandatory four-layer statistical gate and automatically generated evidence reports mean that when a surrogate ships, its accuracy, bias and domain of validity are documented — and when it fails, the failure is diagnosed, not debated.</a:t>
            </a:r>
            <a:endParaRPr lang="en-US" sz="1030" dirty="0"/>
          </a:p>
        </p:txBody>
      </p:sp>
      <p:sp>
        <p:nvSpPr>
          <p:cNvPr id="18" name="Shape 13"/>
          <p:cNvSpPr/>
          <p:nvPr/>
        </p:nvSpPr>
        <p:spPr>
          <a:xfrm>
            <a:off x="6199632" y="3694176"/>
            <a:ext cx="5577840" cy="2231136"/>
          </a:xfrm>
          <a:prstGeom prst="roundRect">
            <a:avLst>
              <a:gd name="adj" fmla="val 2869"/>
            </a:avLst>
          </a:prstGeom>
          <a:solidFill>
            <a:srgbClr val="F1F4F9"/>
          </a:solidFill>
          <a:ln/>
        </p:spPr>
      </p:sp>
      <p:sp>
        <p:nvSpPr>
          <p:cNvPr id="19" name="Shape 14"/>
          <p:cNvSpPr/>
          <p:nvPr/>
        </p:nvSpPr>
        <p:spPr>
          <a:xfrm>
            <a:off x="6437376" y="3931920"/>
            <a:ext cx="566928" cy="566928"/>
          </a:xfrm>
          <a:prstGeom prst="ellipse">
            <a:avLst/>
          </a:prstGeom>
          <a:solidFill>
            <a:srgbClr val="0085AD"/>
          </a:solidFill>
          <a:ln/>
        </p:spPr>
      </p:sp>
      <p:pic>
        <p:nvPicPr>
          <p:cNvPr id="20" name="Image 3" descr="assets/icon_FiTrendingUp_white.png">    </p:cNvPr>
          <p:cNvPicPr>
            <a:picLocks noChangeAspect="1"/>
          </p:cNvPicPr>
          <p:nvPr/>
        </p:nvPicPr>
        <p:blipFill>
          <a:blip r:embed="rId4"/>
          <a:stretch>
            <a:fillRect/>
          </a:stretch>
        </p:blipFill>
        <p:spPr>
          <a:xfrm>
            <a:off x="6573439" y="4067983"/>
            <a:ext cx="294803" cy="294803"/>
          </a:xfrm>
          <a:prstGeom prst="rect">
            <a:avLst/>
          </a:prstGeom>
        </p:spPr>
      </p:pic>
      <p:sp>
        <p:nvSpPr>
          <p:cNvPr id="21" name="Text 15"/>
          <p:cNvSpPr/>
          <p:nvPr/>
        </p:nvSpPr>
        <p:spPr>
          <a:xfrm>
            <a:off x="7159752" y="3968496"/>
            <a:ext cx="4389120" cy="457200"/>
          </a:xfrm>
          <a:prstGeom prst="rect">
            <a:avLst/>
          </a:prstGeom>
          <a:noFill/>
          <a:ln/>
        </p:spPr>
        <p:txBody>
          <a:bodyPr wrap="square" lIns="0" tIns="0" rIns="0" bIns="0" rtlCol="0" anchor="ctr"/>
          <a:lstStyle/>
          <a:p>
            <a:pPr indent="0" marL="0">
              <a:buNone/>
            </a:pPr>
            <a:r>
              <a:rPr lang="en-US" sz="1600" b="1" dirty="0">
                <a:solidFill>
                  <a:srgbClr val="00205B"/>
                </a:solidFill>
                <a:latin typeface="Arial" pitchFamily="34" charset="0"/>
                <a:ea typeface="Arial" pitchFamily="34" charset="-122"/>
                <a:cs typeface="Arial" pitchFamily="34" charset="-120"/>
              </a:rPr>
              <a:t>Scale</a:t>
            </a:r>
            <a:endParaRPr lang="en-US" sz="1600" dirty="0"/>
          </a:p>
        </p:txBody>
      </p:sp>
      <p:sp>
        <p:nvSpPr>
          <p:cNvPr id="22" name="Text 16"/>
          <p:cNvSpPr/>
          <p:nvPr/>
        </p:nvSpPr>
        <p:spPr>
          <a:xfrm>
            <a:off x="6455664" y="4562856"/>
            <a:ext cx="5074920" cy="1261872"/>
          </a:xfrm>
          <a:prstGeom prst="rect">
            <a:avLst/>
          </a:prstGeom>
          <a:noFill/>
          <a:ln/>
        </p:spPr>
        <p:txBody>
          <a:bodyPr wrap="square" lIns="0" tIns="0" rIns="0" bIns="0" rtlCol="0" anchor="t"/>
          <a:lstStyle/>
          <a:p>
            <a:pPr algn="just" indent="0" marL="0">
              <a:lnSpc>
                <a:spcPct val="118000"/>
              </a:lnSpc>
              <a:buNone/>
            </a:pPr>
            <a:r>
              <a:rPr lang="en-US" sz="1030" dirty="0">
                <a:solidFill>
                  <a:srgbClr val="1A1A1A"/>
                </a:solidFill>
                <a:latin typeface="Arial" pitchFamily="34" charset="0"/>
                <a:ea typeface="Arial" pitchFamily="34" charset="-122"/>
                <a:cs typeface="Arial" pitchFamily="34" charset="-120"/>
              </a:rPr>
              <a:t>One platform serves every discipline: fatigue today, aerodynamic loads tomorrow, any simulation-backed domain after that. Cloud-ready storage, MLflow tracking and ONNX export turn individual models into an organisational asset base.</a:t>
            </a:r>
            <a:endParaRPr lang="en-US" sz="1030" dirty="0"/>
          </a:p>
        </p:txBody>
      </p:sp>
      <p:sp>
        <p:nvSpPr>
          <p:cNvPr id="23" name="Text 17"/>
          <p:cNvSpPr/>
          <p:nvPr/>
        </p:nvSpPr>
        <p:spPr>
          <a:xfrm>
            <a:off x="1097280" y="6053328"/>
            <a:ext cx="9994392" cy="502920"/>
          </a:xfrm>
          <a:prstGeom prst="rect">
            <a:avLst/>
          </a:prstGeom>
          <a:noFill/>
          <a:ln/>
        </p:spPr>
        <p:txBody>
          <a:bodyPr wrap="square" lIns="0" tIns="0" rIns="0" bIns="0" rtlCol="0" anchor="ctr"/>
          <a:lstStyle/>
          <a:p>
            <a:pPr algn="ctr" indent="0" marL="0">
              <a:buNone/>
            </a:pPr>
            <a:r>
              <a:rPr lang="en-US" sz="1150" b="1" i="1" dirty="0">
                <a:solidFill>
                  <a:srgbClr val="0085AD"/>
                </a:solidFill>
                <a:latin typeface="Arial" pitchFamily="34" charset="0"/>
                <a:ea typeface="Arial" pitchFamily="34" charset="-122"/>
                <a:cs typeface="Arial" pitchFamily="34" charset="-120"/>
              </a:rPr>
              <a:t>The question is not whether surrogate models will enter the engineering process — they already have. The question is whether they arrive as untracked scripts or as governed, validated, reusable assets.</a:t>
            </a:r>
            <a:endParaRPr lang="en-US" sz="115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11480" y="475488"/>
            <a:ext cx="11365992" cy="658368"/>
          </a:xfrm>
          <a:prstGeom prst="rect">
            <a:avLst/>
          </a:prstGeom>
          <a:noFill/>
          <a:ln/>
        </p:spPr>
        <p:txBody>
          <a:bodyPr wrap="square" lIns="0" tIns="0" rIns="0" bIns="0" rtlCol="0" anchor="ctr"/>
          <a:lstStyle/>
          <a:p>
            <a:pPr algn="l" indent="0" marL="0">
              <a:buNone/>
            </a:pPr>
            <a:r>
              <a:rPr lang="en-US" sz="2700" b="1" dirty="0">
                <a:solidFill>
                  <a:srgbClr val="00205B"/>
                </a:solidFill>
                <a:latin typeface="Arial" pitchFamily="34" charset="0"/>
                <a:ea typeface="Arial" pitchFamily="34" charset="-122"/>
                <a:cs typeface="Arial" pitchFamily="34" charset="-120"/>
              </a:rPr>
              <a:t>Roadmap and Next Steps</a:t>
            </a:r>
            <a:endParaRPr lang="en-US" sz="2700" dirty="0"/>
          </a:p>
        </p:txBody>
      </p:sp>
      <p:sp>
        <p:nvSpPr>
          <p:cNvPr id="3" name="Shape 1"/>
          <p:cNvSpPr/>
          <p:nvPr/>
        </p:nvSpPr>
        <p:spPr>
          <a:xfrm>
            <a:off x="411480" y="1371600"/>
            <a:ext cx="2697480" cy="3200400"/>
          </a:xfrm>
          <a:prstGeom prst="roundRect">
            <a:avLst>
              <a:gd name="adj" fmla="val 2373"/>
            </a:avLst>
          </a:prstGeom>
          <a:solidFill>
            <a:srgbClr val="F1F4F9"/>
          </a:solidFill>
          <a:ln/>
        </p:spPr>
      </p:sp>
      <p:sp>
        <p:nvSpPr>
          <p:cNvPr id="4" name="Shape 2"/>
          <p:cNvSpPr/>
          <p:nvPr/>
        </p:nvSpPr>
        <p:spPr>
          <a:xfrm>
            <a:off x="630936" y="1591056"/>
            <a:ext cx="512064" cy="512064"/>
          </a:xfrm>
          <a:prstGeom prst="ellipse">
            <a:avLst/>
          </a:prstGeom>
          <a:solidFill>
            <a:srgbClr val="0085AD"/>
          </a:solidFill>
          <a:ln/>
        </p:spPr>
      </p:sp>
      <p:sp>
        <p:nvSpPr>
          <p:cNvPr id="5" name="Text 3"/>
          <p:cNvSpPr/>
          <p:nvPr/>
        </p:nvSpPr>
        <p:spPr>
          <a:xfrm>
            <a:off x="630936" y="159105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pic>
        <p:nvPicPr>
          <p:cNvPr id="6" name="Image 0" descr="assets/icon_FiDatabase_navy.png">    </p:cNvPr>
          <p:cNvPicPr>
            <a:picLocks noChangeAspect="1"/>
          </p:cNvPicPr>
          <p:nvPr/>
        </p:nvPicPr>
        <p:blipFill>
          <a:blip r:embed="rId1"/>
          <a:stretch>
            <a:fillRect/>
          </a:stretch>
        </p:blipFill>
        <p:spPr>
          <a:xfrm>
            <a:off x="2468880" y="1627632"/>
            <a:ext cx="438912" cy="438912"/>
          </a:xfrm>
          <a:prstGeom prst="rect">
            <a:avLst/>
          </a:prstGeom>
        </p:spPr>
      </p:pic>
      <p:sp>
        <p:nvSpPr>
          <p:cNvPr id="7" name="Text 4"/>
          <p:cNvSpPr/>
          <p:nvPr/>
        </p:nvSpPr>
        <p:spPr>
          <a:xfrm>
            <a:off x="630936" y="2286000"/>
            <a:ext cx="2286000" cy="640080"/>
          </a:xfrm>
          <a:prstGeom prst="rect">
            <a:avLst/>
          </a:prstGeom>
          <a:noFill/>
          <a:ln/>
        </p:spPr>
        <p:txBody>
          <a:bodyPr wrap="square" lIns="0" tIns="0" rIns="0" bIns="0" rtlCol="0" anchor="ctr"/>
          <a:lstStyle/>
          <a:p>
            <a:pPr indent="0" marL="0">
              <a:lnSpc>
                <a:spcPct val="105000"/>
              </a:lnSpc>
              <a:buNone/>
            </a:pPr>
            <a:r>
              <a:rPr lang="en-US" sz="1300" b="1" dirty="0">
                <a:solidFill>
                  <a:srgbClr val="00205B"/>
                </a:solidFill>
                <a:latin typeface="Arial" pitchFamily="34" charset="0"/>
                <a:ea typeface="Arial" pitchFamily="34" charset="-122"/>
                <a:cs typeface="Arial" pitchFamily="34" charset="-120"/>
              </a:rPr>
              <a:t>Production datasets</a:t>
            </a:r>
            <a:endParaRPr lang="en-US" sz="1300" dirty="0"/>
          </a:p>
        </p:txBody>
      </p:sp>
      <p:sp>
        <p:nvSpPr>
          <p:cNvPr id="8" name="Text 5"/>
          <p:cNvSpPr/>
          <p:nvPr/>
        </p:nvSpPr>
        <p:spPr>
          <a:xfrm>
            <a:off x="630936" y="2926080"/>
            <a:ext cx="2267712" cy="1536192"/>
          </a:xfrm>
          <a:prstGeom prst="rect">
            <a:avLst/>
          </a:prstGeom>
          <a:noFill/>
          <a:ln/>
        </p:spPr>
        <p:txBody>
          <a:bodyPr wrap="square" lIns="0" tIns="0" rIns="0" bIns="0" rtlCol="0" anchor="t"/>
          <a:lstStyle/>
          <a:p>
            <a:pPr algn="just" indent="0" marL="0">
              <a:lnSpc>
                <a:spcPct val="116000"/>
              </a:lnSpc>
              <a:buNone/>
            </a:pPr>
            <a:r>
              <a:rPr lang="en-US" sz="980" dirty="0">
                <a:solidFill>
                  <a:srgbClr val="1A1A1A"/>
                </a:solidFill>
                <a:latin typeface="Arial" pitchFamily="34" charset="0"/>
                <a:ea typeface="Arial" pitchFamily="34" charset="-122"/>
                <a:cs typeface="Arial" pitchFamily="34" charset="-120"/>
              </a:rPr>
              <a:t>Train UCLoads on the full 357 k-point CFD dataset; scale the PyTorch network (256 units, 6 residual blocks) and confirm Q90 compliance on deterministic data.</a:t>
            </a:r>
            <a:endParaRPr lang="en-US" sz="980" dirty="0"/>
          </a:p>
        </p:txBody>
      </p:sp>
      <p:sp>
        <p:nvSpPr>
          <p:cNvPr id="9" name="Shape 6"/>
          <p:cNvSpPr/>
          <p:nvPr/>
        </p:nvSpPr>
        <p:spPr>
          <a:xfrm>
            <a:off x="3300984" y="1371600"/>
            <a:ext cx="2697480" cy="3200400"/>
          </a:xfrm>
          <a:prstGeom prst="roundRect">
            <a:avLst>
              <a:gd name="adj" fmla="val 2373"/>
            </a:avLst>
          </a:prstGeom>
          <a:solidFill>
            <a:srgbClr val="EAF0F6"/>
          </a:solidFill>
          <a:ln/>
        </p:spPr>
      </p:sp>
      <p:sp>
        <p:nvSpPr>
          <p:cNvPr id="10" name="Shape 7"/>
          <p:cNvSpPr/>
          <p:nvPr/>
        </p:nvSpPr>
        <p:spPr>
          <a:xfrm>
            <a:off x="3520440" y="1591056"/>
            <a:ext cx="512064" cy="512064"/>
          </a:xfrm>
          <a:prstGeom prst="ellipse">
            <a:avLst/>
          </a:prstGeom>
          <a:solidFill>
            <a:srgbClr val="00205B"/>
          </a:solidFill>
          <a:ln/>
        </p:spPr>
      </p:sp>
      <p:sp>
        <p:nvSpPr>
          <p:cNvPr id="11" name="Text 8"/>
          <p:cNvSpPr/>
          <p:nvPr/>
        </p:nvSpPr>
        <p:spPr>
          <a:xfrm>
            <a:off x="3520440" y="159105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pic>
        <p:nvPicPr>
          <p:cNvPr id="12" name="Image 1" descr="assets/icon_FiTool_navy.png">    </p:cNvPr>
          <p:cNvPicPr>
            <a:picLocks noChangeAspect="1"/>
          </p:cNvPicPr>
          <p:nvPr/>
        </p:nvPicPr>
        <p:blipFill>
          <a:blip r:embed="rId2"/>
          <a:stretch>
            <a:fillRect/>
          </a:stretch>
        </p:blipFill>
        <p:spPr>
          <a:xfrm>
            <a:off x="5358384" y="1627632"/>
            <a:ext cx="438912" cy="438912"/>
          </a:xfrm>
          <a:prstGeom prst="rect">
            <a:avLst/>
          </a:prstGeom>
        </p:spPr>
      </p:pic>
      <p:sp>
        <p:nvSpPr>
          <p:cNvPr id="13" name="Text 9"/>
          <p:cNvSpPr/>
          <p:nvPr/>
        </p:nvSpPr>
        <p:spPr>
          <a:xfrm>
            <a:off x="3520440" y="2286000"/>
            <a:ext cx="2286000" cy="640080"/>
          </a:xfrm>
          <a:prstGeom prst="rect">
            <a:avLst/>
          </a:prstGeom>
          <a:noFill/>
          <a:ln/>
        </p:spPr>
        <p:txBody>
          <a:bodyPr wrap="square" lIns="0" tIns="0" rIns="0" bIns="0" rtlCol="0" anchor="ctr"/>
          <a:lstStyle/>
          <a:p>
            <a:pPr indent="0" marL="0">
              <a:lnSpc>
                <a:spcPct val="105000"/>
              </a:lnSpc>
              <a:buNone/>
            </a:pPr>
            <a:r>
              <a:rPr lang="en-US" sz="1300" b="1" dirty="0">
                <a:solidFill>
                  <a:srgbClr val="00205B"/>
                </a:solidFill>
                <a:latin typeface="Arial" pitchFamily="34" charset="0"/>
                <a:ea typeface="Arial" pitchFamily="34" charset="-122"/>
                <a:cs typeface="Arial" pitchFamily="34" charset="-120"/>
              </a:rPr>
              <a:t>Engineering hardening</a:t>
            </a:r>
            <a:endParaRPr lang="en-US" sz="1300" dirty="0"/>
          </a:p>
        </p:txBody>
      </p:sp>
      <p:sp>
        <p:nvSpPr>
          <p:cNvPr id="14" name="Text 10"/>
          <p:cNvSpPr/>
          <p:nvPr/>
        </p:nvSpPr>
        <p:spPr>
          <a:xfrm>
            <a:off x="3520440" y="2926080"/>
            <a:ext cx="2267712" cy="1536192"/>
          </a:xfrm>
          <a:prstGeom prst="rect">
            <a:avLst/>
          </a:prstGeom>
          <a:noFill/>
          <a:ln/>
        </p:spPr>
        <p:txBody>
          <a:bodyPr wrap="square" lIns="0" tIns="0" rIns="0" bIns="0" rtlCol="0" anchor="t"/>
          <a:lstStyle/>
          <a:p>
            <a:pPr algn="just" indent="0" marL="0">
              <a:lnSpc>
                <a:spcPct val="116000"/>
              </a:lnSpc>
              <a:buNone/>
            </a:pPr>
            <a:r>
              <a:rPr lang="en-US" sz="980" dirty="0">
                <a:solidFill>
                  <a:srgbClr val="1A1A1A"/>
                </a:solidFill>
                <a:latin typeface="Arial" pitchFamily="34" charset="0"/>
                <a:ea typeface="Arial" pitchFamily="34" charset="-122"/>
                <a:cs typeface="Arial" pitchFamily="34" charset="-120"/>
              </a:rPr>
              <a:t>Extend automated unit tests and continuous integration across the framework and node libraries, with pipeline-level regression runs on reference datasets.</a:t>
            </a:r>
            <a:endParaRPr lang="en-US" sz="980" dirty="0"/>
          </a:p>
        </p:txBody>
      </p:sp>
      <p:sp>
        <p:nvSpPr>
          <p:cNvPr id="15" name="Shape 11"/>
          <p:cNvSpPr/>
          <p:nvPr/>
        </p:nvSpPr>
        <p:spPr>
          <a:xfrm>
            <a:off x="6190488" y="1371600"/>
            <a:ext cx="2697480" cy="3200400"/>
          </a:xfrm>
          <a:prstGeom prst="roundRect">
            <a:avLst>
              <a:gd name="adj" fmla="val 2373"/>
            </a:avLst>
          </a:prstGeom>
          <a:solidFill>
            <a:srgbClr val="F1F4F9"/>
          </a:solidFill>
          <a:ln/>
        </p:spPr>
      </p:sp>
      <p:sp>
        <p:nvSpPr>
          <p:cNvPr id="16" name="Shape 12"/>
          <p:cNvSpPr/>
          <p:nvPr/>
        </p:nvSpPr>
        <p:spPr>
          <a:xfrm>
            <a:off x="6409944" y="1591056"/>
            <a:ext cx="512064" cy="512064"/>
          </a:xfrm>
          <a:prstGeom prst="ellipse">
            <a:avLst/>
          </a:prstGeom>
          <a:solidFill>
            <a:srgbClr val="0085AD"/>
          </a:solidFill>
          <a:ln/>
        </p:spPr>
      </p:sp>
      <p:sp>
        <p:nvSpPr>
          <p:cNvPr id="17" name="Text 13"/>
          <p:cNvSpPr/>
          <p:nvPr/>
        </p:nvSpPr>
        <p:spPr>
          <a:xfrm>
            <a:off x="6409944" y="159105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pic>
        <p:nvPicPr>
          <p:cNvPr id="18" name="Image 2" descr="assets/icon_FiBox_navy.png">    </p:cNvPr>
          <p:cNvPicPr>
            <a:picLocks noChangeAspect="1"/>
          </p:cNvPicPr>
          <p:nvPr/>
        </p:nvPicPr>
        <p:blipFill>
          <a:blip r:embed="rId3"/>
          <a:stretch>
            <a:fillRect/>
          </a:stretch>
        </p:blipFill>
        <p:spPr>
          <a:xfrm>
            <a:off x="8247888" y="1627632"/>
            <a:ext cx="438912" cy="438912"/>
          </a:xfrm>
          <a:prstGeom prst="rect">
            <a:avLst/>
          </a:prstGeom>
        </p:spPr>
      </p:pic>
      <p:sp>
        <p:nvSpPr>
          <p:cNvPr id="19" name="Text 14"/>
          <p:cNvSpPr/>
          <p:nvPr/>
        </p:nvSpPr>
        <p:spPr>
          <a:xfrm>
            <a:off x="6409944" y="2286000"/>
            <a:ext cx="2286000" cy="640080"/>
          </a:xfrm>
          <a:prstGeom prst="rect">
            <a:avLst/>
          </a:prstGeom>
          <a:noFill/>
          <a:ln/>
        </p:spPr>
        <p:txBody>
          <a:bodyPr wrap="square" lIns="0" tIns="0" rIns="0" bIns="0" rtlCol="0" anchor="ctr"/>
          <a:lstStyle/>
          <a:p>
            <a:pPr indent="0" marL="0">
              <a:lnSpc>
                <a:spcPct val="105000"/>
              </a:lnSpc>
              <a:buNone/>
            </a:pPr>
            <a:r>
              <a:rPr lang="en-US" sz="1300" b="1" dirty="0">
                <a:solidFill>
                  <a:srgbClr val="00205B"/>
                </a:solidFill>
                <a:latin typeface="Arial" pitchFamily="34" charset="0"/>
                <a:ea typeface="Arial" pitchFamily="34" charset="-122"/>
                <a:cs typeface="Arial" pitchFamily="34" charset="-120"/>
              </a:rPr>
              <a:t>Registry rollout</a:t>
            </a:r>
            <a:endParaRPr lang="en-US" sz="1300" dirty="0"/>
          </a:p>
        </p:txBody>
      </p:sp>
      <p:sp>
        <p:nvSpPr>
          <p:cNvPr id="20" name="Text 15"/>
          <p:cNvSpPr/>
          <p:nvPr/>
        </p:nvSpPr>
        <p:spPr>
          <a:xfrm>
            <a:off x="6409944" y="2926080"/>
            <a:ext cx="2267712" cy="1536192"/>
          </a:xfrm>
          <a:prstGeom prst="rect">
            <a:avLst/>
          </a:prstGeom>
          <a:noFill/>
          <a:ln/>
        </p:spPr>
        <p:txBody>
          <a:bodyPr wrap="square" lIns="0" tIns="0" rIns="0" bIns="0" rtlCol="0" anchor="t"/>
          <a:lstStyle/>
          <a:p>
            <a:pPr algn="just" indent="0" marL="0">
              <a:lnSpc>
                <a:spcPct val="116000"/>
              </a:lnSpc>
              <a:buNone/>
            </a:pPr>
            <a:r>
              <a:rPr lang="en-US" sz="980" dirty="0">
                <a:solidFill>
                  <a:srgbClr val="1A1A1A"/>
                </a:solidFill>
                <a:latin typeface="Arial" pitchFamily="34" charset="0"/>
                <a:ea typeface="Arial" pitchFamily="34" charset="-122"/>
                <a:cs typeface="Arial" pitchFamily="34" charset="-120"/>
              </a:rPr>
              <a:t>Deploy the SF_10 storage stage and the MLflow model registry as the governed distribution channel for validated surrogates across teams.</a:t>
            </a:r>
            <a:endParaRPr lang="en-US" sz="980" dirty="0"/>
          </a:p>
        </p:txBody>
      </p:sp>
      <p:sp>
        <p:nvSpPr>
          <p:cNvPr id="21" name="Shape 16"/>
          <p:cNvSpPr/>
          <p:nvPr/>
        </p:nvSpPr>
        <p:spPr>
          <a:xfrm>
            <a:off x="9079992" y="1371600"/>
            <a:ext cx="2697480" cy="3200400"/>
          </a:xfrm>
          <a:prstGeom prst="roundRect">
            <a:avLst>
              <a:gd name="adj" fmla="val 2373"/>
            </a:avLst>
          </a:prstGeom>
          <a:solidFill>
            <a:srgbClr val="EAF0F6"/>
          </a:solidFill>
          <a:ln/>
        </p:spPr>
      </p:sp>
      <p:sp>
        <p:nvSpPr>
          <p:cNvPr id="22" name="Shape 17"/>
          <p:cNvSpPr/>
          <p:nvPr/>
        </p:nvSpPr>
        <p:spPr>
          <a:xfrm>
            <a:off x="9299448" y="1591056"/>
            <a:ext cx="512064" cy="512064"/>
          </a:xfrm>
          <a:prstGeom prst="ellipse">
            <a:avLst/>
          </a:prstGeom>
          <a:solidFill>
            <a:srgbClr val="00205B"/>
          </a:solidFill>
          <a:ln/>
        </p:spPr>
      </p:sp>
      <p:sp>
        <p:nvSpPr>
          <p:cNvPr id="23" name="Text 18"/>
          <p:cNvSpPr/>
          <p:nvPr/>
        </p:nvSpPr>
        <p:spPr>
          <a:xfrm>
            <a:off x="9299448" y="159105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pic>
        <p:nvPicPr>
          <p:cNvPr id="24" name="Image 3" descr="assets/icon_FiUsers_navy.png">    </p:cNvPr>
          <p:cNvPicPr>
            <a:picLocks noChangeAspect="1"/>
          </p:cNvPicPr>
          <p:nvPr/>
        </p:nvPicPr>
        <p:blipFill>
          <a:blip r:embed="rId4"/>
          <a:stretch>
            <a:fillRect/>
          </a:stretch>
        </p:blipFill>
        <p:spPr>
          <a:xfrm>
            <a:off x="11137392" y="1627632"/>
            <a:ext cx="438912" cy="438912"/>
          </a:xfrm>
          <a:prstGeom prst="rect">
            <a:avLst/>
          </a:prstGeom>
        </p:spPr>
      </p:pic>
      <p:sp>
        <p:nvSpPr>
          <p:cNvPr id="25" name="Text 19"/>
          <p:cNvSpPr/>
          <p:nvPr/>
        </p:nvSpPr>
        <p:spPr>
          <a:xfrm>
            <a:off x="9299448" y="2286000"/>
            <a:ext cx="2286000" cy="640080"/>
          </a:xfrm>
          <a:prstGeom prst="rect">
            <a:avLst/>
          </a:prstGeom>
          <a:noFill/>
          <a:ln/>
        </p:spPr>
        <p:txBody>
          <a:bodyPr wrap="square" lIns="0" tIns="0" rIns="0" bIns="0" rtlCol="0" anchor="ctr"/>
          <a:lstStyle/>
          <a:p>
            <a:pPr indent="0" marL="0">
              <a:lnSpc>
                <a:spcPct val="105000"/>
              </a:lnSpc>
              <a:buNone/>
            </a:pPr>
            <a:r>
              <a:rPr lang="en-US" sz="1300" b="1" dirty="0">
                <a:solidFill>
                  <a:srgbClr val="00205B"/>
                </a:solidFill>
                <a:latin typeface="Arial" pitchFamily="34" charset="0"/>
                <a:ea typeface="Arial" pitchFamily="34" charset="-122"/>
                <a:cs typeface="Arial" pitchFamily="34" charset="-120"/>
              </a:rPr>
              <a:t>New use cases</a:t>
            </a:r>
            <a:endParaRPr lang="en-US" sz="1300" dirty="0"/>
          </a:p>
        </p:txBody>
      </p:sp>
      <p:sp>
        <p:nvSpPr>
          <p:cNvPr id="26" name="Text 20"/>
          <p:cNvSpPr/>
          <p:nvPr/>
        </p:nvSpPr>
        <p:spPr>
          <a:xfrm>
            <a:off x="9299448" y="2926080"/>
            <a:ext cx="2267712" cy="1536192"/>
          </a:xfrm>
          <a:prstGeom prst="rect">
            <a:avLst/>
          </a:prstGeom>
          <a:noFill/>
          <a:ln/>
        </p:spPr>
        <p:txBody>
          <a:bodyPr wrap="square" lIns="0" tIns="0" rIns="0" bIns="0" rtlCol="0" anchor="t"/>
          <a:lstStyle/>
          <a:p>
            <a:pPr algn="just" indent="0" marL="0">
              <a:lnSpc>
                <a:spcPct val="116000"/>
              </a:lnSpc>
              <a:buNone/>
            </a:pPr>
            <a:r>
              <a:rPr lang="en-US" sz="980" dirty="0">
                <a:solidFill>
                  <a:srgbClr val="1A1A1A"/>
                </a:solidFill>
                <a:latin typeface="Arial" pitchFamily="34" charset="0"/>
                <a:ea typeface="Arial" pitchFamily="34" charset="-122"/>
                <a:cs typeface="Arial" pitchFamily="34" charset="-120"/>
              </a:rPr>
              <a:t>Onboard further FEM- and CFD-backed disciplines onto the platform, reusing the pipeline skeleton, catalog and validation gate as they stand.</a:t>
            </a:r>
            <a:endParaRPr lang="en-US" sz="980" dirty="0"/>
          </a:p>
        </p:txBody>
      </p:sp>
      <p:sp>
        <p:nvSpPr>
          <p:cNvPr id="27" name="Text 21"/>
          <p:cNvSpPr/>
          <p:nvPr/>
        </p:nvSpPr>
        <p:spPr>
          <a:xfrm>
            <a:off x="411480" y="4892040"/>
            <a:ext cx="11365992" cy="1325880"/>
          </a:xfrm>
          <a:prstGeom prst="rect">
            <a:avLst/>
          </a:prstGeom>
          <a:noFill/>
          <a:ln/>
        </p:spPr>
        <p:txBody>
          <a:bodyPr wrap="square" lIns="0" tIns="0" rIns="0" bIns="0" rtlCol="0" anchor="ctr"/>
          <a:lstStyle/>
          <a:p>
            <a:pPr algn="just" indent="0" marL="0">
              <a:lnSpc>
                <a:spcPct val="125000"/>
              </a:lnSpc>
              <a:buNone/>
            </a:pPr>
            <a:r>
              <a:rPr lang="en-US" sz="1200" dirty="0">
                <a:solidFill>
                  <a:srgbClr val="1A1A1A"/>
                </a:solidFill>
                <a:latin typeface="Arial" pitchFamily="34" charset="0"/>
                <a:ea typeface="Arial" pitchFamily="34" charset="-122"/>
                <a:cs typeface="Arial" pitchFamily="34" charset="-120"/>
              </a:rPr>
              <a:t>The platform is running, the methodology is proven and two use cases have carried real structural problems from raw data to validated surrogates. The next increment is deliberately unglamorous — production data, tests, governance — because that is what separates a successful pilot from engineering infrastructure. Every element of this roadmap builds on components that already exist in Surrogate Factory v2.2 today.</a:t>
            </a:r>
            <a:endParaRPr lang="en-US" sz="1200" dirty="0"/>
          </a:p>
        </p:txBody>
      </p:sp>
      <p:sp>
        <p:nvSpPr>
          <p:cNvPr id="25" name="Slide Number Placeholder 0"/>
          <p:cNvSpPr>
            <a:spLocks noGrp="1"/>
          </p:cNvSpPr>
          <p:nvPr>
            <p:ph type="sldNum" sz="quarter" idx="4294967295"/>
          </p:nvPr>
        </p:nvSpPr>
        <p:spPr>
          <a:xfrm>
            <a:off x="411480" y="6473952"/>
            <a:ext cx="36576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859199"/>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assets/wave_dark.png">    </p:cNvPr>
          <p:cNvPicPr>
            <a:picLocks noChangeAspect="1"/>
          </p:cNvPicPr>
          <p:nvPr/>
        </p:nvPicPr>
        <p:blipFill>
          <a:blip r:embed="rId1"/>
          <a:stretch>
            <a:fillRect/>
          </a:stretch>
        </p:blipFill>
        <p:spPr>
          <a:xfrm>
            <a:off x="0" y="1920240"/>
            <a:ext cx="12191695" cy="4206240"/>
          </a:xfrm>
          <a:prstGeom prst="rect">
            <a:avLst/>
          </a:prstGeom>
        </p:spPr>
      </p:pic>
      <p:sp>
        <p:nvSpPr>
          <p:cNvPr id="3" name="Text 0"/>
          <p:cNvSpPr/>
          <p:nvPr/>
        </p:nvSpPr>
        <p:spPr>
          <a:xfrm>
            <a:off x="411480" y="2788920"/>
            <a:ext cx="113659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4" name="Text 1"/>
          <p:cNvSpPr/>
          <p:nvPr/>
        </p:nvSpPr>
        <p:spPr>
          <a:xfrm>
            <a:off x="2011680" y="3657600"/>
            <a:ext cx="8165592" cy="457200"/>
          </a:xfrm>
          <a:prstGeom prst="rect">
            <a:avLst/>
          </a:prstGeom>
          <a:noFill/>
          <a:ln/>
        </p:spPr>
        <p:txBody>
          <a:bodyPr wrap="square" lIns="0" tIns="0" rIns="0" bIns="0" rtlCol="0" anchor="ctr"/>
          <a:lstStyle/>
          <a:p>
            <a:pPr algn="ctr" indent="0" marL="0">
              <a:buNone/>
            </a:pPr>
            <a:r>
              <a:rPr lang="en-US" sz="1350" dirty="0">
                <a:solidFill>
                  <a:srgbClr val="BFD3EC"/>
                </a:solidFill>
                <a:latin typeface="Arial" pitchFamily="34" charset="0"/>
                <a:ea typeface="Arial" pitchFamily="34" charset="-122"/>
                <a:cs typeface="Arial" pitchFamily="34" charset="-120"/>
              </a:rPr>
              <a:t>Surrogate Factory — from expensive simulation to validated, millisecond engineering answers.</a:t>
            </a:r>
            <a:endParaRPr lang="en-US" sz="1350" dirty="0"/>
          </a:p>
        </p:txBody>
      </p:sp>
      <p:sp>
        <p:nvSpPr>
          <p:cNvPr id="5" name="Text 2"/>
          <p:cNvSpPr/>
          <p:nvPr/>
        </p:nvSpPr>
        <p:spPr>
          <a:xfrm>
            <a:off x="2011680" y="5806440"/>
            <a:ext cx="8165592" cy="365760"/>
          </a:xfrm>
          <a:prstGeom prst="rect">
            <a:avLst/>
          </a:prstGeom>
          <a:noFill/>
          <a:ln/>
        </p:spPr>
        <p:txBody>
          <a:bodyPr wrap="square" lIns="0" tIns="0" rIns="0" bIns="0" rtlCol="0" anchor="ctr"/>
          <a:lstStyle/>
          <a:p>
            <a:pPr algn="ctr" indent="0" marL="0">
              <a:buNone/>
            </a:pPr>
            <a:r>
              <a:rPr lang="en-US" sz="1000" spc="100" kern="0" dirty="0">
                <a:solidFill>
                  <a:srgbClr val="8FA6C9"/>
                </a:solidFill>
                <a:latin typeface="Arial" pitchFamily="34" charset="0"/>
                <a:ea typeface="Arial" pitchFamily="34" charset="-122"/>
                <a:cs typeface="Arial" pitchFamily="34" charset="-120"/>
              </a:rPr>
              <a:t>ARNABAT MARTIN, MARTA      ·      DEFENCE AND SPACE      ·      17 July 2026</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2026-07-17T07:08:52Z</dcterms:created>
  <dcterms:modified xsi:type="dcterms:W3CDTF">2026-07-17T07:08:52Z</dcterms:modified>
</cp:coreProperties>
</file>